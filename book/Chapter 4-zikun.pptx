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handoutMasterIdLst>
    <p:handoutMasterId r:id="rId35"/>
  </p:handoutMasterIdLst>
  <p:sldIdLst>
    <p:sldId id="369" r:id="rId2"/>
    <p:sldId id="371" r:id="rId3"/>
    <p:sldId id="372" r:id="rId4"/>
    <p:sldId id="373" r:id="rId5"/>
    <p:sldId id="395" r:id="rId6"/>
    <p:sldId id="374" r:id="rId7"/>
    <p:sldId id="375" r:id="rId8"/>
    <p:sldId id="376" r:id="rId9"/>
    <p:sldId id="377" r:id="rId10"/>
    <p:sldId id="438" r:id="rId11"/>
    <p:sldId id="378" r:id="rId12"/>
    <p:sldId id="379" r:id="rId13"/>
    <p:sldId id="437" r:id="rId14"/>
    <p:sldId id="380" r:id="rId15"/>
    <p:sldId id="392" r:id="rId16"/>
    <p:sldId id="444" r:id="rId17"/>
    <p:sldId id="381" r:id="rId18"/>
    <p:sldId id="382" r:id="rId19"/>
    <p:sldId id="383" r:id="rId20"/>
    <p:sldId id="384" r:id="rId21"/>
    <p:sldId id="385" r:id="rId22"/>
    <p:sldId id="386" r:id="rId23"/>
    <p:sldId id="387" r:id="rId24"/>
    <p:sldId id="388" r:id="rId25"/>
    <p:sldId id="292" r:id="rId26"/>
    <p:sldId id="390" r:id="rId27"/>
    <p:sldId id="394" r:id="rId28"/>
    <p:sldId id="391" r:id="rId29"/>
    <p:sldId id="432" r:id="rId30"/>
    <p:sldId id="433" r:id="rId31"/>
    <p:sldId id="434" r:id="rId32"/>
    <p:sldId id="435" r:id="rId33"/>
  </p:sldIdLst>
  <p:sldSz cx="9144000" cy="6858000" type="screen4x3"/>
  <p:notesSz cx="6858000" cy="9144000"/>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307201-3A16-47A0-96EF-7BB2BF0E0BFB}" v="44" dt="2026-09-22T07:39:54.433"/>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43" autoAdjust="0"/>
    <p:restoredTop sz="92207" autoAdjust="0"/>
  </p:normalViewPr>
  <p:slideViewPr>
    <p:cSldViewPr showGuides="1">
      <p:cViewPr varScale="1">
        <p:scale>
          <a:sx n="146" d="100"/>
          <a:sy n="146" d="100"/>
        </p:scale>
        <p:origin x="2224" y="88"/>
      </p:cViewPr>
      <p:guideLst>
        <p:guide orient="horz" pos="2160"/>
        <p:guide pos="2880"/>
      </p:guideLst>
    </p:cSldViewPr>
  </p:slideViewPr>
  <p:outlineViewPr>
    <p:cViewPr>
      <p:scale>
        <a:sx n="33" d="100"/>
        <a:sy n="33" d="100"/>
      </p:scale>
      <p:origin x="0" y="691"/>
    </p:cViewPr>
  </p:outlineViewPr>
  <p:notesTextViewPr>
    <p:cViewPr>
      <p:scale>
        <a:sx n="1" d="1"/>
        <a:sy n="1" d="1"/>
      </p:scale>
      <p:origin x="0" y="0"/>
    </p:cViewPr>
  </p:notesTextViewPr>
  <p:sorterViewPr>
    <p:cViewPr>
      <p:scale>
        <a:sx n="141" d="100"/>
        <a:sy n="141" d="100"/>
      </p:scale>
      <p:origin x="0" y="0"/>
    </p:cViewPr>
  </p:sorterViewPr>
  <p:notesViewPr>
    <p:cSldViewPr>
      <p:cViewPr varScale="1">
        <p:scale>
          <a:sx n="59" d="100"/>
          <a:sy n="59" d="100"/>
        </p:scale>
        <p:origin x="3065" y="45"/>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12DDFBD-3A00-4189-8C8D-78071B1A5DE3}" type="datetimeFigureOut">
              <a:rPr lang="zh-CN" altLang="en-US" smtClean="0"/>
              <a:t>2026/10/24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E568E1B-F273-4987-A84E-DC035A03CDB2}"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9B1F14-2969-4234-94C2-84FB01E3AC7A}" type="datetimeFigureOut">
              <a:rPr lang="en-AU" smtClean="0"/>
              <a:t>24/10/2026</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95789E-32BF-4BCD-9509-3BAE69BCF054}" type="slidenum">
              <a:rPr lang="en-AU" smtClean="0"/>
              <a:t>‹#›</a:t>
            </a:fld>
            <a:endParaRPr lang="en-A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D95789E-32BF-4BCD-9509-3BAE69BCF054}" type="slidenum">
              <a:rPr lang="en-AU" smtClean="0"/>
              <a:t>8</a:t>
            </a:fld>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Times New Roman" panose="02020603050405020304" pitchFamily="18" charset="0"/>
              </a:rPr>
              <a:t>1</a:t>
            </a:r>
            <a:r>
              <a:rPr lang="zh-CN" altLang="en-US" sz="1800" b="0" i="0" u="none" strike="noStrike" baseline="0" dirty="0">
                <a:latin typeface="FZSSK--GBK1-0"/>
              </a:rPr>
              <a:t>）模式是许多架构的基础，但有时可能没有模式可以完全解决你的问题。例如，你</a:t>
            </a:r>
          </a:p>
          <a:p>
            <a:pPr algn="l"/>
            <a:r>
              <a:rPr lang="zh-CN" altLang="en-US" sz="1800" b="0" i="0" u="none" strike="noStrike" baseline="0" dirty="0">
                <a:latin typeface="FZSSK--GBK1-0"/>
              </a:rPr>
              <a:t>可能需要高可用性、高安全性的代理模式，而不是教科书中的代理模式。架构师经常需要</a:t>
            </a:r>
          </a:p>
          <a:p>
            <a:pPr algn="l"/>
            <a:r>
              <a:rPr lang="zh-CN" altLang="en-US" sz="1800" b="0" i="0" u="none" strike="noStrike" baseline="0" dirty="0">
                <a:latin typeface="FZSSK--GBK1-0"/>
              </a:rPr>
              <a:t>修改和调整模式以适应其特定的环境，战术提供了一种系统的方法来扩充现有模式以填补</a:t>
            </a:r>
          </a:p>
          <a:p>
            <a:pPr algn="l"/>
            <a:r>
              <a:rPr lang="zh-CN" altLang="en-US" sz="1800" b="0" i="0" u="none" strike="noStrike" baseline="0" dirty="0">
                <a:latin typeface="FZSSK--GBK1-0"/>
              </a:rPr>
              <a:t>空白。</a:t>
            </a:r>
          </a:p>
          <a:p>
            <a:pPr algn="l"/>
            <a:r>
              <a:rPr lang="en-US" altLang="zh-CN" sz="1800" b="0" i="0" u="none" strike="noStrike" baseline="0" dirty="0">
                <a:latin typeface="Times New Roman" panose="02020603050405020304" pitchFamily="18" charset="0"/>
              </a:rPr>
              <a:t>2</a:t>
            </a:r>
            <a:r>
              <a:rPr lang="zh-CN" altLang="en-US" sz="1800" b="0" i="0" u="none" strike="noStrike" baseline="0" dirty="0">
                <a:latin typeface="FZSSK--GBK1-0"/>
              </a:rPr>
              <a:t>）如果不存在实现架构师设计目标的模式，战术允许架构师根据“首要原则”来构建设计片段，并让架构师能够洞察最终设计片段的属性。</a:t>
            </a:r>
          </a:p>
          <a:p>
            <a:pPr algn="l"/>
            <a:r>
              <a:rPr lang="en-US" altLang="zh-CN" sz="1800" b="0" i="0" u="none" strike="noStrike" baseline="0" dirty="0">
                <a:latin typeface="Times New Roman" panose="02020603050405020304" pitchFamily="18" charset="0"/>
              </a:rPr>
              <a:t>3</a:t>
            </a:r>
            <a:r>
              <a:rPr lang="zh-CN" altLang="en-US" sz="1800" b="0" i="0" u="none" strike="noStrike" baseline="0" dirty="0">
                <a:latin typeface="FZSSK--GBK1-0"/>
              </a:rPr>
              <a:t>）战术提供了在一定限度内使设计和分析更加系统化的方法。我们将在下一节探讨这个问题。</a:t>
            </a:r>
            <a:endParaRPr lang="zh-CN" altLang="en-US" dirty="0"/>
          </a:p>
        </p:txBody>
      </p:sp>
      <p:sp>
        <p:nvSpPr>
          <p:cNvPr id="4" name="灯片编号占位符 3"/>
          <p:cNvSpPr>
            <a:spLocks noGrp="1"/>
          </p:cNvSpPr>
          <p:nvPr>
            <p:ph type="sldNum" sz="quarter" idx="5"/>
          </p:nvPr>
        </p:nvSpPr>
        <p:spPr/>
        <p:txBody>
          <a:bodyPr/>
          <a:lstStyle/>
          <a:p>
            <a:fld id="{BD95789E-32BF-4BCD-9509-3BAE69BCF054}" type="slidenum">
              <a:rPr lang="en-AU" smtClean="0"/>
              <a:t>17</a:t>
            </a:fld>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例如，在一个电子商务系统中，我们可能会将用户管理、订单处理和支付系统的职责明确分开，这样在后续系统的更新和维护中就可以专注于某一模块而不影响其他部分。</a:t>
            </a:r>
          </a:p>
        </p:txBody>
      </p:sp>
      <p:sp>
        <p:nvSpPr>
          <p:cNvPr id="4" name="灯片编号占位符 3"/>
          <p:cNvSpPr>
            <a:spLocks noGrp="1"/>
          </p:cNvSpPr>
          <p:nvPr>
            <p:ph type="sldNum" sz="quarter" idx="5"/>
          </p:nvPr>
        </p:nvSpPr>
        <p:spPr/>
        <p:txBody>
          <a:bodyPr/>
          <a:lstStyle/>
          <a:p>
            <a:fld id="{BD95789E-32BF-4BCD-9509-3BAE69BCF054}" type="slidenum">
              <a:rPr lang="en-AU" smtClean="0"/>
              <a:t>19</a:t>
            </a:fld>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Distributed matrix multiplication: timeliness, correctness</a:t>
            </a:r>
          </a:p>
          <a:p>
            <a:r>
              <a:rPr lang="en-US" altLang="zh-CN" dirty="0"/>
              <a:t>Transaction management: currency, consistency</a:t>
            </a:r>
          </a:p>
          <a:p>
            <a:r>
              <a:rPr lang="en-US" altLang="zh-CN" dirty="0"/>
              <a:t>Cooperative caching: consistency</a:t>
            </a:r>
            <a:endParaRPr lang="zh-CN" altLang="en-US" dirty="0"/>
          </a:p>
        </p:txBody>
      </p:sp>
      <p:sp>
        <p:nvSpPr>
          <p:cNvPr id="4" name="灯片编号占位符 3"/>
          <p:cNvSpPr>
            <a:spLocks noGrp="1"/>
          </p:cNvSpPr>
          <p:nvPr>
            <p:ph type="sldNum" sz="quarter" idx="10"/>
          </p:nvPr>
        </p:nvSpPr>
        <p:spPr/>
        <p:txBody>
          <a:bodyPr/>
          <a:lstStyle/>
          <a:p>
            <a:fld id="{BD95789E-32BF-4BCD-9509-3BAE69BCF054}" type="slidenum">
              <a:rPr lang="en-AU" smtClean="0"/>
              <a:t>20</a:t>
            </a:fld>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Relational data model, </a:t>
            </a:r>
          </a:p>
          <a:p>
            <a:r>
              <a:rPr lang="en-US" altLang="zh-CN" dirty="0"/>
              <a:t>key-value</a:t>
            </a:r>
          </a:p>
          <a:p>
            <a:r>
              <a:rPr lang="en-US" altLang="zh-CN" dirty="0"/>
              <a:t>Matrix model, graph model</a:t>
            </a:r>
            <a:endParaRPr lang="zh-CN" altLang="en-US" dirty="0"/>
          </a:p>
        </p:txBody>
      </p:sp>
      <p:sp>
        <p:nvSpPr>
          <p:cNvPr id="4" name="灯片编号占位符 3"/>
          <p:cNvSpPr>
            <a:spLocks noGrp="1"/>
          </p:cNvSpPr>
          <p:nvPr>
            <p:ph type="sldNum" sz="quarter" idx="10"/>
          </p:nvPr>
        </p:nvSpPr>
        <p:spPr/>
        <p:txBody>
          <a:bodyPr/>
          <a:lstStyle/>
          <a:p>
            <a:fld id="{BD95789E-32BF-4BCD-9509-3BAE69BCF054}" type="slidenum">
              <a:rPr lang="en-AU" smtClean="0"/>
              <a:t>21</a:t>
            </a:fld>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Take OS as an example:</a:t>
            </a:r>
          </a:p>
          <a:p>
            <a:pPr marL="171450" indent="-171450">
              <a:buFontTx/>
              <a:buChar char="-"/>
            </a:pPr>
            <a:r>
              <a:rPr lang="en-US" altLang="zh-CN" dirty="0"/>
              <a:t>CPU, memory, disk storage, I/O ports</a:t>
            </a:r>
          </a:p>
          <a:p>
            <a:pPr marL="171450" indent="-171450">
              <a:buFontTx/>
              <a:buChar char="-"/>
            </a:pPr>
            <a:r>
              <a:rPr lang="en-US" altLang="zh-CN" dirty="0"/>
              <a:t>Process management, memory management, file system, drivers for I/O ports</a:t>
            </a:r>
          </a:p>
          <a:p>
            <a:pPr marL="171450" indent="-171450">
              <a:buFontTx/>
              <a:buChar char="-"/>
            </a:pPr>
            <a:r>
              <a:rPr lang="en-US" altLang="zh-CN" dirty="0"/>
              <a:t>Scheduling, buffer replacement protocol</a:t>
            </a:r>
          </a:p>
          <a:p>
            <a:pPr marL="171450" indent="-171450">
              <a:buFontTx/>
              <a:buChar char="-"/>
            </a:pPr>
            <a:r>
              <a:rPr lang="en-US" altLang="zh-CN" dirty="0"/>
              <a:t>CPU overloaded, out of memory</a:t>
            </a:r>
            <a:endParaRPr lang="zh-CN" altLang="en-US" dirty="0"/>
          </a:p>
        </p:txBody>
      </p:sp>
      <p:sp>
        <p:nvSpPr>
          <p:cNvPr id="4" name="灯片编号占位符 3"/>
          <p:cNvSpPr>
            <a:spLocks noGrp="1"/>
          </p:cNvSpPr>
          <p:nvPr>
            <p:ph type="sldNum" sz="quarter" idx="10"/>
          </p:nvPr>
        </p:nvSpPr>
        <p:spPr/>
        <p:txBody>
          <a:bodyPr/>
          <a:lstStyle/>
          <a:p>
            <a:fld id="{BD95789E-32BF-4BCD-9509-3BAE69BCF054}" type="slidenum">
              <a:rPr lang="en-AU" smtClean="0"/>
              <a:t>22</a:t>
            </a:fld>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BD95789E-32BF-4BCD-9509-3BAE69BCF054}" type="slidenum">
              <a:rPr lang="en-AU" smtClean="0"/>
              <a:t>29</a:t>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BD95789E-32BF-4BCD-9509-3BAE69BCF054}" type="slidenum">
              <a:rPr lang="en-AU" smtClean="0"/>
              <a:t>30</a:t>
            </a:fld>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BD95789E-32BF-4BCD-9509-3BAE69BCF054}" type="slidenum">
              <a:rPr lang="en-AU" smtClean="0"/>
              <a:t>31</a:t>
            </a:fld>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BD95789E-32BF-4BCD-9509-3BAE69BCF054}" type="slidenum">
              <a:rPr lang="en-AU" smtClean="0"/>
              <a:t>32</a:t>
            </a:fld>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endParaRPr lang="en-AU"/>
          </a:p>
        </p:txBody>
      </p:sp>
      <p:sp>
        <p:nvSpPr>
          <p:cNvPr id="5" name="Footer Placeholder 4"/>
          <p:cNvSpPr>
            <a:spLocks noGrp="1"/>
          </p:cNvSpPr>
          <p:nvPr>
            <p:ph type="ftr" sz="quarter" idx="11"/>
          </p:nvPr>
        </p:nvSpPr>
        <p:spPr/>
        <p:txBody>
          <a:bodyPr/>
          <a:lstStyle/>
          <a:p>
            <a:r>
              <a:rPr lang="en-US" altLang="zh-CN"/>
              <a:t>©Software  Architecture</a:t>
            </a:r>
            <a:endParaRPr lang="en-AU" dirty="0"/>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Footer Placeholder 8"/>
          <p:cNvSpPr>
            <a:spLocks noGrp="1"/>
          </p:cNvSpPr>
          <p:nvPr>
            <p:ph type="ftr" sz="quarter" idx="11"/>
          </p:nvPr>
        </p:nvSpPr>
        <p:spPr>
          <a:xfrm>
            <a:off x="1403648" y="6356350"/>
            <a:ext cx="6336704" cy="365125"/>
          </a:xfrm>
        </p:spPr>
        <p:txBody>
          <a:bodyPr/>
          <a:lstStyle/>
          <a:p>
            <a:r>
              <a:rPr lang="en-US"/>
              <a:t>©Software  Architecture</a:t>
            </a:r>
            <a:endParaRPr lang="en-A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AU"/>
          </a:p>
        </p:txBody>
      </p:sp>
      <p:sp>
        <p:nvSpPr>
          <p:cNvPr id="5" name="Footer Placeholder 4"/>
          <p:cNvSpPr>
            <a:spLocks noGrp="1"/>
          </p:cNvSpPr>
          <p:nvPr>
            <p:ph type="ftr" sz="quarter" idx="11"/>
          </p:nvPr>
        </p:nvSpPr>
        <p:spPr/>
        <p:txBody>
          <a:bodyPr/>
          <a:lstStyle>
            <a:lvl1pPr>
              <a:defRPr/>
            </a:lvl1pPr>
          </a:lstStyle>
          <a:p>
            <a:r>
              <a:rPr lang="en-US"/>
              <a:t>©Software  Architecture</a:t>
            </a:r>
            <a:endParaRPr lang="en-AU" dirty="0"/>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1872208" cy="1872208"/>
          </a:xfrm>
          <a:prstGeom prst="rect">
            <a:avLst/>
          </a:prstGeom>
          <a:noFill/>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a:t>Click to edit Master title style</a:t>
            </a:r>
            <a:endParaRPr lang="en-AU" dirty="0"/>
          </a:p>
        </p:txBody>
      </p:sp>
      <p:sp>
        <p:nvSpPr>
          <p:cNvPr id="3" name="Content Placeholder 2"/>
          <p:cNvSpPr>
            <a:spLocks noGrp="1"/>
          </p:cNvSpPr>
          <p:nvPr>
            <p:ph sz="half" idx="1"/>
          </p:nvPr>
        </p:nvSpPr>
        <p:spPr>
          <a:xfrm>
            <a:off x="457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endParaRPr lang="en-AU"/>
          </a:p>
        </p:txBody>
      </p:sp>
      <p:sp>
        <p:nvSpPr>
          <p:cNvPr id="6" name="Footer Placeholder 5"/>
          <p:cNvSpPr>
            <a:spLocks noGrp="1"/>
          </p:cNvSpPr>
          <p:nvPr>
            <p:ph type="ftr" sz="quarter" idx="11"/>
          </p:nvPr>
        </p:nvSpPr>
        <p:spPr/>
        <p:txBody>
          <a:bodyPr/>
          <a:lstStyle>
            <a:lvl1pPr>
              <a:defRPr/>
            </a:lvl1pPr>
          </a:lstStyle>
          <a:p>
            <a:r>
              <a:rPr lang="en-US" altLang="zh-CN"/>
              <a:t>©Software  Architecture</a:t>
            </a:r>
            <a:endParaRPr lang="en-AU" dirty="0"/>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pic>
        <p:nvPicPr>
          <p:cNvPr id="8"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endParaRPr lang="en-AU"/>
          </a:p>
        </p:txBody>
      </p:sp>
      <p:sp>
        <p:nvSpPr>
          <p:cNvPr id="8" name="Footer Placeholder 7"/>
          <p:cNvSpPr>
            <a:spLocks noGrp="1"/>
          </p:cNvSpPr>
          <p:nvPr>
            <p:ph type="ftr" sz="quarter" idx="11"/>
          </p:nvPr>
        </p:nvSpPr>
        <p:spPr/>
        <p:txBody>
          <a:bodyPr/>
          <a:lstStyle>
            <a:lvl1pPr>
              <a:defRPr/>
            </a:lvl1pPr>
          </a:lstStyle>
          <a:p>
            <a:r>
              <a:rPr lang="en-US" altLang="zh-CN"/>
              <a:t>©Software  Architecture</a:t>
            </a:r>
            <a:endParaRPr lang="en-AU" dirty="0"/>
          </a:p>
        </p:txBody>
      </p:sp>
      <p:sp>
        <p:nvSpPr>
          <p:cNvPr id="9" name="Slide Number Placeholder 8"/>
          <p:cNvSpPr>
            <a:spLocks noGrp="1"/>
          </p:cNvSpPr>
          <p:nvPr>
            <p:ph type="sldNum" sz="quarter" idx="12"/>
          </p:nvPr>
        </p:nvSpPr>
        <p:spPr/>
        <p:txBody>
          <a:bodyPr/>
          <a:lstStyle/>
          <a:p>
            <a:fld id="{D0E8C58C-0836-46C6-8F9A-AF87B5CA09C9}" type="slidenum">
              <a:rPr lang="en-AU" smtClean="0"/>
              <a:t>‹#›</a:t>
            </a:fld>
            <a:endParaRPr lang="en-AU"/>
          </a:p>
        </p:txBody>
      </p:sp>
      <p:pic>
        <p:nvPicPr>
          <p:cNvPr id="10"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a:t>Click to edit Master title style</a:t>
            </a:r>
            <a:endParaRPr lang="en-AU" dirty="0"/>
          </a:p>
        </p:txBody>
      </p:sp>
      <p:sp>
        <p:nvSpPr>
          <p:cNvPr id="3" name="Date Placeholder 2"/>
          <p:cNvSpPr>
            <a:spLocks noGrp="1"/>
          </p:cNvSpPr>
          <p:nvPr>
            <p:ph type="dt" sz="half" idx="10"/>
          </p:nvPr>
        </p:nvSpPr>
        <p:spPr/>
        <p:txBody>
          <a:bodyPr/>
          <a:lstStyle/>
          <a:p>
            <a:endParaRPr lang="en-AU"/>
          </a:p>
        </p:txBody>
      </p:sp>
      <p:sp>
        <p:nvSpPr>
          <p:cNvPr id="4" name="Footer Placeholder 3"/>
          <p:cNvSpPr>
            <a:spLocks noGrp="1"/>
          </p:cNvSpPr>
          <p:nvPr>
            <p:ph type="ftr" sz="quarter" idx="11"/>
          </p:nvPr>
        </p:nvSpPr>
        <p:spPr/>
        <p:txBody>
          <a:bodyPr/>
          <a:lstStyle/>
          <a:p>
            <a:r>
              <a:rPr lang="en-US"/>
              <a:t>©Software  Architecture</a:t>
            </a:r>
            <a:endParaRPr lang="en-AU" dirty="0"/>
          </a:p>
        </p:txBody>
      </p:sp>
      <p:sp>
        <p:nvSpPr>
          <p:cNvPr id="5" name="Slide Number Placeholder 4"/>
          <p:cNvSpPr>
            <a:spLocks noGrp="1"/>
          </p:cNvSpPr>
          <p:nvPr>
            <p:ph type="sldNum" sz="quarter" idx="12"/>
          </p:nvPr>
        </p:nvSpPr>
        <p:spPr/>
        <p:txBody>
          <a:bodyPr/>
          <a:lstStyle/>
          <a:p>
            <a:fld id="{D0E8C58C-0836-46C6-8F9A-AF87B5CA09C9}" type="slidenum">
              <a:rPr lang="en-AU" smtClean="0"/>
              <a:t>‹#›</a:t>
            </a:fld>
            <a:endParaRPr lang="en-AU"/>
          </a:p>
        </p:txBody>
      </p:sp>
      <p:pic>
        <p:nvPicPr>
          <p:cNvPr id="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AU"/>
          </a:p>
        </p:txBody>
      </p:sp>
      <p:sp>
        <p:nvSpPr>
          <p:cNvPr id="3" name="Footer Placeholder 2"/>
          <p:cNvSpPr>
            <a:spLocks noGrp="1"/>
          </p:cNvSpPr>
          <p:nvPr>
            <p:ph type="ftr" sz="quarter" idx="11"/>
          </p:nvPr>
        </p:nvSpPr>
        <p:spPr/>
        <p:txBody>
          <a:bodyPr/>
          <a:lstStyle/>
          <a:p>
            <a:r>
              <a:rPr lang="en-AU"/>
              <a:t>©Software  Architecture</a:t>
            </a:r>
            <a:endParaRPr lang="en-AU" dirty="0"/>
          </a:p>
        </p:txBody>
      </p:sp>
      <p:sp>
        <p:nvSpPr>
          <p:cNvPr id="4" name="Slide Number Placeholder 3"/>
          <p:cNvSpPr>
            <a:spLocks noGrp="1"/>
          </p:cNvSpPr>
          <p:nvPr>
            <p:ph type="sldNum" sz="quarter" idx="12"/>
          </p:nvPr>
        </p:nvSpPr>
        <p:spPr/>
        <p:txBody>
          <a:bodyPr/>
          <a:lstStyle/>
          <a:p>
            <a:fld id="{D0E8C58C-0836-46C6-8F9A-AF87B5CA09C9}"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AU"/>
          </a:p>
        </p:txBody>
      </p:sp>
      <p:sp>
        <p:nvSpPr>
          <p:cNvPr id="6" name="Footer Placeholder 5"/>
          <p:cNvSpPr>
            <a:spLocks noGrp="1"/>
          </p:cNvSpPr>
          <p:nvPr>
            <p:ph type="ftr" sz="quarter" idx="11"/>
          </p:nvPr>
        </p:nvSpPr>
        <p:spPr/>
        <p:txBody>
          <a:bodyPr/>
          <a:lstStyle/>
          <a:p>
            <a:r>
              <a:rPr lang="en-AU"/>
              <a:t>©Software  Architecture</a:t>
            </a:r>
            <a:endParaRPr lang="en-AU" dirty="0"/>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AU"/>
          </a:p>
        </p:txBody>
      </p:sp>
      <p:sp>
        <p:nvSpPr>
          <p:cNvPr id="6" name="Footer Placeholder 5"/>
          <p:cNvSpPr>
            <a:spLocks noGrp="1"/>
          </p:cNvSpPr>
          <p:nvPr>
            <p:ph type="ftr" sz="quarter" idx="11"/>
          </p:nvPr>
        </p:nvSpPr>
        <p:spPr/>
        <p:txBody>
          <a:bodyPr/>
          <a:lstStyle/>
          <a:p>
            <a:r>
              <a:rPr lang="en-AU"/>
              <a:t>©Software  Architecture</a:t>
            </a:r>
            <a:endParaRPr lang="en-AU" dirty="0"/>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endParaRPr lang="en-AU"/>
          </a:p>
        </p:txBody>
      </p:sp>
      <p:sp>
        <p:nvSpPr>
          <p:cNvPr id="5" name="Footer Placeholder 4"/>
          <p:cNvSpPr>
            <a:spLocks noGrp="1"/>
          </p:cNvSpPr>
          <p:nvPr>
            <p:ph type="ftr" sz="quarter" idx="11"/>
          </p:nvPr>
        </p:nvSpPr>
        <p:spPr/>
        <p:txBody>
          <a:bodyPr/>
          <a:lstStyle/>
          <a:p>
            <a:r>
              <a:rPr lang="en-AU"/>
              <a:t>©Software  Architecture</a:t>
            </a:r>
            <a:endParaRPr lang="en-AU" dirty="0"/>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sz="half" idx="10"/>
          </p:nvPr>
        </p:nvSpPr>
        <p:spPr/>
        <p:txBody>
          <a:bodyPr/>
          <a:lstStyle/>
          <a:p>
            <a:endParaRPr lang="en-AU"/>
          </a:p>
        </p:txBody>
      </p:sp>
      <p:sp>
        <p:nvSpPr>
          <p:cNvPr id="5" name="Footer Placeholder 4"/>
          <p:cNvSpPr>
            <a:spLocks noGrp="1"/>
          </p:cNvSpPr>
          <p:nvPr>
            <p:ph type="ftr" sz="quarter" idx="11"/>
          </p:nvPr>
        </p:nvSpPr>
        <p:spPr/>
        <p:txBody>
          <a:bodyPr/>
          <a:lstStyle/>
          <a:p>
            <a:r>
              <a:rPr lang="en-AU"/>
              <a:t>©Software  Architecture</a:t>
            </a:r>
            <a:endParaRPr lang="en-AU" dirty="0"/>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778098"/>
          </a:xfrm>
          <a:prstGeom prst="rect">
            <a:avLst/>
          </a:prstGeom>
        </p:spPr>
        <p:txBody>
          <a:bodyPr vert="horz" lIns="91440" tIns="45720" rIns="91440" bIns="45720" rtlCol="0" anchor="ctr">
            <a:normAutofit/>
          </a:bodyPr>
          <a:lstStyle/>
          <a:p>
            <a:r>
              <a:rPr lang="en-US" dirty="0"/>
              <a:t>Click to edit Master title style</a:t>
            </a:r>
            <a:endParaRPr lang="en-AU" dirty="0"/>
          </a:p>
        </p:txBody>
      </p:sp>
      <p:sp>
        <p:nvSpPr>
          <p:cNvPr id="3" name="Text Placeholder 2"/>
          <p:cNvSpPr>
            <a:spLocks noGrp="1"/>
          </p:cNvSpPr>
          <p:nvPr>
            <p:ph type="body" idx="1"/>
          </p:nvPr>
        </p:nvSpPr>
        <p:spPr>
          <a:xfrm>
            <a:off x="457200" y="1268760"/>
            <a:ext cx="8229600" cy="48574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©Software  Architecture</a:t>
            </a:r>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E8C58C-0836-46C6-8F9A-AF87B5CA09C9}"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Chapter 4: Understanding Quality Attributes</a:t>
            </a:r>
          </a:p>
        </p:txBody>
      </p:sp>
      <p:sp>
        <p:nvSpPr>
          <p:cNvPr id="3" name="Subtitle 2"/>
          <p:cNvSpPr>
            <a:spLocks noGrp="1"/>
          </p:cNvSpPr>
          <p:nvPr>
            <p:ph type="subTitle" idx="1"/>
          </p:nvPr>
        </p:nvSpPr>
        <p:spPr/>
        <p:txBody>
          <a:bodyPr/>
          <a:lstStyle/>
          <a:p>
            <a:endParaRPr lang="en-AU" dirty="0"/>
          </a:p>
        </p:txBody>
      </p:sp>
      <p:sp>
        <p:nvSpPr>
          <p:cNvPr id="4" name="Footer Placeholder 3"/>
          <p:cNvSpPr>
            <a:spLocks noGrp="1"/>
          </p:cNvSpPr>
          <p:nvPr>
            <p:ph type="ftr" sz="quarter" idx="11"/>
          </p:nvPr>
        </p:nvSpPr>
        <p:spPr/>
        <p:txBody>
          <a:bodyPr/>
          <a:lstStyle/>
          <a:p>
            <a:r>
              <a:rPr lang="en-AU"/>
              <a:t>©Software  Architecture</a:t>
            </a:r>
            <a:endParaRPr lang="en-AU" dirty="0"/>
          </a:p>
        </p:txBody>
      </p:sp>
      <p:sp>
        <p:nvSpPr>
          <p:cNvPr id="5" name="灯片编号占位符 4"/>
          <p:cNvSpPr>
            <a:spLocks noGrp="1"/>
          </p:cNvSpPr>
          <p:nvPr>
            <p:ph type="sldNum" sz="quarter" idx="12"/>
          </p:nvPr>
        </p:nvSpPr>
        <p:spPr/>
        <p:txBody>
          <a:bodyPr/>
          <a:lstStyle/>
          <a:p>
            <a:fld id="{D0E8C58C-0836-46C6-8F9A-AF87B5CA09C9}" type="slidenum">
              <a:rPr lang="en-AU" smtClean="0"/>
              <a:t>1</a:t>
            </a:fld>
            <a:endParaRPr lang="en-A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and Requirements</a:t>
            </a:r>
          </a:p>
        </p:txBody>
      </p:sp>
      <p:sp>
        <p:nvSpPr>
          <p:cNvPr id="3" name="Content Placeholder 2"/>
          <p:cNvSpPr>
            <a:spLocks noGrp="1"/>
          </p:cNvSpPr>
          <p:nvPr>
            <p:ph idx="1"/>
          </p:nvPr>
        </p:nvSpPr>
        <p:spPr>
          <a:xfrm>
            <a:off x="467544" y="1273749"/>
            <a:ext cx="8424936" cy="4857403"/>
          </a:xfrm>
        </p:spPr>
        <p:txBody>
          <a:bodyPr>
            <a:normAutofit/>
          </a:bodyPr>
          <a:lstStyle/>
          <a:p>
            <a:r>
              <a:rPr lang="en-US" dirty="0"/>
              <a:t>System requirements can be categorized as:</a:t>
            </a:r>
          </a:p>
          <a:p>
            <a:pPr lvl="1"/>
            <a:r>
              <a:rPr lang="en-US" b="1" dirty="0"/>
              <a:t>Functional requirements </a:t>
            </a:r>
            <a:r>
              <a:rPr lang="en-US" dirty="0"/>
              <a:t>state what the system must do, how it must behave or react to run-time stimuli.  </a:t>
            </a:r>
          </a:p>
          <a:p>
            <a:pPr lvl="1"/>
            <a:r>
              <a:rPr lang="en-US" b="1" dirty="0"/>
              <a:t>Quality attribute requirements </a:t>
            </a:r>
            <a:r>
              <a:rPr lang="en-US" dirty="0"/>
              <a:t>qualify functional requirements, e.g., how fast the function must be performed, how resilient it must be to erroneous input, etc. </a:t>
            </a:r>
          </a:p>
          <a:p>
            <a:pPr lvl="1"/>
            <a:r>
              <a:rPr lang="en-US" b="1" dirty="0"/>
              <a:t>Constraints.</a:t>
            </a:r>
            <a:r>
              <a:rPr lang="en-US" dirty="0"/>
              <a:t> A constraint is a design decision with zero degrees of freedom.  </a:t>
            </a:r>
          </a:p>
        </p:txBody>
      </p:sp>
      <p:sp>
        <p:nvSpPr>
          <p:cNvPr id="4" name="Footer Placeholder 3"/>
          <p:cNvSpPr>
            <a:spLocks noGrp="1"/>
          </p:cNvSpPr>
          <p:nvPr>
            <p:ph type="ftr" sz="quarter" idx="11"/>
          </p:nvPr>
        </p:nvSpPr>
        <p:spPr/>
        <p:txBody>
          <a:bodyPr/>
          <a:lstStyle/>
          <a:p>
            <a:r>
              <a:rPr lang="en-AU"/>
              <a:t>©Software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Functionality </a:t>
            </a:r>
          </a:p>
        </p:txBody>
      </p:sp>
      <p:sp>
        <p:nvSpPr>
          <p:cNvPr id="3" name="Content Placeholder 2"/>
          <p:cNvSpPr>
            <a:spLocks noGrp="1"/>
          </p:cNvSpPr>
          <p:nvPr>
            <p:ph idx="1"/>
          </p:nvPr>
        </p:nvSpPr>
        <p:spPr>
          <a:xfrm>
            <a:off x="457200" y="1268761"/>
            <a:ext cx="8229600" cy="4320480"/>
          </a:xfrm>
        </p:spPr>
        <p:txBody>
          <a:bodyPr>
            <a:normAutofit/>
          </a:bodyPr>
          <a:lstStyle/>
          <a:p>
            <a:r>
              <a:rPr lang="en-US" sz="3600" b="1" dirty="0">
                <a:solidFill>
                  <a:schemeClr val="tx2"/>
                </a:solidFill>
              </a:rPr>
              <a:t>Functionality</a:t>
            </a:r>
            <a:r>
              <a:rPr lang="en-US" sz="3600" dirty="0"/>
              <a:t> is the ability of the system to do the work for which it was intended.  </a:t>
            </a:r>
          </a:p>
          <a:p>
            <a:r>
              <a:rPr lang="en-US" sz="3600" dirty="0"/>
              <a:t>Functionality has a strange relationship to architecture:</a:t>
            </a:r>
          </a:p>
          <a:p>
            <a:pPr lvl="1"/>
            <a:r>
              <a:rPr lang="en-US" sz="3200" dirty="0"/>
              <a:t>functionality does not determine architecture; </a:t>
            </a:r>
            <a:endParaRPr lang="en-US" altLang="zh-CN" sz="3200" dirty="0"/>
          </a:p>
          <a:p>
            <a:pPr marL="457200" lvl="1" indent="0">
              <a:buNone/>
            </a:pPr>
            <a:endParaRPr lang="en-US" dirty="0"/>
          </a:p>
        </p:txBody>
      </p:sp>
      <p:sp>
        <p:nvSpPr>
          <p:cNvPr id="4" name="Footer Placeholder 3"/>
          <p:cNvSpPr>
            <a:spLocks noGrp="1"/>
          </p:cNvSpPr>
          <p:nvPr>
            <p:ph type="ftr" sz="quarter" idx="11"/>
          </p:nvPr>
        </p:nvSpPr>
        <p:spPr/>
        <p:txBody>
          <a:bodyPr/>
          <a:lstStyle/>
          <a:p>
            <a:r>
              <a:rPr lang="en-AU"/>
              <a:t>©Software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Attribute Considerations</a:t>
            </a:r>
          </a:p>
        </p:txBody>
      </p:sp>
      <p:sp>
        <p:nvSpPr>
          <p:cNvPr id="3" name="Content Placeholder 2"/>
          <p:cNvSpPr>
            <a:spLocks noGrp="1"/>
          </p:cNvSpPr>
          <p:nvPr>
            <p:ph idx="1"/>
          </p:nvPr>
        </p:nvSpPr>
        <p:spPr/>
        <p:txBody>
          <a:bodyPr>
            <a:normAutofit/>
          </a:bodyPr>
          <a:lstStyle/>
          <a:p>
            <a:r>
              <a:rPr lang="en-US" dirty="0"/>
              <a:t>If a functional requirement is "when the user presses the green button the Options dialog appears”:</a:t>
            </a:r>
          </a:p>
          <a:p>
            <a:pPr lvl="1"/>
            <a:r>
              <a:rPr lang="en-US" dirty="0"/>
              <a:t>a </a:t>
            </a:r>
            <a:r>
              <a:rPr lang="en-US" b="1" dirty="0">
                <a:solidFill>
                  <a:schemeClr val="tx2"/>
                </a:solidFill>
              </a:rPr>
              <a:t>performance qualification </a:t>
            </a:r>
            <a:r>
              <a:rPr lang="en-US" dirty="0"/>
              <a:t>might describe how quickly the dialog will appear; </a:t>
            </a:r>
          </a:p>
          <a:p>
            <a:pPr lvl="1"/>
            <a:r>
              <a:rPr lang="en-US" dirty="0"/>
              <a:t>an </a:t>
            </a:r>
            <a:r>
              <a:rPr lang="en-US" b="1" dirty="0">
                <a:solidFill>
                  <a:schemeClr val="tx2"/>
                </a:solidFill>
              </a:rPr>
              <a:t>availability </a:t>
            </a:r>
            <a:r>
              <a:rPr lang="en-US" altLang="zh-CN" b="1" dirty="0">
                <a:solidFill>
                  <a:schemeClr val="tx2"/>
                </a:solidFill>
              </a:rPr>
              <a:t>qualification </a:t>
            </a:r>
            <a:r>
              <a:rPr lang="en-US" dirty="0"/>
              <a:t>might describe how often this function will fail, and how quickly it will be repaired; </a:t>
            </a:r>
          </a:p>
          <a:p>
            <a:pPr lvl="1"/>
            <a:r>
              <a:rPr lang="en-US" dirty="0"/>
              <a:t>a </a:t>
            </a:r>
            <a:r>
              <a:rPr lang="en-US" b="1" dirty="0">
                <a:solidFill>
                  <a:schemeClr val="tx2"/>
                </a:solidFill>
              </a:rPr>
              <a:t>usability </a:t>
            </a:r>
            <a:r>
              <a:rPr lang="en-US" altLang="zh-CN" b="1" dirty="0">
                <a:solidFill>
                  <a:schemeClr val="tx2"/>
                </a:solidFill>
              </a:rPr>
              <a:t>qualification </a:t>
            </a:r>
            <a:r>
              <a:rPr lang="en-US" dirty="0"/>
              <a:t>might describe how easy it is to learn this function.</a:t>
            </a:r>
          </a:p>
          <a:p>
            <a:endParaRPr lang="en-US" dirty="0"/>
          </a:p>
        </p:txBody>
      </p:sp>
      <p:sp>
        <p:nvSpPr>
          <p:cNvPr id="4" name="Footer Placeholder 3"/>
          <p:cNvSpPr>
            <a:spLocks noGrp="1"/>
          </p:cNvSpPr>
          <p:nvPr>
            <p:ph type="ftr" sz="quarter" idx="11"/>
          </p:nvPr>
        </p:nvSpPr>
        <p:spPr/>
        <p:txBody>
          <a:bodyPr/>
          <a:lstStyle/>
          <a:p>
            <a:r>
              <a:rPr lang="en-AU"/>
              <a:t>©Software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Two Categories of Quality Attributes</a:t>
            </a:r>
            <a:endParaRPr lang="zh-CN" altLang="en-US" dirty="0"/>
          </a:p>
        </p:txBody>
      </p:sp>
      <p:sp>
        <p:nvSpPr>
          <p:cNvPr id="3" name="内容占位符 2"/>
          <p:cNvSpPr>
            <a:spLocks noGrp="1"/>
          </p:cNvSpPr>
          <p:nvPr>
            <p:ph idx="1"/>
          </p:nvPr>
        </p:nvSpPr>
        <p:spPr/>
        <p:txBody>
          <a:bodyPr/>
          <a:lstStyle/>
          <a:p>
            <a:r>
              <a:rPr lang="en-US" altLang="zh-CN" dirty="0"/>
              <a:t>The ones that describe some properties of the system at runtime</a:t>
            </a:r>
          </a:p>
          <a:p>
            <a:pPr lvl="1"/>
            <a:r>
              <a:rPr lang="en-US" altLang="zh-CN" dirty="0"/>
              <a:t>Availability,</a:t>
            </a:r>
            <a:r>
              <a:rPr lang="zh-CN" altLang="en-US" dirty="0"/>
              <a:t> </a:t>
            </a:r>
            <a:r>
              <a:rPr lang="en-US" altLang="zh-CN" dirty="0"/>
              <a:t>performance,</a:t>
            </a:r>
            <a:r>
              <a:rPr lang="zh-CN" altLang="en-US" dirty="0"/>
              <a:t> </a:t>
            </a:r>
            <a:r>
              <a:rPr lang="en-US" altLang="zh-CN" dirty="0"/>
              <a:t>usability, security</a:t>
            </a:r>
          </a:p>
          <a:p>
            <a:r>
              <a:rPr lang="en-US" altLang="zh-CN" dirty="0"/>
              <a:t>The ones that describe some properties of the development of system</a:t>
            </a:r>
          </a:p>
          <a:p>
            <a:pPr lvl="1"/>
            <a:r>
              <a:rPr lang="en-US" altLang="zh-CN" dirty="0"/>
              <a:t>Modifiability</a:t>
            </a:r>
          </a:p>
          <a:p>
            <a:pPr lvl="1"/>
            <a:r>
              <a:rPr lang="en-US" altLang="zh-CN" dirty="0"/>
              <a:t>Testability</a:t>
            </a:r>
          </a:p>
        </p:txBody>
      </p:sp>
      <p:sp>
        <p:nvSpPr>
          <p:cNvPr id="4" name="页脚占位符 3"/>
          <p:cNvSpPr>
            <a:spLocks noGrp="1"/>
          </p:cNvSpPr>
          <p:nvPr>
            <p:ph type="ftr" sz="quarter" idx="11"/>
          </p:nvPr>
        </p:nvSpPr>
        <p:spPr/>
        <p:txBody>
          <a:bodyPr/>
          <a:lstStyle/>
          <a:p>
            <a:r>
              <a:rPr lang="en-US"/>
              <a:t>©Software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Attribute Considerations</a:t>
            </a:r>
          </a:p>
        </p:txBody>
      </p:sp>
      <p:sp>
        <p:nvSpPr>
          <p:cNvPr id="3" name="Content Placeholder 2"/>
          <p:cNvSpPr>
            <a:spLocks noGrp="1"/>
          </p:cNvSpPr>
          <p:nvPr>
            <p:ph idx="1"/>
          </p:nvPr>
        </p:nvSpPr>
        <p:spPr>
          <a:xfrm>
            <a:off x="457200" y="1268730"/>
            <a:ext cx="8315960" cy="4857115"/>
          </a:xfrm>
        </p:spPr>
        <p:txBody>
          <a:bodyPr>
            <a:normAutofit/>
          </a:bodyPr>
          <a:lstStyle/>
          <a:p>
            <a:r>
              <a:rPr lang="en-US" dirty="0"/>
              <a:t>There are problems with previous discussions of quality attributes: </a:t>
            </a:r>
          </a:p>
          <a:p>
            <a:pPr marL="514350" lvl="0" indent="-514350">
              <a:buFont typeface="+mj-lt"/>
              <a:buAutoNum type="arabicPeriod"/>
            </a:pPr>
            <a:r>
              <a:rPr lang="en-US" altLang="zh-CN" sz="2800" b="1" dirty="0">
                <a:solidFill>
                  <a:schemeClr val="tx2"/>
                </a:solidFill>
              </a:rPr>
              <a:t>Untestable definitions. </a:t>
            </a:r>
            <a:r>
              <a:rPr lang="en-US" sz="2800" dirty="0"/>
              <a:t>The definitions provided for an attribute are not testable. It is meaningless to say that a system will be “modifiable”</a:t>
            </a:r>
          </a:p>
          <a:p>
            <a:pPr marL="514350" lvl="0" indent="-514350">
              <a:buFont typeface="+mj-lt"/>
              <a:buAutoNum type="arabicPeriod"/>
            </a:pPr>
            <a:r>
              <a:rPr lang="en-US" altLang="zh-CN" sz="2800" b="1" dirty="0">
                <a:solidFill>
                  <a:schemeClr val="tx2"/>
                </a:solidFill>
              </a:rPr>
              <a:t>Overlapping concerns. </a:t>
            </a:r>
            <a:r>
              <a:rPr lang="en-US" sz="2800" dirty="0"/>
              <a:t>Is a system failure due to a denial of service attack an aspect of availability, performance, security, or usability? </a:t>
            </a:r>
          </a:p>
        </p:txBody>
      </p:sp>
      <p:sp>
        <p:nvSpPr>
          <p:cNvPr id="4" name="Footer Placeholder 3"/>
          <p:cNvSpPr>
            <a:spLocks noGrp="1"/>
          </p:cNvSpPr>
          <p:nvPr>
            <p:ph type="ftr" sz="quarter" idx="11"/>
          </p:nvPr>
        </p:nvSpPr>
        <p:spPr/>
        <p:txBody>
          <a:bodyPr/>
          <a:lstStyle/>
          <a:p>
            <a:r>
              <a:rPr lang="en-AU"/>
              <a:t>©Software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Attribute Considerations</a:t>
            </a:r>
          </a:p>
        </p:txBody>
      </p:sp>
      <p:sp>
        <p:nvSpPr>
          <p:cNvPr id="3" name="Content Placeholder 2"/>
          <p:cNvSpPr>
            <a:spLocks noGrp="1"/>
          </p:cNvSpPr>
          <p:nvPr>
            <p:ph idx="1"/>
          </p:nvPr>
        </p:nvSpPr>
        <p:spPr/>
        <p:txBody>
          <a:bodyPr>
            <a:normAutofit/>
          </a:bodyPr>
          <a:lstStyle/>
          <a:p>
            <a:r>
              <a:rPr lang="en-US" dirty="0"/>
              <a:t>A solution to the problems (untestable definitions and overlapping concerns) is to use </a:t>
            </a:r>
            <a:r>
              <a:rPr lang="en-US" i="1" dirty="0">
                <a:solidFill>
                  <a:schemeClr val="tx2"/>
                </a:solidFill>
              </a:rPr>
              <a:t>quality attribute scenarios</a:t>
            </a:r>
            <a:r>
              <a:rPr lang="en-US" dirty="0">
                <a:solidFill>
                  <a:schemeClr val="tx2"/>
                </a:solidFill>
              </a:rPr>
              <a:t> </a:t>
            </a:r>
            <a:r>
              <a:rPr lang="en-US" dirty="0"/>
              <a:t>as a means of characterizing quality attributes.</a:t>
            </a:r>
          </a:p>
          <a:p>
            <a:endParaRPr lang="en-US" sz="2800" dirty="0"/>
          </a:p>
        </p:txBody>
      </p:sp>
      <p:sp>
        <p:nvSpPr>
          <p:cNvPr id="4" name="Footer Placeholder 3"/>
          <p:cNvSpPr>
            <a:spLocks noGrp="1"/>
          </p:cNvSpPr>
          <p:nvPr>
            <p:ph type="ftr" sz="quarter" idx="11"/>
          </p:nvPr>
        </p:nvSpPr>
        <p:spPr/>
        <p:txBody>
          <a:bodyPr/>
          <a:lstStyle/>
          <a:p>
            <a:r>
              <a:rPr lang="en-AU"/>
              <a:t>©Software  Architecture</a:t>
            </a:r>
            <a:endParaRPr lang="en-AU"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Specifying Quality Attribute Requirements</a:t>
            </a:r>
          </a:p>
        </p:txBody>
      </p:sp>
      <p:sp>
        <p:nvSpPr>
          <p:cNvPr id="3" name="Content Placeholder 2"/>
          <p:cNvSpPr>
            <a:spLocks noGrp="1"/>
          </p:cNvSpPr>
          <p:nvPr>
            <p:ph idx="1"/>
          </p:nvPr>
        </p:nvSpPr>
        <p:spPr/>
        <p:txBody>
          <a:bodyPr>
            <a:normAutofit/>
          </a:bodyPr>
          <a:lstStyle/>
          <a:p>
            <a:r>
              <a:rPr lang="en-US" sz="2800" dirty="0"/>
              <a:t>We use a common form to specify all quality attribute requirements as scenarios.</a:t>
            </a:r>
          </a:p>
          <a:p>
            <a:r>
              <a:rPr lang="en-US" sz="2800" dirty="0"/>
              <a:t>Our representation of quality attribute scenarios has these parts:</a:t>
            </a:r>
          </a:p>
          <a:p>
            <a:pPr lvl="1"/>
            <a:endParaRPr lang="en-US" sz="2400" dirty="0"/>
          </a:p>
          <a:p>
            <a:endParaRPr lang="en-US" sz="2800" dirty="0"/>
          </a:p>
        </p:txBody>
      </p:sp>
      <p:sp>
        <p:nvSpPr>
          <p:cNvPr id="4" name="Footer Placeholder 3"/>
          <p:cNvSpPr>
            <a:spLocks noGrp="1"/>
          </p:cNvSpPr>
          <p:nvPr>
            <p:ph type="ftr" sz="quarter" idx="11"/>
          </p:nvPr>
        </p:nvSpPr>
        <p:spPr/>
        <p:txBody>
          <a:bodyPr/>
          <a:lstStyle/>
          <a:p>
            <a:r>
              <a:rPr lang="en-AU"/>
              <a:t>©Software  Architecture</a:t>
            </a:r>
            <a:endParaRPr lang="en-AU" dirty="0"/>
          </a:p>
        </p:txBody>
      </p:sp>
      <p:pic>
        <p:nvPicPr>
          <p:cNvPr id="6" name="图片 5"/>
          <p:cNvPicPr>
            <a:picLocks noChangeAspect="1"/>
          </p:cNvPicPr>
          <p:nvPr/>
        </p:nvPicPr>
        <p:blipFill>
          <a:blip r:embed="rId3"/>
          <a:stretch>
            <a:fillRect/>
          </a:stretch>
        </p:blipFill>
        <p:spPr>
          <a:xfrm>
            <a:off x="1459230" y="3429000"/>
            <a:ext cx="6559550" cy="26079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Specifying Quality Attribute Requirements</a:t>
            </a:r>
          </a:p>
        </p:txBody>
      </p:sp>
      <p:sp>
        <p:nvSpPr>
          <p:cNvPr id="3" name="Content Placeholder 2"/>
          <p:cNvSpPr>
            <a:spLocks noGrp="1"/>
          </p:cNvSpPr>
          <p:nvPr>
            <p:ph idx="1"/>
          </p:nvPr>
        </p:nvSpPr>
        <p:spPr>
          <a:xfrm>
            <a:off x="467360" y="1405255"/>
            <a:ext cx="8519160" cy="5160645"/>
          </a:xfrm>
        </p:spPr>
        <p:txBody>
          <a:bodyPr>
            <a:normAutofit fontScale="92500" lnSpcReduction="10000"/>
          </a:bodyPr>
          <a:lstStyle/>
          <a:p>
            <a:pPr marL="514350" indent="-514350">
              <a:buFont typeface="+mj-lt"/>
              <a:buAutoNum type="arabicPeriod"/>
            </a:pPr>
            <a:r>
              <a:rPr lang="en-US" altLang="zh-CN" sz="2400" b="1" dirty="0"/>
              <a:t>Stimulus </a:t>
            </a:r>
            <a:r>
              <a:rPr lang="zh-CN" altLang="en-US" sz="2400" b="1" dirty="0"/>
              <a:t>刺激</a:t>
            </a:r>
            <a:r>
              <a:rPr lang="en-US" altLang="zh-CN" sz="2400" dirty="0"/>
              <a:t>. The stimulus is a condition that requires a response when it arrives at a system. </a:t>
            </a:r>
            <a:r>
              <a:rPr lang="en-US" altLang="zh-CN" sz="2400" dirty="0">
                <a:solidFill>
                  <a:schemeClr val="bg1">
                    <a:lumMod val="65000"/>
                  </a:schemeClr>
                </a:solidFill>
              </a:rPr>
              <a:t>A stimulus for modifiability is a request for a modification; a stimulus for testability is the completion of a phase of development.</a:t>
            </a:r>
          </a:p>
          <a:p>
            <a:pPr marL="514350" lvl="0" indent="-514350">
              <a:buFont typeface="+mj-lt"/>
              <a:buAutoNum type="arabicPeriod"/>
            </a:pPr>
            <a:r>
              <a:rPr lang="en-US" sz="2400" b="1" dirty="0"/>
              <a:t>Source of stimulus </a:t>
            </a:r>
            <a:r>
              <a:rPr lang="zh-CN" altLang="en-US" sz="2400" b="1" dirty="0"/>
              <a:t>来源</a:t>
            </a:r>
            <a:r>
              <a:rPr lang="en-US" sz="2400" dirty="0"/>
              <a:t>. This is some entity (a human, a computer system, or any other actuator) that generated the stimulus.</a:t>
            </a:r>
          </a:p>
          <a:p>
            <a:pPr marL="514350" lvl="0" indent="-514350">
              <a:buFont typeface="+mj-lt"/>
              <a:buAutoNum type="arabicPeriod"/>
            </a:pPr>
            <a:r>
              <a:rPr lang="en-US" altLang="zh-CN" sz="2400" b="1" dirty="0"/>
              <a:t>Response </a:t>
            </a:r>
            <a:r>
              <a:rPr lang="zh-CN" altLang="en-US" sz="2400" b="1" dirty="0"/>
              <a:t>响应</a:t>
            </a:r>
            <a:r>
              <a:rPr lang="en-US" altLang="zh-CN" sz="2400" dirty="0"/>
              <a:t>. The response is the activity undertaken as the result of the arrival of the stimulus. </a:t>
            </a:r>
          </a:p>
          <a:p>
            <a:pPr marL="514350" lvl="0" indent="-514350">
              <a:buFont typeface="+mj-lt"/>
              <a:buAutoNum type="arabicPeriod"/>
            </a:pPr>
            <a:r>
              <a:rPr lang="en-US" altLang="zh-CN" sz="2400" b="1" dirty="0"/>
              <a:t>Response measure</a:t>
            </a:r>
            <a:r>
              <a:rPr lang="zh-CN" altLang="en-US" sz="2400" b="1" dirty="0"/>
              <a:t>响应度</a:t>
            </a:r>
            <a:r>
              <a:rPr lang="en-US" altLang="zh-CN" sz="2400" dirty="0"/>
              <a:t>. When the response occurs, it should be measurable in some fashion so that the requirement can be tested. </a:t>
            </a:r>
          </a:p>
          <a:p>
            <a:pPr marL="514350" lvl="0" indent="-514350">
              <a:buFont typeface="+mj-lt"/>
              <a:buAutoNum type="arabicPeriod"/>
            </a:pPr>
            <a:r>
              <a:rPr lang="en-US" sz="2400" b="1" dirty="0"/>
              <a:t>Environment </a:t>
            </a:r>
            <a:r>
              <a:rPr lang="zh-CN" altLang="en-US" sz="2400" b="1" dirty="0"/>
              <a:t>环境</a:t>
            </a:r>
            <a:r>
              <a:rPr lang="en-US" sz="2400" dirty="0"/>
              <a:t>. The stimulus occurs under certain conditions. The system may be in an overload condition or in normal operation, or some other relevant state.  </a:t>
            </a:r>
          </a:p>
          <a:p>
            <a:pPr marL="514350" lvl="0" indent="-514350">
              <a:buFont typeface="+mj-lt"/>
              <a:buAutoNum type="arabicPeriod"/>
            </a:pPr>
            <a:r>
              <a:rPr lang="en-US" sz="2400" b="1" dirty="0"/>
              <a:t>Artifact</a:t>
            </a:r>
            <a:r>
              <a:rPr lang="zh-CN" altLang="en-US" sz="2400" b="1" dirty="0"/>
              <a:t>制品</a:t>
            </a:r>
            <a:r>
              <a:rPr lang="en-US" sz="2400" dirty="0"/>
              <a:t>. This may be a collection of systems, the whole system, or some piece or pieces of it. </a:t>
            </a:r>
            <a:r>
              <a:rPr lang="en-US" altLang="zh-CN" sz="2400" dirty="0"/>
              <a:t>Some artifact is stimulated. </a:t>
            </a:r>
            <a:endParaRPr lang="en-US" sz="2400" dirty="0"/>
          </a:p>
          <a:p>
            <a:endParaRPr lang="en-US" sz="2400" dirty="0"/>
          </a:p>
          <a:p>
            <a:endParaRPr lang="en-US" sz="2400" dirty="0"/>
          </a:p>
        </p:txBody>
      </p:sp>
      <p:sp>
        <p:nvSpPr>
          <p:cNvPr id="4" name="Footer Placeholder 3"/>
          <p:cNvSpPr>
            <a:spLocks noGrp="1"/>
          </p:cNvSpPr>
          <p:nvPr>
            <p:ph type="ftr" sz="quarter" idx="11"/>
          </p:nvPr>
        </p:nvSpPr>
        <p:spPr/>
        <p:txBody>
          <a:bodyPr/>
          <a:lstStyle/>
          <a:p>
            <a:r>
              <a:rPr lang="en-AU"/>
              <a:t>©Software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1A17B3-E811-AE8D-9371-C1EEA3CAE10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64D7A29-4945-24C4-0147-C127CE233AAC}"/>
              </a:ext>
            </a:extLst>
          </p:cNvPr>
          <p:cNvSpPr>
            <a:spLocks noGrp="1"/>
          </p:cNvSpPr>
          <p:nvPr>
            <p:ph idx="1"/>
          </p:nvPr>
        </p:nvSpPr>
        <p:spPr/>
        <p:txBody>
          <a:bodyPr/>
          <a:lstStyle/>
          <a:p>
            <a:endParaRPr lang="zh-CN" altLang="en-US"/>
          </a:p>
        </p:txBody>
      </p:sp>
      <p:sp>
        <p:nvSpPr>
          <p:cNvPr id="4" name="页脚占位符 3">
            <a:extLst>
              <a:ext uri="{FF2B5EF4-FFF2-40B4-BE49-F238E27FC236}">
                <a16:creationId xmlns:a16="http://schemas.microsoft.com/office/drawing/2014/main" id="{3293E8AB-7586-DE08-6723-D9088215DA5F}"/>
              </a:ext>
            </a:extLst>
          </p:cNvPr>
          <p:cNvSpPr>
            <a:spLocks noGrp="1"/>
          </p:cNvSpPr>
          <p:nvPr>
            <p:ph type="ftr" sz="quarter" idx="11"/>
          </p:nvPr>
        </p:nvSpPr>
        <p:spPr/>
        <p:txBody>
          <a:bodyPr/>
          <a:lstStyle/>
          <a:p>
            <a:r>
              <a:rPr lang="en-US"/>
              <a:t>©Software  Architecture</a:t>
            </a:r>
            <a:endParaRPr lang="en-AU" dirty="0"/>
          </a:p>
        </p:txBody>
      </p:sp>
      <p:grpSp>
        <p:nvGrpSpPr>
          <p:cNvPr id="9" name="组合 8">
            <a:extLst>
              <a:ext uri="{FF2B5EF4-FFF2-40B4-BE49-F238E27FC236}">
                <a16:creationId xmlns:a16="http://schemas.microsoft.com/office/drawing/2014/main" id="{E9492112-E5E4-4197-8254-883CBC02D25D}"/>
              </a:ext>
            </a:extLst>
          </p:cNvPr>
          <p:cNvGrpSpPr/>
          <p:nvPr/>
        </p:nvGrpSpPr>
        <p:grpSpPr>
          <a:xfrm>
            <a:off x="1424311" y="116349"/>
            <a:ext cx="6086490" cy="6605126"/>
            <a:chOff x="1691680" y="116349"/>
            <a:chExt cx="5265740" cy="5714439"/>
          </a:xfrm>
        </p:grpSpPr>
        <p:pic>
          <p:nvPicPr>
            <p:cNvPr id="6" name="图片 5">
              <a:extLst>
                <a:ext uri="{FF2B5EF4-FFF2-40B4-BE49-F238E27FC236}">
                  <a16:creationId xmlns:a16="http://schemas.microsoft.com/office/drawing/2014/main" id="{5A150690-AD8C-3FCB-C176-FD710D0194F9}"/>
                </a:ext>
              </a:extLst>
            </p:cNvPr>
            <p:cNvPicPr>
              <a:picLocks noChangeAspect="1"/>
            </p:cNvPicPr>
            <p:nvPr/>
          </p:nvPicPr>
          <p:blipFill>
            <a:blip r:embed="rId2"/>
            <a:stretch>
              <a:fillRect/>
            </a:stretch>
          </p:blipFill>
          <p:spPr>
            <a:xfrm>
              <a:off x="1691680" y="116349"/>
              <a:ext cx="5265740" cy="3140968"/>
            </a:xfrm>
            <a:prstGeom prst="rect">
              <a:avLst/>
            </a:prstGeom>
          </p:spPr>
        </p:pic>
        <p:pic>
          <p:nvPicPr>
            <p:cNvPr id="8" name="图片 7">
              <a:extLst>
                <a:ext uri="{FF2B5EF4-FFF2-40B4-BE49-F238E27FC236}">
                  <a16:creationId xmlns:a16="http://schemas.microsoft.com/office/drawing/2014/main" id="{CF49A978-989E-F134-28BD-68DE2AD52C16}"/>
                </a:ext>
              </a:extLst>
            </p:cNvPr>
            <p:cNvPicPr>
              <a:picLocks noChangeAspect="1"/>
            </p:cNvPicPr>
            <p:nvPr/>
          </p:nvPicPr>
          <p:blipFill>
            <a:blip r:embed="rId3"/>
            <a:stretch>
              <a:fillRect/>
            </a:stretch>
          </p:blipFill>
          <p:spPr>
            <a:xfrm>
              <a:off x="1907704" y="3356992"/>
              <a:ext cx="5004048" cy="2473796"/>
            </a:xfrm>
            <a:prstGeom prst="rect">
              <a:avLst/>
            </a:prstGeom>
          </p:spPr>
        </p:pic>
      </p:grpSp>
    </p:spTree>
    <p:extLst>
      <p:ext uri="{BB962C8B-B14F-4D97-AF65-F5344CB8AC3E}">
        <p14:creationId xmlns:p14="http://schemas.microsoft.com/office/powerpoint/2010/main" val="1986797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Specifying Quality Attribute Requirements</a:t>
            </a:r>
          </a:p>
        </p:txBody>
      </p:sp>
      <p:sp>
        <p:nvSpPr>
          <p:cNvPr id="3" name="Content Placeholder 2"/>
          <p:cNvSpPr>
            <a:spLocks noGrp="1"/>
          </p:cNvSpPr>
          <p:nvPr>
            <p:ph idx="1"/>
          </p:nvPr>
        </p:nvSpPr>
        <p:spPr>
          <a:xfrm>
            <a:off x="390364" y="1412776"/>
            <a:ext cx="8363272" cy="4752527"/>
          </a:xfrm>
        </p:spPr>
        <p:txBody>
          <a:bodyPr>
            <a:normAutofit/>
          </a:bodyPr>
          <a:lstStyle/>
          <a:p>
            <a:r>
              <a:rPr lang="en-US" i="1" dirty="0">
                <a:solidFill>
                  <a:schemeClr val="tx2"/>
                </a:solidFill>
              </a:rPr>
              <a:t>General</a:t>
            </a:r>
            <a:r>
              <a:rPr lang="en-US" dirty="0">
                <a:solidFill>
                  <a:schemeClr val="tx2"/>
                </a:solidFill>
              </a:rPr>
              <a:t> quality attribute scenarios </a:t>
            </a:r>
            <a:r>
              <a:rPr lang="en-US" dirty="0"/>
              <a:t>are system independent and can, potentially, pertain to any system</a:t>
            </a:r>
          </a:p>
          <a:p>
            <a:r>
              <a:rPr lang="en-US" altLang="zh-CN" i="1" dirty="0">
                <a:solidFill>
                  <a:schemeClr val="tx2"/>
                </a:solidFill>
              </a:rPr>
              <a:t>C</a:t>
            </a:r>
            <a:r>
              <a:rPr lang="en-US" i="1" dirty="0">
                <a:solidFill>
                  <a:schemeClr val="tx2"/>
                </a:solidFill>
              </a:rPr>
              <a:t>oncrete</a:t>
            </a:r>
            <a:r>
              <a:rPr lang="en-US" dirty="0">
                <a:solidFill>
                  <a:schemeClr val="tx2"/>
                </a:solidFill>
              </a:rPr>
              <a:t> quality attribute scenarios</a:t>
            </a:r>
            <a:r>
              <a:rPr lang="en-US" dirty="0"/>
              <a:t> are specific to the particular system under consideration. </a:t>
            </a:r>
          </a:p>
          <a:p>
            <a:endParaRPr lang="en-US" dirty="0"/>
          </a:p>
          <a:p>
            <a:endParaRPr lang="en-US" sz="2800" dirty="0"/>
          </a:p>
        </p:txBody>
      </p:sp>
      <p:sp>
        <p:nvSpPr>
          <p:cNvPr id="4" name="Footer Placeholder 3"/>
          <p:cNvSpPr>
            <a:spLocks noGrp="1"/>
          </p:cNvSpPr>
          <p:nvPr>
            <p:ph type="ftr" sz="quarter" idx="11"/>
          </p:nvPr>
        </p:nvSpPr>
        <p:spPr/>
        <p:txBody>
          <a:bodyPr/>
          <a:lstStyle/>
          <a:p>
            <a:r>
              <a:rPr lang="en-AU"/>
              <a:t>©Software  Architecture</a:t>
            </a:r>
            <a:endParaRPr lang="en-AU"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Specifying Quality Attribute Requirements</a:t>
            </a:r>
          </a:p>
        </p:txBody>
      </p:sp>
      <p:sp>
        <p:nvSpPr>
          <p:cNvPr id="3" name="Content Placeholder 2"/>
          <p:cNvSpPr>
            <a:spLocks noGrp="1"/>
          </p:cNvSpPr>
          <p:nvPr>
            <p:ph idx="1"/>
          </p:nvPr>
        </p:nvSpPr>
        <p:spPr>
          <a:xfrm>
            <a:off x="457200" y="1268761"/>
            <a:ext cx="8229600" cy="2448271"/>
          </a:xfrm>
        </p:spPr>
        <p:txBody>
          <a:bodyPr>
            <a:normAutofit/>
          </a:bodyPr>
          <a:lstStyle/>
          <a:p>
            <a:r>
              <a:rPr lang="en-US" dirty="0"/>
              <a:t>Example general scenario for availability:</a:t>
            </a:r>
          </a:p>
          <a:p>
            <a:endParaRPr lang="en-US" dirty="0"/>
          </a:p>
          <a:p>
            <a:endParaRPr lang="en-US" sz="2800" dirty="0"/>
          </a:p>
        </p:txBody>
      </p:sp>
      <p:sp>
        <p:nvSpPr>
          <p:cNvPr id="4" name="Footer Placeholder 3"/>
          <p:cNvSpPr>
            <a:spLocks noGrp="1"/>
          </p:cNvSpPr>
          <p:nvPr>
            <p:ph type="ftr" sz="quarter" idx="11"/>
          </p:nvPr>
        </p:nvSpPr>
        <p:spPr/>
        <p:txBody>
          <a:bodyPr/>
          <a:lstStyle/>
          <a:p>
            <a:r>
              <a:rPr lang="en-AU"/>
              <a:t>©Software  Architecture</a:t>
            </a:r>
            <a:endParaRPr lang="en-AU" dirty="0"/>
          </a:p>
        </p:txBody>
      </p:sp>
      <p:pic>
        <p:nvPicPr>
          <p:cNvPr id="6" name="图片 5"/>
          <p:cNvPicPr>
            <a:picLocks noChangeAspect="1"/>
          </p:cNvPicPr>
          <p:nvPr/>
        </p:nvPicPr>
        <p:blipFill>
          <a:blip r:embed="rId2"/>
          <a:stretch>
            <a:fillRect/>
          </a:stretch>
        </p:blipFill>
        <p:spPr>
          <a:xfrm>
            <a:off x="827405" y="1988820"/>
            <a:ext cx="7458710" cy="41281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D8E806-778F-D08A-E67F-C997C621B125}"/>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5BC7ECD0-FD6A-F883-40A9-C0743E467FBA}"/>
              </a:ext>
            </a:extLst>
          </p:cNvPr>
          <p:cNvPicPr>
            <a:picLocks noGrp="1" noChangeAspect="1"/>
          </p:cNvPicPr>
          <p:nvPr>
            <p:ph idx="1"/>
          </p:nvPr>
        </p:nvPicPr>
        <p:blipFill>
          <a:blip r:embed="rId2"/>
          <a:stretch>
            <a:fillRect/>
          </a:stretch>
        </p:blipFill>
        <p:spPr>
          <a:xfrm>
            <a:off x="457200" y="274638"/>
            <a:ext cx="8229600" cy="2826327"/>
          </a:xfrm>
          <a:prstGeom prst="rect">
            <a:avLst/>
          </a:prstGeom>
        </p:spPr>
      </p:pic>
      <p:sp>
        <p:nvSpPr>
          <p:cNvPr id="4" name="页脚占位符 3">
            <a:extLst>
              <a:ext uri="{FF2B5EF4-FFF2-40B4-BE49-F238E27FC236}">
                <a16:creationId xmlns:a16="http://schemas.microsoft.com/office/drawing/2014/main" id="{51C0492B-3565-0D9A-DF2D-A481C1BA7866}"/>
              </a:ext>
            </a:extLst>
          </p:cNvPr>
          <p:cNvSpPr>
            <a:spLocks noGrp="1"/>
          </p:cNvSpPr>
          <p:nvPr>
            <p:ph type="ftr" sz="quarter" idx="11"/>
          </p:nvPr>
        </p:nvSpPr>
        <p:spPr/>
        <p:txBody>
          <a:bodyPr/>
          <a:lstStyle/>
          <a:p>
            <a:r>
              <a:rPr lang="en-US"/>
              <a:t>©Software  Architecture</a:t>
            </a:r>
            <a:endParaRPr lang="en-AU" dirty="0"/>
          </a:p>
        </p:txBody>
      </p:sp>
      <p:pic>
        <p:nvPicPr>
          <p:cNvPr id="8" name="图片 7">
            <a:extLst>
              <a:ext uri="{FF2B5EF4-FFF2-40B4-BE49-F238E27FC236}">
                <a16:creationId xmlns:a16="http://schemas.microsoft.com/office/drawing/2014/main" id="{4F86AB6B-E67B-6EB3-D64F-F2D721AAF94F}"/>
              </a:ext>
            </a:extLst>
          </p:cNvPr>
          <p:cNvPicPr>
            <a:picLocks noChangeAspect="1"/>
          </p:cNvPicPr>
          <p:nvPr/>
        </p:nvPicPr>
        <p:blipFill>
          <a:blip r:embed="rId3"/>
          <a:stretch>
            <a:fillRect/>
          </a:stretch>
        </p:blipFill>
        <p:spPr>
          <a:xfrm>
            <a:off x="107504" y="3174461"/>
            <a:ext cx="9144000" cy="3158373"/>
          </a:xfrm>
          <a:prstGeom prst="rect">
            <a:avLst/>
          </a:prstGeom>
        </p:spPr>
      </p:pic>
    </p:spTree>
    <p:extLst>
      <p:ext uri="{BB962C8B-B14F-4D97-AF65-F5344CB8AC3E}">
        <p14:creationId xmlns:p14="http://schemas.microsoft.com/office/powerpoint/2010/main" val="3307689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Achieving Quality Attributes Through Tactics</a:t>
            </a:r>
          </a:p>
        </p:txBody>
      </p:sp>
      <p:sp>
        <p:nvSpPr>
          <p:cNvPr id="3" name="Content Placeholder 2"/>
          <p:cNvSpPr>
            <a:spLocks noGrp="1"/>
          </p:cNvSpPr>
          <p:nvPr>
            <p:ph idx="1"/>
          </p:nvPr>
        </p:nvSpPr>
        <p:spPr>
          <a:xfrm>
            <a:off x="457200" y="1268761"/>
            <a:ext cx="8229600" cy="4752527"/>
          </a:xfrm>
        </p:spPr>
        <p:txBody>
          <a:bodyPr>
            <a:normAutofit/>
          </a:bodyPr>
          <a:lstStyle/>
          <a:p>
            <a:r>
              <a:rPr lang="en-US" sz="2800" dirty="0"/>
              <a:t>There are a collection of primitive design techniques that an architect can use to achieve a quality attribute response. </a:t>
            </a:r>
          </a:p>
          <a:p>
            <a:r>
              <a:rPr lang="en-US" sz="2800" dirty="0"/>
              <a:t>We call these architectural design primitives </a:t>
            </a:r>
            <a:r>
              <a:rPr lang="en-US" sz="2800" i="1" dirty="0"/>
              <a:t>tactics</a:t>
            </a:r>
            <a:r>
              <a:rPr lang="en-US" sz="2800" dirty="0"/>
              <a:t>.</a:t>
            </a:r>
          </a:p>
          <a:p>
            <a:r>
              <a:rPr lang="en-US" sz="2800" dirty="0"/>
              <a:t>Tactics, like design patterns, are techniques that architects have been using for years. </a:t>
            </a:r>
          </a:p>
          <a:p>
            <a:r>
              <a:rPr lang="en-US" sz="2800" dirty="0"/>
              <a:t>We do not </a:t>
            </a:r>
            <a:r>
              <a:rPr lang="en-US" sz="2800" i="1" dirty="0"/>
              <a:t>invent</a:t>
            </a:r>
            <a:r>
              <a:rPr lang="en-US" sz="2800" dirty="0"/>
              <a:t> tactics, we simply capture what architects do in practice. </a:t>
            </a:r>
          </a:p>
          <a:p>
            <a:endParaRPr lang="en-US" dirty="0"/>
          </a:p>
          <a:p>
            <a:endParaRPr lang="en-US" dirty="0"/>
          </a:p>
          <a:p>
            <a:endParaRPr lang="en-US" sz="2800" dirty="0"/>
          </a:p>
        </p:txBody>
      </p:sp>
      <p:sp>
        <p:nvSpPr>
          <p:cNvPr id="4" name="Footer Placeholder 3"/>
          <p:cNvSpPr>
            <a:spLocks noGrp="1"/>
          </p:cNvSpPr>
          <p:nvPr>
            <p:ph type="ftr" sz="quarter" idx="11"/>
          </p:nvPr>
        </p:nvSpPr>
        <p:spPr/>
        <p:txBody>
          <a:bodyPr/>
          <a:lstStyle/>
          <a:p>
            <a:r>
              <a:rPr lang="en-AU"/>
              <a:t>©Software  Architecture</a:t>
            </a:r>
            <a:endParaRPr lang="en-AU" dirty="0"/>
          </a:p>
        </p:txBody>
      </p:sp>
      <p:pic>
        <p:nvPicPr>
          <p:cNvPr id="5" name="图片 4"/>
          <p:cNvPicPr>
            <a:picLocks noChangeAspect="1"/>
          </p:cNvPicPr>
          <p:nvPr/>
        </p:nvPicPr>
        <p:blipFill>
          <a:blip r:embed="rId2"/>
          <a:stretch>
            <a:fillRect/>
          </a:stretch>
        </p:blipFill>
        <p:spPr>
          <a:xfrm>
            <a:off x="4418166" y="5038199"/>
            <a:ext cx="3466202" cy="1301886"/>
          </a:xfrm>
          <a:prstGeom prst="rect">
            <a:avLst/>
          </a:prstGeom>
        </p:spPr>
      </p:pic>
      <p:pic>
        <p:nvPicPr>
          <p:cNvPr id="7" name="图片 6">
            <a:extLst>
              <a:ext uri="{FF2B5EF4-FFF2-40B4-BE49-F238E27FC236}">
                <a16:creationId xmlns:a16="http://schemas.microsoft.com/office/drawing/2014/main" id="{EA63DBDF-1E24-CFC3-7EBC-7C1DF81AC600}"/>
              </a:ext>
            </a:extLst>
          </p:cNvPr>
          <p:cNvPicPr>
            <a:picLocks noChangeAspect="1"/>
          </p:cNvPicPr>
          <p:nvPr/>
        </p:nvPicPr>
        <p:blipFill>
          <a:blip r:embed="rId3"/>
          <a:stretch>
            <a:fillRect/>
          </a:stretch>
        </p:blipFill>
        <p:spPr>
          <a:xfrm>
            <a:off x="564515" y="5051160"/>
            <a:ext cx="3778182" cy="13051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Tactic </a:t>
            </a:r>
            <a:r>
              <a:rPr lang="en-US" altLang="zh-CN" dirty="0" err="1"/>
              <a:t>v.s</a:t>
            </a:r>
            <a:r>
              <a:rPr lang="en-US" altLang="zh-CN" dirty="0"/>
              <a:t>. Architectural pattern</a:t>
            </a:r>
            <a:endParaRPr lang="zh-CN" altLang="en-US" dirty="0"/>
          </a:p>
        </p:txBody>
      </p:sp>
      <p:sp>
        <p:nvSpPr>
          <p:cNvPr id="3" name="内容占位符 2"/>
          <p:cNvSpPr>
            <a:spLocks noGrp="1"/>
          </p:cNvSpPr>
          <p:nvPr>
            <p:ph idx="1"/>
          </p:nvPr>
        </p:nvSpPr>
        <p:spPr/>
        <p:txBody>
          <a:bodyPr/>
          <a:lstStyle/>
          <a:p>
            <a:r>
              <a:rPr lang="en-US" altLang="zh-CN" dirty="0"/>
              <a:t>A tactic is a design decision for a single quality attribute (</a:t>
            </a:r>
            <a:r>
              <a:rPr lang="en-US" altLang="zh-CN" dirty="0" err="1"/>
              <a:t>e.g.,Fault</a:t>
            </a:r>
            <a:r>
              <a:rPr lang="en-US" altLang="zh-CN" dirty="0"/>
              <a:t> Detection is for Availability)</a:t>
            </a:r>
          </a:p>
          <a:p>
            <a:r>
              <a:rPr lang="en-US" altLang="zh-CN" dirty="0"/>
              <a:t>A tactic does not consider tradeoffs among quality attributes</a:t>
            </a:r>
          </a:p>
          <a:p>
            <a:r>
              <a:rPr lang="en-US" altLang="zh-CN" dirty="0"/>
              <a:t>Architectural patterns can be seen as “packages” of tactics, in which tradeoffs are considered</a:t>
            </a:r>
          </a:p>
          <a:p>
            <a:pPr marL="0" indent="0">
              <a:buNone/>
            </a:pPr>
            <a:endParaRPr lang="zh-CN" altLang="en-US" dirty="0"/>
          </a:p>
        </p:txBody>
      </p:sp>
      <p:sp>
        <p:nvSpPr>
          <p:cNvPr id="4" name="页脚占位符 3"/>
          <p:cNvSpPr>
            <a:spLocks noGrp="1"/>
          </p:cNvSpPr>
          <p:nvPr>
            <p:ph type="ftr" sz="quarter" idx="11"/>
          </p:nvPr>
        </p:nvSpPr>
        <p:spPr/>
        <p:txBody>
          <a:bodyPr/>
          <a:lstStyle/>
          <a:p>
            <a:r>
              <a:rPr lang="en-US"/>
              <a:t>©Software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50CA43-8200-2B05-8398-10F564F60857}"/>
              </a:ext>
            </a:extLst>
          </p:cNvPr>
          <p:cNvSpPr>
            <a:spLocks noGrp="1"/>
          </p:cNvSpPr>
          <p:nvPr>
            <p:ph type="title"/>
          </p:nvPr>
        </p:nvSpPr>
        <p:spPr/>
        <p:txBody>
          <a:bodyPr/>
          <a:lstStyle/>
          <a:p>
            <a:r>
              <a:rPr lang="en-US" altLang="zh-CN" dirty="0"/>
              <a:t>Tactic </a:t>
            </a:r>
            <a:r>
              <a:rPr lang="en-US" altLang="zh-CN" dirty="0" err="1"/>
              <a:t>v.s</a:t>
            </a:r>
            <a:r>
              <a:rPr lang="en-US" altLang="zh-CN" dirty="0"/>
              <a:t>. Architectural pattern</a:t>
            </a:r>
            <a:endParaRPr lang="zh-CN" altLang="en-US" dirty="0"/>
          </a:p>
        </p:txBody>
      </p:sp>
      <p:graphicFrame>
        <p:nvGraphicFramePr>
          <p:cNvPr id="5" name="内容占位符 4">
            <a:extLst>
              <a:ext uri="{FF2B5EF4-FFF2-40B4-BE49-F238E27FC236}">
                <a16:creationId xmlns:a16="http://schemas.microsoft.com/office/drawing/2014/main" id="{44337BDD-8314-7FC3-EE3E-616B99C72FA5}"/>
              </a:ext>
            </a:extLst>
          </p:cNvPr>
          <p:cNvGraphicFramePr>
            <a:graphicFrameLocks noGrp="1"/>
          </p:cNvGraphicFramePr>
          <p:nvPr>
            <p:ph idx="1"/>
            <p:extLst>
              <p:ext uri="{D42A27DB-BD31-4B8C-83A1-F6EECF244321}">
                <p14:modId xmlns:p14="http://schemas.microsoft.com/office/powerpoint/2010/main" val="1772495174"/>
              </p:ext>
            </p:extLst>
          </p:nvPr>
        </p:nvGraphicFramePr>
        <p:xfrm>
          <a:off x="791580" y="2204864"/>
          <a:ext cx="7560840" cy="3167031"/>
        </p:xfrm>
        <a:graphic>
          <a:graphicData uri="http://schemas.openxmlformats.org/drawingml/2006/table">
            <a:tbl>
              <a:tblPr>
                <a:tableStyleId>{5C22544A-7EE6-4342-B048-85BDC9FD1C3A}</a:tableStyleId>
              </a:tblPr>
              <a:tblGrid>
                <a:gridCol w="3780420">
                  <a:extLst>
                    <a:ext uri="{9D8B030D-6E8A-4147-A177-3AD203B41FA5}">
                      <a16:colId xmlns:a16="http://schemas.microsoft.com/office/drawing/2014/main" val="3873928063"/>
                    </a:ext>
                  </a:extLst>
                </a:gridCol>
                <a:gridCol w="3780420">
                  <a:extLst>
                    <a:ext uri="{9D8B030D-6E8A-4147-A177-3AD203B41FA5}">
                      <a16:colId xmlns:a16="http://schemas.microsoft.com/office/drawing/2014/main" val="2736657602"/>
                    </a:ext>
                  </a:extLst>
                </a:gridCol>
              </a:tblGrid>
              <a:tr h="858611">
                <a:tc>
                  <a:txBody>
                    <a:bodyPr/>
                    <a:lstStyle/>
                    <a:p>
                      <a:pPr algn="l">
                        <a:lnSpc>
                          <a:spcPct val="138889"/>
                        </a:lnSpc>
                        <a:buNone/>
                      </a:pPr>
                      <a:r>
                        <a:rPr lang="zh-CN" sz="2800" b="1">
                          <a:effectLst/>
                        </a:rPr>
                        <a:t>思政/军事概念</a:t>
                      </a:r>
                      <a:endParaRPr lang="zh-CN" sz="2800" b="1" i="0">
                        <a:solidFill>
                          <a:srgbClr val="0F1115"/>
                        </a:solidFill>
                        <a:effectLst/>
                        <a:latin typeface="quote-cjk-patch"/>
                      </a:endParaRPr>
                    </a:p>
                  </a:txBody>
                  <a:tcPr marR="101600" marT="63500" marB="63500" anchor="ctr"/>
                </a:tc>
                <a:tc>
                  <a:txBody>
                    <a:bodyPr/>
                    <a:lstStyle/>
                    <a:p>
                      <a:pPr algn="l">
                        <a:lnSpc>
                          <a:spcPct val="138889"/>
                        </a:lnSpc>
                        <a:buNone/>
                      </a:pPr>
                      <a:r>
                        <a:rPr lang="zh-CN" sz="2800" b="1" dirty="0">
                          <a:effectLst/>
                        </a:rPr>
                        <a:t>软件/创业对应</a:t>
                      </a:r>
                      <a:endParaRPr lang="zh-CN" sz="2800" b="1" i="0" dirty="0">
                        <a:solidFill>
                          <a:srgbClr val="0F1115"/>
                        </a:solidFill>
                        <a:effectLst/>
                        <a:latin typeface="quote-cjk-patch"/>
                      </a:endParaRPr>
                    </a:p>
                  </a:txBody>
                  <a:tcPr marL="101600" marR="101600" marT="63500" marB="63500" anchor="ctr"/>
                </a:tc>
                <a:extLst>
                  <a:ext uri="{0D108BD9-81ED-4DB2-BD59-A6C34878D82A}">
                    <a16:rowId xmlns:a16="http://schemas.microsoft.com/office/drawing/2014/main" val="1343121730"/>
                  </a:ext>
                </a:extLst>
              </a:tr>
              <a:tr h="577105">
                <a:tc>
                  <a:txBody>
                    <a:bodyPr/>
                    <a:lstStyle/>
                    <a:p>
                      <a:pPr algn="l">
                        <a:lnSpc>
                          <a:spcPct val="138889"/>
                        </a:lnSpc>
                        <a:buNone/>
                      </a:pPr>
                      <a:r>
                        <a:rPr lang="zh-CN" sz="1400">
                          <a:effectLst/>
                        </a:rPr>
                        <a:t>农村包围城市（战略/模式）</a:t>
                      </a:r>
                      <a:endParaRPr lang="zh-CN" sz="1400" b="0" i="0">
                        <a:solidFill>
                          <a:srgbClr val="0F1115"/>
                        </a:solidFill>
                        <a:effectLst/>
                        <a:latin typeface="quote-cjk-patch"/>
                      </a:endParaRPr>
                    </a:p>
                  </a:txBody>
                  <a:tcPr marR="101600" marT="63500" marB="63500" anchor="ctr"/>
                </a:tc>
                <a:tc>
                  <a:txBody>
                    <a:bodyPr/>
                    <a:lstStyle/>
                    <a:p>
                      <a:pPr algn="l">
                        <a:lnSpc>
                          <a:spcPct val="138889"/>
                        </a:lnSpc>
                        <a:buNone/>
                      </a:pPr>
                      <a:r>
                        <a:rPr lang="zh-CN" sz="1400" dirty="0">
                          <a:effectLst/>
                        </a:rPr>
                        <a:t>边缘市场切入、下沉市场、非主流技术栈</a:t>
                      </a:r>
                      <a:endParaRPr lang="zh-CN" sz="1400" b="0" i="0" dirty="0">
                        <a:solidFill>
                          <a:srgbClr val="0F1115"/>
                        </a:solidFill>
                        <a:effectLst/>
                        <a:latin typeface="quote-cjk-patch"/>
                      </a:endParaRPr>
                    </a:p>
                  </a:txBody>
                  <a:tcPr marL="101600" marT="63500" marB="63500" anchor="ctr"/>
                </a:tc>
                <a:extLst>
                  <a:ext uri="{0D108BD9-81ED-4DB2-BD59-A6C34878D82A}">
                    <a16:rowId xmlns:a16="http://schemas.microsoft.com/office/drawing/2014/main" val="3148044949"/>
                  </a:ext>
                </a:extLst>
              </a:tr>
              <a:tr h="577105">
                <a:tc>
                  <a:txBody>
                    <a:bodyPr/>
                    <a:lstStyle/>
                    <a:p>
                      <a:pPr algn="l">
                        <a:lnSpc>
                          <a:spcPct val="138889"/>
                        </a:lnSpc>
                        <a:buNone/>
                      </a:pPr>
                      <a:r>
                        <a:rPr lang="zh-CN" sz="1400">
                          <a:effectLst/>
                        </a:rPr>
                        <a:t>游击战（战术）</a:t>
                      </a:r>
                      <a:endParaRPr lang="zh-CN" sz="1400" b="0" i="0">
                        <a:solidFill>
                          <a:srgbClr val="0F1115"/>
                        </a:solidFill>
                        <a:effectLst/>
                        <a:latin typeface="quote-cjk-patch"/>
                      </a:endParaRPr>
                    </a:p>
                  </a:txBody>
                  <a:tcPr marR="101600" marT="63500" marB="63500" anchor="ctr"/>
                </a:tc>
                <a:tc>
                  <a:txBody>
                    <a:bodyPr/>
                    <a:lstStyle/>
                    <a:p>
                      <a:pPr algn="l">
                        <a:lnSpc>
                          <a:spcPct val="138889"/>
                        </a:lnSpc>
                        <a:buNone/>
                      </a:pPr>
                      <a:r>
                        <a:rPr lang="zh-CN" sz="1400">
                          <a:effectLst/>
                        </a:rPr>
                        <a:t>小步快跑、快速试错、避开正面竞争</a:t>
                      </a:r>
                      <a:endParaRPr lang="zh-CN" sz="1400" b="0" i="0">
                        <a:solidFill>
                          <a:srgbClr val="0F1115"/>
                        </a:solidFill>
                        <a:effectLst/>
                        <a:latin typeface="quote-cjk-patch"/>
                      </a:endParaRPr>
                    </a:p>
                  </a:txBody>
                  <a:tcPr marL="101600" marT="63500" marB="63500" anchor="ctr"/>
                </a:tc>
                <a:extLst>
                  <a:ext uri="{0D108BD9-81ED-4DB2-BD59-A6C34878D82A}">
                    <a16:rowId xmlns:a16="http://schemas.microsoft.com/office/drawing/2014/main" val="3884243389"/>
                  </a:ext>
                </a:extLst>
              </a:tr>
              <a:tr h="577105">
                <a:tc>
                  <a:txBody>
                    <a:bodyPr/>
                    <a:lstStyle/>
                    <a:p>
                      <a:pPr algn="l">
                        <a:lnSpc>
                          <a:spcPct val="138889"/>
                        </a:lnSpc>
                        <a:buNone/>
                      </a:pPr>
                      <a:r>
                        <a:rPr lang="zh-CN" sz="1400">
                          <a:effectLst/>
                        </a:rPr>
                        <a:t>集中优势兵力（战术）</a:t>
                      </a:r>
                      <a:endParaRPr lang="zh-CN" sz="1400" b="0" i="0">
                        <a:solidFill>
                          <a:srgbClr val="0F1115"/>
                        </a:solidFill>
                        <a:effectLst/>
                        <a:latin typeface="quote-cjk-patch"/>
                      </a:endParaRPr>
                    </a:p>
                  </a:txBody>
                  <a:tcPr marR="101600" marT="63500" marB="63500" anchor="ctr"/>
                </a:tc>
                <a:tc>
                  <a:txBody>
                    <a:bodyPr/>
                    <a:lstStyle/>
                    <a:p>
                      <a:pPr algn="l">
                        <a:lnSpc>
                          <a:spcPct val="138889"/>
                        </a:lnSpc>
                        <a:buNone/>
                      </a:pPr>
                      <a:r>
                        <a:rPr lang="zh-CN" sz="1400" dirty="0">
                          <a:effectLst/>
                        </a:rPr>
                        <a:t>单点突破、极窄场景做到极致</a:t>
                      </a:r>
                      <a:endParaRPr lang="zh-CN" sz="1400" b="0" i="0" dirty="0">
                        <a:solidFill>
                          <a:srgbClr val="0F1115"/>
                        </a:solidFill>
                        <a:effectLst/>
                        <a:latin typeface="quote-cjk-patch"/>
                      </a:endParaRPr>
                    </a:p>
                  </a:txBody>
                  <a:tcPr marL="101600" marT="63500" marB="63500" anchor="ctr"/>
                </a:tc>
                <a:extLst>
                  <a:ext uri="{0D108BD9-81ED-4DB2-BD59-A6C34878D82A}">
                    <a16:rowId xmlns:a16="http://schemas.microsoft.com/office/drawing/2014/main" val="3234784940"/>
                  </a:ext>
                </a:extLst>
              </a:tr>
              <a:tr h="577105">
                <a:tc>
                  <a:txBody>
                    <a:bodyPr/>
                    <a:lstStyle/>
                    <a:p>
                      <a:pPr algn="l">
                        <a:lnSpc>
                          <a:spcPct val="138889"/>
                        </a:lnSpc>
                        <a:buNone/>
                      </a:pPr>
                      <a:r>
                        <a:rPr lang="zh-CN" sz="1400">
                          <a:effectLst/>
                        </a:rPr>
                        <a:t>根据地建设（战术）</a:t>
                      </a:r>
                      <a:endParaRPr lang="zh-CN" sz="1400" b="0" i="0">
                        <a:solidFill>
                          <a:srgbClr val="0F1115"/>
                        </a:solidFill>
                        <a:effectLst/>
                        <a:latin typeface="quote-cjk-patch"/>
                      </a:endParaRPr>
                    </a:p>
                  </a:txBody>
                  <a:tcPr marR="101600" marT="63500" marB="63500" anchor="ctr"/>
                </a:tc>
                <a:tc>
                  <a:txBody>
                    <a:bodyPr/>
                    <a:lstStyle/>
                    <a:p>
                      <a:pPr algn="l">
                        <a:lnSpc>
                          <a:spcPct val="138889"/>
                        </a:lnSpc>
                        <a:buNone/>
                      </a:pPr>
                      <a:r>
                        <a:rPr lang="zh-CN" sz="1400" dirty="0">
                          <a:effectLst/>
                        </a:rPr>
                        <a:t>先跑通一个可复制的单元模型</a:t>
                      </a:r>
                      <a:endParaRPr lang="zh-CN" sz="1400" b="0" i="0" dirty="0">
                        <a:solidFill>
                          <a:srgbClr val="0F1115"/>
                        </a:solidFill>
                        <a:effectLst/>
                        <a:latin typeface="quote-cjk-patch"/>
                      </a:endParaRPr>
                    </a:p>
                  </a:txBody>
                  <a:tcPr marL="101600" marT="63500" marB="63500" anchor="ctr"/>
                </a:tc>
                <a:extLst>
                  <a:ext uri="{0D108BD9-81ED-4DB2-BD59-A6C34878D82A}">
                    <a16:rowId xmlns:a16="http://schemas.microsoft.com/office/drawing/2014/main" val="765206443"/>
                  </a:ext>
                </a:extLst>
              </a:tr>
            </a:tbl>
          </a:graphicData>
        </a:graphic>
      </p:graphicFrame>
      <p:sp>
        <p:nvSpPr>
          <p:cNvPr id="4" name="页脚占位符 3">
            <a:extLst>
              <a:ext uri="{FF2B5EF4-FFF2-40B4-BE49-F238E27FC236}">
                <a16:creationId xmlns:a16="http://schemas.microsoft.com/office/drawing/2014/main" id="{F970F15A-B9E9-18AC-5611-AD50A5762026}"/>
              </a:ext>
            </a:extLst>
          </p:cNvPr>
          <p:cNvSpPr>
            <a:spLocks noGrp="1"/>
          </p:cNvSpPr>
          <p:nvPr>
            <p:ph type="ftr" sz="quarter" idx="11"/>
          </p:nvPr>
        </p:nvSpPr>
        <p:spPr/>
        <p:txBody>
          <a:bodyPr/>
          <a:lstStyle/>
          <a:p>
            <a:r>
              <a:rPr lang="en-US"/>
              <a:t>©Software  Architecture</a:t>
            </a:r>
            <a:endParaRPr lang="en-AU" dirty="0"/>
          </a:p>
        </p:txBody>
      </p:sp>
    </p:spTree>
    <p:extLst>
      <p:ext uri="{BB962C8B-B14F-4D97-AF65-F5344CB8AC3E}">
        <p14:creationId xmlns:p14="http://schemas.microsoft.com/office/powerpoint/2010/main" val="19408047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Achieving Quality Attributes Through Tactics</a:t>
            </a:r>
          </a:p>
        </p:txBody>
      </p:sp>
      <p:sp>
        <p:nvSpPr>
          <p:cNvPr id="3" name="Content Placeholder 2"/>
          <p:cNvSpPr>
            <a:spLocks noGrp="1"/>
          </p:cNvSpPr>
          <p:nvPr>
            <p:ph idx="1"/>
          </p:nvPr>
        </p:nvSpPr>
        <p:spPr>
          <a:xfrm>
            <a:off x="457200" y="1268761"/>
            <a:ext cx="8229600" cy="4752527"/>
          </a:xfrm>
        </p:spPr>
        <p:txBody>
          <a:bodyPr>
            <a:normAutofit fontScale="92500" lnSpcReduction="10000"/>
          </a:bodyPr>
          <a:lstStyle/>
          <a:p>
            <a:r>
              <a:rPr lang="en-US" dirty="0"/>
              <a:t>We need to isolate, catalog, and describe the tactics. Why do we do this?  </a:t>
            </a:r>
          </a:p>
          <a:p>
            <a:pPr marL="971550" lvl="1" indent="-514350">
              <a:buFont typeface="+mj-lt"/>
              <a:buAutoNum type="arabicPeriod"/>
            </a:pPr>
            <a:r>
              <a:rPr lang="en-US" dirty="0"/>
              <a:t>Design patterns are complex, and often difficult to apply as is; architects need to modify and adapt them. </a:t>
            </a:r>
          </a:p>
          <a:p>
            <a:pPr marL="971550" lvl="1" indent="-514350">
              <a:buFont typeface="+mj-lt"/>
              <a:buAutoNum type="arabicPeriod"/>
            </a:pPr>
            <a:r>
              <a:rPr lang="en-US" dirty="0"/>
              <a:t>If no pattern exists to realize the architect’s design goal, tactics allow the architect to construct a design fragment from “first principles”. </a:t>
            </a:r>
          </a:p>
          <a:p>
            <a:pPr marL="971550" lvl="1" indent="-514350">
              <a:buFont typeface="+mj-lt"/>
              <a:buAutoNum type="arabicPeriod"/>
            </a:pPr>
            <a:r>
              <a:rPr lang="en-US" dirty="0"/>
              <a:t>By cataloguing tactics, we will have a choice of multiple tactics to improve a particular quality attribute. The choice of which tactic</a:t>
            </a:r>
            <a:r>
              <a:rPr lang="en-US" altLang="zh-CN" dirty="0"/>
              <a:t>s</a:t>
            </a:r>
            <a:r>
              <a:rPr lang="en-US" dirty="0"/>
              <a:t> to use depends on factors such as the cost to implement. </a:t>
            </a:r>
          </a:p>
          <a:p>
            <a:endParaRPr lang="en-US" sz="2800" dirty="0"/>
          </a:p>
        </p:txBody>
      </p:sp>
      <p:sp>
        <p:nvSpPr>
          <p:cNvPr id="4" name="Footer Placeholder 3"/>
          <p:cNvSpPr>
            <a:spLocks noGrp="1"/>
          </p:cNvSpPr>
          <p:nvPr>
            <p:ph type="ftr" sz="quarter" idx="11"/>
          </p:nvPr>
        </p:nvSpPr>
        <p:spPr/>
        <p:txBody>
          <a:bodyPr/>
          <a:lstStyle/>
          <a:p>
            <a:r>
              <a:rPr lang="en-AU"/>
              <a:t>©Software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Guiding Quality Design Decisions</a:t>
            </a:r>
          </a:p>
        </p:txBody>
      </p:sp>
      <p:sp>
        <p:nvSpPr>
          <p:cNvPr id="3" name="Content Placeholder 2"/>
          <p:cNvSpPr>
            <a:spLocks noGrp="1"/>
          </p:cNvSpPr>
          <p:nvPr>
            <p:ph idx="1"/>
          </p:nvPr>
        </p:nvSpPr>
        <p:spPr>
          <a:xfrm>
            <a:off x="457200" y="1268761"/>
            <a:ext cx="8229600" cy="4752527"/>
          </a:xfrm>
        </p:spPr>
        <p:txBody>
          <a:bodyPr>
            <a:normAutofit fontScale="92500" lnSpcReduction="10000"/>
          </a:bodyPr>
          <a:lstStyle/>
          <a:p>
            <a:r>
              <a:rPr lang="en-US" dirty="0"/>
              <a:t>Architecture design is a systematic approach to making design decisions.</a:t>
            </a:r>
          </a:p>
          <a:p>
            <a:r>
              <a:rPr lang="en-US" dirty="0"/>
              <a:t>We categorize the design decisions as follows:</a:t>
            </a:r>
          </a:p>
          <a:p>
            <a:pPr marL="914400" lvl="1" indent="-514350">
              <a:buFont typeface="+mj-lt"/>
              <a:buAutoNum type="arabicPeriod"/>
            </a:pPr>
            <a:r>
              <a:rPr lang="en-US" dirty="0"/>
              <a:t>Allocation of responsibilities</a:t>
            </a:r>
          </a:p>
          <a:p>
            <a:pPr marL="914400" lvl="1" indent="-514350">
              <a:buFont typeface="+mj-lt"/>
              <a:buAutoNum type="arabicPeriod"/>
            </a:pPr>
            <a:r>
              <a:rPr lang="en-US" dirty="0"/>
              <a:t>Coordination model</a:t>
            </a:r>
          </a:p>
          <a:p>
            <a:pPr marL="914400" lvl="1" indent="-514350">
              <a:buFont typeface="+mj-lt"/>
              <a:buAutoNum type="arabicPeriod"/>
            </a:pPr>
            <a:r>
              <a:rPr lang="en-US" dirty="0"/>
              <a:t>Data model</a:t>
            </a:r>
          </a:p>
          <a:p>
            <a:pPr marL="914400" lvl="1" indent="-514350">
              <a:buFont typeface="+mj-lt"/>
              <a:buAutoNum type="arabicPeriod"/>
            </a:pPr>
            <a:r>
              <a:rPr lang="en-US" dirty="0"/>
              <a:t>Management of resources</a:t>
            </a:r>
          </a:p>
          <a:p>
            <a:pPr marL="914400" lvl="1" indent="-514350">
              <a:buFont typeface="+mj-lt"/>
              <a:buAutoNum type="arabicPeriod"/>
            </a:pPr>
            <a:r>
              <a:rPr lang="en-US" dirty="0"/>
              <a:t>Mapping among architectural elements: </a:t>
            </a:r>
          </a:p>
          <a:p>
            <a:pPr marL="914400" lvl="1" indent="-514350">
              <a:buFont typeface="+mj-lt"/>
              <a:buAutoNum type="arabicPeriod"/>
            </a:pPr>
            <a:r>
              <a:rPr lang="en-US" dirty="0"/>
              <a:t>Binding time decisions</a:t>
            </a:r>
          </a:p>
          <a:p>
            <a:pPr marL="914400" lvl="1" indent="-514350">
              <a:buFont typeface="+mj-lt"/>
              <a:buAutoNum type="arabicPeriod"/>
            </a:pPr>
            <a:r>
              <a:rPr lang="en-US" dirty="0"/>
              <a:t>Choice of technology</a:t>
            </a:r>
            <a:endParaRPr lang="en-US" sz="2400" dirty="0"/>
          </a:p>
        </p:txBody>
      </p:sp>
      <p:sp>
        <p:nvSpPr>
          <p:cNvPr id="4" name="Footer Placeholder 3"/>
          <p:cNvSpPr>
            <a:spLocks noGrp="1"/>
          </p:cNvSpPr>
          <p:nvPr>
            <p:ph type="ftr" sz="quarter" idx="11"/>
          </p:nvPr>
        </p:nvSpPr>
        <p:spPr/>
        <p:txBody>
          <a:bodyPr/>
          <a:lstStyle/>
          <a:p>
            <a:r>
              <a:rPr lang="en-AU"/>
              <a:t>©Software  Architecture</a:t>
            </a:r>
            <a:endParaRPr lang="en-AU"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Allocation of Responsibilities</a:t>
            </a:r>
          </a:p>
        </p:txBody>
      </p:sp>
      <p:sp>
        <p:nvSpPr>
          <p:cNvPr id="3" name="Content Placeholder 2"/>
          <p:cNvSpPr>
            <a:spLocks noGrp="1"/>
          </p:cNvSpPr>
          <p:nvPr>
            <p:ph idx="1"/>
          </p:nvPr>
        </p:nvSpPr>
        <p:spPr/>
        <p:txBody>
          <a:bodyPr>
            <a:normAutofit/>
          </a:bodyPr>
          <a:lstStyle/>
          <a:p>
            <a:r>
              <a:rPr lang="en-US" dirty="0"/>
              <a:t>Decisions involving this include:</a:t>
            </a:r>
          </a:p>
          <a:p>
            <a:pPr lvl="1"/>
            <a:r>
              <a:rPr lang="en-US" dirty="0"/>
              <a:t>identifying the responsibilities including </a:t>
            </a:r>
            <a:r>
              <a:rPr lang="en-US" i="1" dirty="0"/>
              <a:t>basic system functions</a:t>
            </a:r>
            <a:r>
              <a:rPr lang="en-US" dirty="0"/>
              <a:t>, </a:t>
            </a:r>
            <a:r>
              <a:rPr lang="en-US" i="1" dirty="0"/>
              <a:t>architectural infrastructure</a:t>
            </a:r>
            <a:r>
              <a:rPr lang="en-US" dirty="0"/>
              <a:t>, and </a:t>
            </a:r>
            <a:r>
              <a:rPr lang="en-US" i="1" dirty="0"/>
              <a:t>satisfaction of quality attributes</a:t>
            </a:r>
            <a:r>
              <a:rPr lang="en-US" dirty="0"/>
              <a:t>. </a:t>
            </a:r>
          </a:p>
          <a:p>
            <a:pPr lvl="1"/>
            <a:r>
              <a:rPr lang="en-US" dirty="0"/>
              <a:t>determining how these responsibilities are allocated to non-runtime and runtime elements (namely, modules, components, and connectors). </a:t>
            </a:r>
          </a:p>
          <a:p>
            <a:pPr marL="0" indent="0">
              <a:buNone/>
            </a:pPr>
            <a:r>
              <a:rPr lang="en-US" sz="2100" dirty="0">
                <a:solidFill>
                  <a:schemeClr val="bg1">
                    <a:lumMod val="50000"/>
                  </a:schemeClr>
                </a:solidFill>
              </a:rPr>
              <a:t>For example, in an e-commerce system, we may clearly separate the responsibilities of user management, order processing, and payment systems, so that in subsequent system updates and maintenance, we can focus on a certain module without affecting other parts. (Modifiability)</a:t>
            </a:r>
          </a:p>
        </p:txBody>
      </p:sp>
      <p:sp>
        <p:nvSpPr>
          <p:cNvPr id="4" name="Footer Placeholder 3"/>
          <p:cNvSpPr>
            <a:spLocks noGrp="1"/>
          </p:cNvSpPr>
          <p:nvPr>
            <p:ph type="ftr" sz="quarter" idx="11"/>
          </p:nvPr>
        </p:nvSpPr>
        <p:spPr/>
        <p:txBody>
          <a:bodyPr/>
          <a:lstStyle/>
          <a:p>
            <a:r>
              <a:rPr lang="en-AU"/>
              <a:t>©Software  Architecture</a:t>
            </a:r>
            <a:endParaRPr lang="en-AU"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Coordination Model</a:t>
            </a:r>
          </a:p>
        </p:txBody>
      </p:sp>
      <p:sp>
        <p:nvSpPr>
          <p:cNvPr id="3" name="Content Placeholder 2"/>
          <p:cNvSpPr>
            <a:spLocks noGrp="1"/>
          </p:cNvSpPr>
          <p:nvPr>
            <p:ph idx="1"/>
          </p:nvPr>
        </p:nvSpPr>
        <p:spPr>
          <a:xfrm>
            <a:off x="395536" y="1124744"/>
            <a:ext cx="8507288" cy="5328592"/>
          </a:xfrm>
        </p:spPr>
        <p:txBody>
          <a:bodyPr>
            <a:normAutofit fontScale="92500"/>
          </a:bodyPr>
          <a:lstStyle/>
          <a:p>
            <a:r>
              <a:rPr lang="en-US" dirty="0"/>
              <a:t>Decisions about the coordination model include:</a:t>
            </a:r>
          </a:p>
          <a:p>
            <a:pPr lvl="1"/>
            <a:r>
              <a:rPr lang="en-US" dirty="0"/>
              <a:t>identify the elements of the system that must coordinate, or are prohibited from coordinating</a:t>
            </a:r>
          </a:p>
          <a:p>
            <a:pPr lvl="1"/>
            <a:r>
              <a:rPr lang="en-US" dirty="0"/>
              <a:t>determining the properties of the coordination, such as timeliness, currency, correctness, and consistency</a:t>
            </a:r>
          </a:p>
          <a:p>
            <a:pPr lvl="1"/>
            <a:r>
              <a:rPr lang="en-US" dirty="0"/>
              <a:t>choosing the communication mechanisms that realize those properties.  </a:t>
            </a:r>
          </a:p>
          <a:p>
            <a:pPr lvl="2"/>
            <a:r>
              <a:rPr lang="en-US" dirty="0" err="1"/>
              <a:t>stateful</a:t>
            </a:r>
            <a:r>
              <a:rPr lang="en-US" dirty="0"/>
              <a:t> vs. stateless,  synchronous vs. asynchronous, guaranteed vs. non-guaranteed delivery</a:t>
            </a:r>
          </a:p>
          <a:p>
            <a:pPr marL="0" indent="0">
              <a:buNone/>
            </a:pPr>
            <a:r>
              <a:rPr lang="en-US" sz="2400" dirty="0">
                <a:solidFill>
                  <a:schemeClr val="bg1">
                    <a:lumMod val="50000"/>
                  </a:schemeClr>
                </a:solidFill>
              </a:rPr>
              <a:t>For example, in a banking system, the payment confirmation process may require synchronous coordination to ensure data consistency, while some background report generation can use asynchronous processing to improve system efficiency. (</a:t>
            </a:r>
            <a:r>
              <a:rPr lang="en-US" sz="2400">
                <a:solidFill>
                  <a:schemeClr val="bg1">
                    <a:lumMod val="50000"/>
                  </a:schemeClr>
                </a:solidFill>
              </a:rPr>
              <a:t>Security and Performance</a:t>
            </a:r>
            <a:r>
              <a:rPr lang="en-US" sz="2400" dirty="0">
                <a:solidFill>
                  <a:schemeClr val="bg1">
                    <a:lumMod val="50000"/>
                  </a:schemeClr>
                </a:solidFill>
              </a:rPr>
              <a:t>)</a:t>
            </a:r>
          </a:p>
        </p:txBody>
      </p:sp>
      <p:sp>
        <p:nvSpPr>
          <p:cNvPr id="4" name="Footer Placeholder 3"/>
          <p:cNvSpPr>
            <a:spLocks noGrp="1"/>
          </p:cNvSpPr>
          <p:nvPr>
            <p:ph type="ftr" sz="quarter" idx="11"/>
          </p:nvPr>
        </p:nvSpPr>
        <p:spPr/>
        <p:txBody>
          <a:bodyPr/>
          <a:lstStyle/>
          <a:p>
            <a:r>
              <a:rPr lang="en-AU" dirty="0"/>
              <a:t>©Software  Architecture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Model</a:t>
            </a:r>
          </a:p>
        </p:txBody>
      </p:sp>
      <p:sp>
        <p:nvSpPr>
          <p:cNvPr id="3" name="Content Placeholder 2"/>
          <p:cNvSpPr>
            <a:spLocks noGrp="1"/>
          </p:cNvSpPr>
          <p:nvPr>
            <p:ph idx="1"/>
          </p:nvPr>
        </p:nvSpPr>
        <p:spPr>
          <a:xfrm>
            <a:off x="457200" y="1268761"/>
            <a:ext cx="8229600" cy="4464495"/>
          </a:xfrm>
        </p:spPr>
        <p:txBody>
          <a:bodyPr>
            <a:normAutofit/>
          </a:bodyPr>
          <a:lstStyle/>
          <a:p>
            <a:r>
              <a:rPr lang="en-US" dirty="0"/>
              <a:t>Decisions about the data model include:</a:t>
            </a:r>
          </a:p>
          <a:p>
            <a:pPr lvl="1"/>
            <a:r>
              <a:rPr lang="en-US" dirty="0"/>
              <a:t>choosing the major data abstractions, their operations, and their properties. </a:t>
            </a:r>
          </a:p>
          <a:p>
            <a:pPr lvl="1"/>
            <a:r>
              <a:rPr lang="en-US" dirty="0"/>
              <a:t>metadata needed for consistent interpretation of the data</a:t>
            </a:r>
          </a:p>
          <a:p>
            <a:pPr lvl="1"/>
            <a:r>
              <a:rPr lang="en-US" dirty="0"/>
              <a:t>organization of the data,</a:t>
            </a:r>
            <a:r>
              <a:rPr lang="zh-CN" altLang="en-US" dirty="0"/>
              <a:t> </a:t>
            </a:r>
            <a:r>
              <a:rPr lang="en-US" altLang="zh-CN" dirty="0"/>
              <a:t>i.e.,</a:t>
            </a:r>
            <a:r>
              <a:rPr lang="zh-CN" altLang="en-US" dirty="0"/>
              <a:t> </a:t>
            </a:r>
            <a:r>
              <a:rPr lang="en-US" altLang="zh-CN" dirty="0"/>
              <a:t>to</a:t>
            </a:r>
            <a:r>
              <a:rPr lang="zh-CN" altLang="en-US" dirty="0"/>
              <a:t> </a:t>
            </a:r>
            <a:r>
              <a:rPr lang="en-US" altLang="zh-CN" dirty="0"/>
              <a:t>decide </a:t>
            </a:r>
            <a:r>
              <a:rPr lang="en-US" dirty="0"/>
              <a:t>whether the data is going to be kept in a relational data base, a collection of objects or both </a:t>
            </a:r>
          </a:p>
          <a:p>
            <a:pPr marL="0" indent="0">
              <a:buNone/>
            </a:pPr>
            <a:r>
              <a:rPr lang="en-US" sz="2400" dirty="0">
                <a:solidFill>
                  <a:schemeClr val="bg1">
                    <a:lumMod val="50000"/>
                  </a:schemeClr>
                </a:solidFill>
              </a:rPr>
              <a:t>For example, classes in object-oriented programming (Many)</a:t>
            </a:r>
          </a:p>
        </p:txBody>
      </p:sp>
      <p:sp>
        <p:nvSpPr>
          <p:cNvPr id="4" name="Footer Placeholder 3"/>
          <p:cNvSpPr>
            <a:spLocks noGrp="1"/>
          </p:cNvSpPr>
          <p:nvPr>
            <p:ph type="ftr" sz="quarter" idx="11"/>
          </p:nvPr>
        </p:nvSpPr>
        <p:spPr/>
        <p:txBody>
          <a:bodyPr/>
          <a:lstStyle/>
          <a:p>
            <a:r>
              <a:rPr lang="en-AU"/>
              <a:t>©Software  Architecture</a:t>
            </a:r>
            <a:endParaRPr lang="en-AU"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Management of Resources</a:t>
            </a:r>
          </a:p>
        </p:txBody>
      </p:sp>
      <p:sp>
        <p:nvSpPr>
          <p:cNvPr id="3" name="Content Placeholder 2"/>
          <p:cNvSpPr>
            <a:spLocks noGrp="1"/>
          </p:cNvSpPr>
          <p:nvPr>
            <p:ph idx="1"/>
          </p:nvPr>
        </p:nvSpPr>
        <p:spPr/>
        <p:txBody>
          <a:bodyPr>
            <a:normAutofit fontScale="92500" lnSpcReduction="20000"/>
          </a:bodyPr>
          <a:lstStyle/>
          <a:p>
            <a:r>
              <a:rPr lang="en-US" dirty="0"/>
              <a:t>Decisions for this include:</a:t>
            </a:r>
          </a:p>
          <a:p>
            <a:pPr lvl="1"/>
            <a:r>
              <a:rPr lang="en-US" dirty="0"/>
              <a:t>identifying the resources that must be managed and determining the limits for each</a:t>
            </a:r>
          </a:p>
          <a:p>
            <a:pPr lvl="1"/>
            <a:r>
              <a:rPr lang="en-US" dirty="0"/>
              <a:t>determining which system element(s) manage each resource </a:t>
            </a:r>
          </a:p>
          <a:p>
            <a:pPr lvl="1"/>
            <a:r>
              <a:rPr lang="en-US" dirty="0"/>
              <a:t>determining how resources are shared and the strategies employed when there is contention</a:t>
            </a:r>
          </a:p>
          <a:p>
            <a:pPr lvl="1"/>
            <a:r>
              <a:rPr lang="en-US" dirty="0"/>
              <a:t>determining the impact of saturation on different resources. </a:t>
            </a:r>
          </a:p>
          <a:p>
            <a:pPr marL="0" indent="0">
              <a:buNone/>
            </a:pPr>
            <a:r>
              <a:rPr lang="en-US" altLang="zh-CN" sz="2600" dirty="0">
                <a:solidFill>
                  <a:schemeClr val="bg1">
                    <a:lumMod val="50000"/>
                  </a:schemeClr>
                </a:solidFill>
              </a:rPr>
              <a:t>For example, in a shared printer system, a print queue manager allocates printing tasks to avoid conflicts, ensuring fair access through strategies like FIFO or priority scheduling. Effective resource management maintains system stability under high load. (performance and availability)</a:t>
            </a:r>
            <a:endParaRPr lang="en-US" sz="2600" dirty="0">
              <a:solidFill>
                <a:schemeClr val="bg1">
                  <a:lumMod val="50000"/>
                </a:schemeClr>
              </a:solidFill>
            </a:endParaRPr>
          </a:p>
        </p:txBody>
      </p:sp>
      <p:sp>
        <p:nvSpPr>
          <p:cNvPr id="4" name="Footer Placeholder 3"/>
          <p:cNvSpPr>
            <a:spLocks noGrp="1"/>
          </p:cNvSpPr>
          <p:nvPr>
            <p:ph type="ftr" sz="quarter" idx="11"/>
          </p:nvPr>
        </p:nvSpPr>
        <p:spPr/>
        <p:txBody>
          <a:bodyPr/>
          <a:lstStyle/>
          <a:p>
            <a:r>
              <a:rPr lang="en-AU"/>
              <a:t>©Software  Architecture</a:t>
            </a:r>
            <a:endParaRPr lang="en-AU"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Mapping Among Architectural Elements</a:t>
            </a:r>
          </a:p>
        </p:txBody>
      </p:sp>
      <p:sp>
        <p:nvSpPr>
          <p:cNvPr id="3" name="Content Placeholder 2"/>
          <p:cNvSpPr>
            <a:spLocks noGrp="1"/>
          </p:cNvSpPr>
          <p:nvPr>
            <p:ph idx="1"/>
          </p:nvPr>
        </p:nvSpPr>
        <p:spPr>
          <a:xfrm>
            <a:off x="457200" y="1268760"/>
            <a:ext cx="8579296" cy="5087590"/>
          </a:xfrm>
        </p:spPr>
        <p:txBody>
          <a:bodyPr>
            <a:normAutofit fontScale="92500" lnSpcReduction="20000"/>
          </a:bodyPr>
          <a:lstStyle/>
          <a:p>
            <a:r>
              <a:rPr lang="en-US" sz="3600" dirty="0"/>
              <a:t>Useful mappings include:</a:t>
            </a:r>
          </a:p>
          <a:p>
            <a:pPr lvl="1"/>
            <a:r>
              <a:rPr lang="en-US" sz="3200" dirty="0"/>
              <a:t>the mapping of modules and runtime elements to each other</a:t>
            </a:r>
          </a:p>
          <a:p>
            <a:pPr lvl="1"/>
            <a:r>
              <a:rPr lang="en-US" sz="3200" dirty="0"/>
              <a:t>the assignment of runtime elements to processors</a:t>
            </a:r>
          </a:p>
          <a:p>
            <a:pPr lvl="1"/>
            <a:r>
              <a:rPr lang="en-US" sz="3200" dirty="0"/>
              <a:t>the assignment of items in the data model to data stores</a:t>
            </a:r>
          </a:p>
          <a:p>
            <a:pPr lvl="1"/>
            <a:r>
              <a:rPr lang="en-US" sz="3200" dirty="0"/>
              <a:t>the mapping of modules and runtime elements to units of delivery </a:t>
            </a:r>
          </a:p>
          <a:p>
            <a:pPr marL="57150" indent="0">
              <a:buNone/>
            </a:pPr>
            <a:r>
              <a:rPr lang="en-US" sz="2800" dirty="0">
                <a:solidFill>
                  <a:schemeClr val="bg1">
                    <a:lumMod val="50000"/>
                  </a:schemeClr>
                </a:solidFill>
              </a:rPr>
              <a:t>For example, assuming the system runs on a multi-core processor, the architect needs to assign these processes to different CPU cores (Performance)</a:t>
            </a:r>
          </a:p>
        </p:txBody>
      </p:sp>
      <p:sp>
        <p:nvSpPr>
          <p:cNvPr id="4" name="Footer Placeholder 3"/>
          <p:cNvSpPr>
            <a:spLocks noGrp="1"/>
          </p:cNvSpPr>
          <p:nvPr>
            <p:ph type="ftr" sz="quarter" idx="11"/>
          </p:nvPr>
        </p:nvSpPr>
        <p:spPr/>
        <p:txBody>
          <a:bodyPr/>
          <a:lstStyle/>
          <a:p>
            <a:r>
              <a:rPr lang="en-AU"/>
              <a:t>©Software  Architecture</a:t>
            </a:r>
            <a:endParaRPr lang="en-AU"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Binding Time</a:t>
            </a:r>
          </a:p>
        </p:txBody>
      </p:sp>
      <p:sp>
        <p:nvSpPr>
          <p:cNvPr id="3" name="Content Placeholder 2"/>
          <p:cNvSpPr>
            <a:spLocks noGrp="1"/>
          </p:cNvSpPr>
          <p:nvPr>
            <p:ph idx="1"/>
          </p:nvPr>
        </p:nvSpPr>
        <p:spPr/>
        <p:txBody>
          <a:bodyPr>
            <a:normAutofit lnSpcReduction="10000"/>
          </a:bodyPr>
          <a:lstStyle/>
          <a:p>
            <a:r>
              <a:rPr lang="en-US" dirty="0"/>
              <a:t>The decisions in the other categories have an associated binding time decision. Examples of such binding time decisions include:</a:t>
            </a:r>
          </a:p>
          <a:p>
            <a:pPr lvl="1"/>
            <a:r>
              <a:rPr lang="en-US" dirty="0"/>
              <a:t>Build-time </a:t>
            </a:r>
            <a:r>
              <a:rPr lang="en-US" dirty="0" err="1"/>
              <a:t>v.s</a:t>
            </a:r>
            <a:r>
              <a:rPr lang="en-US" dirty="0"/>
              <a:t>. run-time</a:t>
            </a:r>
          </a:p>
          <a:p>
            <a:pPr lvl="1"/>
            <a:r>
              <a:rPr lang="en-US" dirty="0"/>
              <a:t>For choice of coordination model you can design run-time negotiation of protocols.</a:t>
            </a:r>
          </a:p>
          <a:p>
            <a:pPr lvl="1"/>
            <a:r>
              <a:rPr lang="en-US" dirty="0"/>
              <a:t>For resource management you can design a system to accept new peripheral devices plugged in at run-time.</a:t>
            </a:r>
          </a:p>
          <a:p>
            <a:pPr marL="0" indent="0">
              <a:buNone/>
            </a:pPr>
            <a:r>
              <a:rPr lang="en-US" sz="2200" dirty="0">
                <a:solidFill>
                  <a:schemeClr val="bg1">
                    <a:lumMod val="50000"/>
                  </a:schemeClr>
                </a:solidFill>
              </a:rPr>
              <a:t>For example, theme switching function for mobile apps: Design-time binding, Build-time binding, Run-time binding (Usability)</a:t>
            </a:r>
          </a:p>
        </p:txBody>
      </p:sp>
      <p:sp>
        <p:nvSpPr>
          <p:cNvPr id="4" name="Footer Placeholder 3"/>
          <p:cNvSpPr>
            <a:spLocks noGrp="1"/>
          </p:cNvSpPr>
          <p:nvPr>
            <p:ph type="ftr" sz="quarter" idx="11"/>
          </p:nvPr>
        </p:nvSpPr>
        <p:spPr/>
        <p:txBody>
          <a:bodyPr/>
          <a:lstStyle/>
          <a:p>
            <a:r>
              <a:rPr lang="en-AU"/>
              <a:t>©Software  Architecture</a:t>
            </a:r>
            <a:endParaRPr lang="en-AU"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Choice of Technology</a:t>
            </a:r>
          </a:p>
        </p:txBody>
      </p:sp>
      <p:sp>
        <p:nvSpPr>
          <p:cNvPr id="3" name="Content Placeholder 2"/>
          <p:cNvSpPr>
            <a:spLocks noGrp="1"/>
          </p:cNvSpPr>
          <p:nvPr>
            <p:ph idx="1"/>
          </p:nvPr>
        </p:nvSpPr>
        <p:spPr>
          <a:xfrm>
            <a:off x="457200" y="1268760"/>
            <a:ext cx="8229600" cy="4968552"/>
          </a:xfrm>
        </p:spPr>
        <p:txBody>
          <a:bodyPr>
            <a:normAutofit fontScale="85000" lnSpcReduction="20000"/>
          </a:bodyPr>
          <a:lstStyle/>
          <a:p>
            <a:r>
              <a:rPr lang="en-US" dirty="0"/>
              <a:t>Choice of technology decisions involve:</a:t>
            </a:r>
          </a:p>
          <a:p>
            <a:pPr lvl="1"/>
            <a:r>
              <a:rPr lang="en-US" dirty="0"/>
              <a:t>deciding which technologies are available to realize the decisions made in the other categories</a:t>
            </a:r>
          </a:p>
          <a:p>
            <a:pPr lvl="1"/>
            <a:r>
              <a:rPr lang="en-US" dirty="0"/>
              <a:t>determining whether the tools to support this technology (IDEs, simulators, testing tools, etc.) are adequate</a:t>
            </a:r>
          </a:p>
          <a:p>
            <a:pPr lvl="1"/>
            <a:r>
              <a:rPr lang="en-US" dirty="0"/>
              <a:t>determining the extent of internal familiarity and external support for the technology (such as courses, tutorials, examples, availability of contractors)</a:t>
            </a:r>
          </a:p>
          <a:p>
            <a:pPr lvl="1"/>
            <a:r>
              <a:rPr lang="en-US" dirty="0"/>
              <a:t>determining the side effects of choosing a technology such as a required coordination model or constrained resource management opportunities</a:t>
            </a:r>
          </a:p>
          <a:p>
            <a:pPr lvl="1"/>
            <a:r>
              <a:rPr lang="en-US" dirty="0"/>
              <a:t>determining whether a new technology is compatible with the existing technology stack </a:t>
            </a:r>
          </a:p>
          <a:p>
            <a:pPr marL="57150" indent="0">
              <a:buNone/>
            </a:pPr>
            <a:r>
              <a:rPr lang="en-US" dirty="0">
                <a:solidFill>
                  <a:schemeClr val="bg1">
                    <a:lumMod val="50000"/>
                  </a:schemeClr>
                </a:solidFill>
              </a:rPr>
              <a:t>Example: which programming language? (Many)</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a:bodyPr>
          <a:lstStyle/>
          <a:p>
            <a:r>
              <a:rPr lang="en-US" dirty="0"/>
              <a:t>Requirements for a system come in three categories.</a:t>
            </a:r>
          </a:p>
          <a:p>
            <a:pPr marL="971550" lvl="1" indent="-514350">
              <a:buFont typeface="+mj-lt"/>
              <a:buAutoNum type="arabicPeriod"/>
            </a:pPr>
            <a:r>
              <a:rPr lang="en-US" dirty="0"/>
              <a:t>Functional. These requirements are satisfied by including an appropriate set of responsibilities within the design.</a:t>
            </a:r>
          </a:p>
          <a:p>
            <a:pPr marL="971550" lvl="1" indent="-514350">
              <a:buFont typeface="+mj-lt"/>
              <a:buAutoNum type="arabicPeriod"/>
            </a:pPr>
            <a:r>
              <a:rPr lang="en-US" dirty="0"/>
              <a:t>Quality attribute. These requirements are satisfied by the structures and behaviors of the architecture.</a:t>
            </a:r>
          </a:p>
          <a:p>
            <a:pPr marL="971550" lvl="1" indent="-514350">
              <a:buFont typeface="+mj-lt"/>
              <a:buAutoNum type="arabicPeriod"/>
            </a:pPr>
            <a:r>
              <a:rPr lang="en-US" dirty="0"/>
              <a:t>Constraints. A constraint is a design decision that’s already been made.</a:t>
            </a:r>
          </a:p>
          <a:p>
            <a:endParaRPr lang="en-US" dirty="0"/>
          </a:p>
        </p:txBody>
      </p:sp>
      <p:sp>
        <p:nvSpPr>
          <p:cNvPr id="4" name="Footer Placeholder 3"/>
          <p:cNvSpPr>
            <a:spLocks noGrp="1"/>
          </p:cNvSpPr>
          <p:nvPr>
            <p:ph type="ftr" sz="quarter" idx="11"/>
          </p:nvPr>
        </p:nvSpPr>
        <p:spPr/>
        <p:txBody>
          <a:bodyPr/>
          <a:lstStyle/>
          <a:p>
            <a:r>
              <a:rPr lang="en-AU"/>
              <a:t>©Software  Architecture</a:t>
            </a:r>
            <a:endParaRPr lang="en-AU"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a:bodyPr>
          <a:lstStyle/>
          <a:p>
            <a:r>
              <a:rPr lang="en-US" dirty="0"/>
              <a:t>To express a quality attribute requirement we use a quality attribute scenario.  The parts of the scenario are:</a:t>
            </a:r>
          </a:p>
          <a:p>
            <a:pPr marL="971550" lvl="1" indent="-514350">
              <a:buFont typeface="+mj-lt"/>
              <a:buAutoNum type="arabicPeriod"/>
            </a:pPr>
            <a:r>
              <a:rPr lang="en-US" dirty="0"/>
              <a:t>Source of stimulus. </a:t>
            </a:r>
          </a:p>
          <a:p>
            <a:pPr marL="971550" lvl="1" indent="-514350">
              <a:buFont typeface="+mj-lt"/>
              <a:buAutoNum type="arabicPeriod"/>
            </a:pPr>
            <a:r>
              <a:rPr lang="en-US" dirty="0"/>
              <a:t>Stimulus</a:t>
            </a:r>
          </a:p>
          <a:p>
            <a:pPr marL="971550" lvl="1" indent="-514350">
              <a:buFont typeface="+mj-lt"/>
              <a:buAutoNum type="arabicPeriod"/>
            </a:pPr>
            <a:r>
              <a:rPr lang="en-US" dirty="0"/>
              <a:t>Environment. </a:t>
            </a:r>
          </a:p>
          <a:p>
            <a:pPr marL="971550" lvl="1" indent="-514350">
              <a:buFont typeface="+mj-lt"/>
              <a:buAutoNum type="arabicPeriod"/>
            </a:pPr>
            <a:r>
              <a:rPr lang="en-US" dirty="0"/>
              <a:t>Artifact. </a:t>
            </a:r>
          </a:p>
          <a:p>
            <a:pPr marL="971550" lvl="1" indent="-514350">
              <a:buFont typeface="+mj-lt"/>
              <a:buAutoNum type="arabicPeriod"/>
            </a:pPr>
            <a:r>
              <a:rPr lang="en-US" dirty="0"/>
              <a:t>Response. </a:t>
            </a:r>
          </a:p>
          <a:p>
            <a:pPr marL="971550" lvl="1" indent="-514350">
              <a:buFont typeface="+mj-lt"/>
              <a:buAutoNum type="arabicPeriod"/>
            </a:pPr>
            <a:r>
              <a:rPr lang="en-US" dirty="0"/>
              <a:t>Response measure.  </a:t>
            </a:r>
          </a:p>
          <a:p>
            <a:pPr marL="0" indent="0">
              <a:buNone/>
            </a:pPr>
            <a:endParaRPr lang="en-US" dirty="0"/>
          </a:p>
        </p:txBody>
      </p:sp>
      <p:sp>
        <p:nvSpPr>
          <p:cNvPr id="4" name="Footer Placeholder 3"/>
          <p:cNvSpPr>
            <a:spLocks noGrp="1"/>
          </p:cNvSpPr>
          <p:nvPr>
            <p:ph type="ftr" sz="quarter" idx="11"/>
          </p:nvPr>
        </p:nvSpPr>
        <p:spPr/>
        <p:txBody>
          <a:bodyPr/>
          <a:lstStyle/>
          <a:p>
            <a:r>
              <a:rPr lang="en-AU"/>
              <a:t>©Software  Architecture</a:t>
            </a:r>
            <a:endParaRPr lang="en-AU"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395536" y="1120835"/>
            <a:ext cx="8867328" cy="5589240"/>
          </a:xfrm>
        </p:spPr>
        <p:txBody>
          <a:bodyPr>
            <a:normAutofit fontScale="62500" lnSpcReduction="20000"/>
          </a:bodyPr>
          <a:lstStyle/>
          <a:p>
            <a:r>
              <a:rPr lang="en-US" sz="4500" dirty="0"/>
              <a:t>An architectural tactic is a design decision that affects a quality attribute response. The focus of a tactic is on a single quality attribute response.  </a:t>
            </a:r>
          </a:p>
          <a:p>
            <a:r>
              <a:rPr lang="en-US" sz="4500" dirty="0"/>
              <a:t>Architectural patterns can be seen as “packages” of tactics.</a:t>
            </a:r>
          </a:p>
          <a:p>
            <a:r>
              <a:rPr lang="en-US" sz="4500" dirty="0"/>
              <a:t>The seven categories of architectural design decisions are:</a:t>
            </a:r>
          </a:p>
          <a:p>
            <a:pPr marL="971550" lvl="1" indent="-514350">
              <a:buFont typeface="+mj-lt"/>
              <a:buAutoNum type="arabicPeriod"/>
            </a:pPr>
            <a:r>
              <a:rPr lang="en-US" sz="3800" dirty="0"/>
              <a:t>Allocation of responsibilities</a:t>
            </a:r>
          </a:p>
          <a:p>
            <a:pPr marL="971550" lvl="1" indent="-514350">
              <a:buFont typeface="+mj-lt"/>
              <a:buAutoNum type="arabicPeriod"/>
            </a:pPr>
            <a:r>
              <a:rPr lang="en-US" sz="3800" dirty="0"/>
              <a:t>Coordination model</a:t>
            </a:r>
          </a:p>
          <a:p>
            <a:pPr marL="971550" lvl="1" indent="-514350">
              <a:buFont typeface="+mj-lt"/>
              <a:buAutoNum type="arabicPeriod"/>
            </a:pPr>
            <a:r>
              <a:rPr lang="en-US" sz="3800" dirty="0"/>
              <a:t>Data model</a:t>
            </a:r>
          </a:p>
          <a:p>
            <a:pPr marL="971550" lvl="1" indent="-514350">
              <a:buFont typeface="+mj-lt"/>
              <a:buAutoNum type="arabicPeriod"/>
            </a:pPr>
            <a:r>
              <a:rPr lang="en-US" sz="3800" dirty="0"/>
              <a:t>Management of resources</a:t>
            </a:r>
          </a:p>
          <a:p>
            <a:pPr marL="971550" lvl="1" indent="-514350">
              <a:buFont typeface="+mj-lt"/>
              <a:buAutoNum type="arabicPeriod"/>
            </a:pPr>
            <a:r>
              <a:rPr lang="en-US" sz="3800" dirty="0"/>
              <a:t>Mapping among architectural elements</a:t>
            </a:r>
          </a:p>
          <a:p>
            <a:pPr marL="971550" lvl="1" indent="-514350">
              <a:buFont typeface="+mj-lt"/>
              <a:buAutoNum type="arabicPeriod"/>
            </a:pPr>
            <a:r>
              <a:rPr lang="en-US" sz="3800" dirty="0"/>
              <a:t>Binding time decisions</a:t>
            </a:r>
          </a:p>
          <a:p>
            <a:pPr marL="971550" lvl="1" indent="-514350">
              <a:buFont typeface="+mj-lt"/>
              <a:buAutoNum type="arabicPeriod"/>
            </a:pPr>
            <a:r>
              <a:rPr lang="en-US" sz="3800" dirty="0"/>
              <a:t>Choice of technology</a:t>
            </a:r>
          </a:p>
          <a:p>
            <a:pPr marL="514350" indent="-514350">
              <a:buFont typeface="+mj-lt"/>
              <a:buAutoNum type="arabicPeriod"/>
            </a:pPr>
            <a:endParaRPr lang="en-US" dirty="0"/>
          </a:p>
        </p:txBody>
      </p:sp>
      <p:sp>
        <p:nvSpPr>
          <p:cNvPr id="4" name="Footer Placeholder 3"/>
          <p:cNvSpPr>
            <a:spLocks noGrp="1"/>
          </p:cNvSpPr>
          <p:nvPr>
            <p:ph type="ftr" sz="quarter" idx="11"/>
          </p:nvPr>
        </p:nvSpPr>
        <p:spPr/>
        <p:txBody>
          <a:bodyPr/>
          <a:lstStyle/>
          <a:p>
            <a:r>
              <a:rPr lang="en-AU"/>
              <a:t>©Software  Architecture</a:t>
            </a:r>
            <a:endParaRPr lang="en-AU"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Class Review</a:t>
            </a:r>
            <a:endParaRPr lang="zh-CN" altLang="en-US" dirty="0"/>
          </a:p>
        </p:txBody>
      </p:sp>
      <p:sp>
        <p:nvSpPr>
          <p:cNvPr id="3" name="内容占位符 2"/>
          <p:cNvSpPr>
            <a:spLocks noGrp="1"/>
          </p:cNvSpPr>
          <p:nvPr>
            <p:ph idx="1"/>
          </p:nvPr>
        </p:nvSpPr>
        <p:spPr>
          <a:xfrm>
            <a:off x="323528" y="1196752"/>
            <a:ext cx="8229600" cy="4857403"/>
          </a:xfrm>
        </p:spPr>
        <p:txBody>
          <a:bodyPr>
            <a:normAutofit/>
          </a:bodyPr>
          <a:lstStyle/>
          <a:p>
            <a:pPr marL="0" indent="0" algn="just">
              <a:buNone/>
            </a:pPr>
            <a:r>
              <a:rPr lang="en-US" altLang="zh-CN" sz="2000" kern="100" dirty="0">
                <a:solidFill>
                  <a:srgbClr val="000000"/>
                </a:solidFill>
                <a:effectLst/>
                <a:latin typeface="Calibri" panose="020F0502020204030204" charset="0"/>
                <a:ea typeface="宋体" panose="02010600030101010101" pitchFamily="2" charset="-122"/>
                <a:cs typeface="Times New Roman" panose="02020603050405020304" pitchFamily="18" charset="0"/>
              </a:rPr>
              <a:t>1. Which one of the following statement is NOT true about software structures?</a:t>
            </a:r>
            <a:endParaRPr lang="zh-CN" altLang="zh-CN" sz="2000" kern="100" dirty="0">
              <a:effectLst/>
              <a:latin typeface="Calibri" panose="020F0502020204030204" charset="0"/>
              <a:ea typeface="宋体" panose="02010600030101010101" pitchFamily="2" charset="-122"/>
              <a:cs typeface="Times New Roman" panose="02020603050405020304" pitchFamily="18" charset="0"/>
            </a:endParaRPr>
          </a:p>
          <a:p>
            <a:pPr marL="400050" algn="just">
              <a:buFont typeface="Wingdings" panose="05000000000000000000" pitchFamily="2" charset="2"/>
              <a:buChar char="ü"/>
            </a:pPr>
            <a:r>
              <a:rPr lang="en-US" altLang="zh-CN" sz="2000" kern="100" dirty="0">
                <a:solidFill>
                  <a:srgbClr val="000000"/>
                </a:solidFill>
                <a:effectLst/>
                <a:latin typeface="Calibri" panose="020F0502020204030204" charset="0"/>
                <a:ea typeface="宋体" panose="02010600030101010101" pitchFamily="2" charset="-122"/>
                <a:cs typeface="Times New Roman" panose="02020603050405020304" pitchFamily="18" charset="0"/>
              </a:rPr>
              <a:t>A. Software systems are composed of many structures, and no single structure holds claim to being the architecture</a:t>
            </a:r>
            <a:endParaRPr lang="zh-CN" altLang="zh-CN" sz="2000" kern="100" dirty="0">
              <a:effectLst/>
              <a:latin typeface="Calibri" panose="020F0502020204030204" charset="0"/>
              <a:ea typeface="宋体" panose="02010600030101010101" pitchFamily="2" charset="-122"/>
              <a:cs typeface="Times New Roman" panose="02020603050405020304" pitchFamily="18" charset="0"/>
            </a:endParaRPr>
          </a:p>
          <a:p>
            <a:pPr marL="400050" algn="just">
              <a:buFont typeface="Wingdings" panose="05000000000000000000" pitchFamily="2" charset="2"/>
              <a:buChar char="ü"/>
            </a:pPr>
            <a:r>
              <a:rPr lang="en-US" altLang="zh-CN" sz="2000" kern="100" dirty="0">
                <a:effectLst/>
                <a:latin typeface="Calibri" panose="020F0502020204030204" charset="0"/>
                <a:ea typeface="宋体" panose="02010600030101010101" pitchFamily="2" charset="-122"/>
                <a:cs typeface="Times New Roman" panose="02020603050405020304" pitchFamily="18" charset="0"/>
              </a:rPr>
              <a:t>B. The module structure shows how each of the software elements behaves at run time</a:t>
            </a:r>
            <a:endParaRPr lang="zh-CN" altLang="zh-CN" sz="2000" kern="100" dirty="0">
              <a:effectLst/>
              <a:latin typeface="Calibri" panose="020F0502020204030204" charset="0"/>
              <a:ea typeface="宋体" panose="02010600030101010101" pitchFamily="2" charset="-122"/>
              <a:cs typeface="Times New Roman" panose="02020603050405020304" pitchFamily="18" charset="0"/>
            </a:endParaRPr>
          </a:p>
          <a:p>
            <a:pPr marL="400050" algn="just">
              <a:buFont typeface="Wingdings" panose="05000000000000000000" pitchFamily="2" charset="2"/>
              <a:buChar char="ü"/>
            </a:pPr>
            <a:r>
              <a:rPr lang="en-US" altLang="zh-CN" sz="2000" kern="100" dirty="0">
                <a:solidFill>
                  <a:srgbClr val="000000"/>
                </a:solidFill>
                <a:effectLst/>
                <a:latin typeface="Calibri" panose="020F0502020204030204" charset="0"/>
                <a:ea typeface="宋体" panose="02010600030101010101" pitchFamily="2" charset="-122"/>
                <a:cs typeface="Times New Roman" panose="02020603050405020304" pitchFamily="18" charset="0"/>
              </a:rPr>
              <a:t>C. The component &amp; connector structure shows how the software elements are interacted at run time </a:t>
            </a:r>
            <a:endParaRPr lang="zh-CN" altLang="zh-CN" sz="2000" kern="100" dirty="0">
              <a:effectLst/>
              <a:latin typeface="Calibri" panose="020F0502020204030204" charset="0"/>
              <a:ea typeface="宋体" panose="02010600030101010101" pitchFamily="2" charset="-122"/>
              <a:cs typeface="Times New Roman" panose="02020603050405020304" pitchFamily="18" charset="0"/>
            </a:endParaRPr>
          </a:p>
          <a:p>
            <a:pPr marL="400050" algn="just">
              <a:buFont typeface="Wingdings" panose="05000000000000000000" pitchFamily="2" charset="2"/>
              <a:buChar char="ü"/>
            </a:pPr>
            <a:r>
              <a:rPr lang="en-US" altLang="zh-CN" sz="2000" kern="100" dirty="0">
                <a:solidFill>
                  <a:srgbClr val="000000"/>
                </a:solidFill>
                <a:effectLst/>
                <a:latin typeface="Calibri" panose="020F0502020204030204" charset="0"/>
                <a:ea typeface="宋体" panose="02010600030101010101" pitchFamily="2" charset="-122"/>
                <a:cs typeface="Times New Roman" panose="02020603050405020304" pitchFamily="18" charset="0"/>
              </a:rPr>
              <a:t>D. The deployment structure shows information about at which physical hardware the software elements are executed</a:t>
            </a:r>
            <a:endParaRPr lang="zh-CN" altLang="zh-CN" sz="2000" kern="100" dirty="0">
              <a:effectLst/>
              <a:latin typeface="Calibri" panose="020F0502020204030204" charset="0"/>
              <a:ea typeface="宋体" panose="02010600030101010101" pitchFamily="2" charset="-122"/>
              <a:cs typeface="Times New Roman" panose="02020603050405020304" pitchFamily="18" charset="0"/>
            </a:endParaRPr>
          </a:p>
          <a:p>
            <a:endParaRPr lang="zh-CN" altLang="en-US" sz="3600" dirty="0"/>
          </a:p>
        </p:txBody>
      </p:sp>
      <p:sp>
        <p:nvSpPr>
          <p:cNvPr id="4" name="页脚占位符 3"/>
          <p:cNvSpPr>
            <a:spLocks noGrp="1"/>
          </p:cNvSpPr>
          <p:nvPr>
            <p:ph type="ftr" sz="quarter" idx="11"/>
          </p:nvPr>
        </p:nvSpPr>
        <p:spPr/>
        <p:txBody>
          <a:bodyPr/>
          <a:lstStyle/>
          <a:p>
            <a:r>
              <a:rPr lang="en-US"/>
              <a:t>©Software  Architecture</a:t>
            </a:r>
            <a:endParaRPr lang="en-AU"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marL="0" indent="0" algn="just">
              <a:buNone/>
            </a:pPr>
            <a:r>
              <a:rPr lang="en-US" altLang="zh-CN" sz="2400" kern="100" dirty="0">
                <a:solidFill>
                  <a:srgbClr val="000000"/>
                </a:solidFill>
                <a:effectLst/>
                <a:latin typeface="Calibri" panose="020F0502020204030204" charset="0"/>
                <a:ea typeface="宋体" panose="02010600030101010101" pitchFamily="2" charset="-122"/>
                <a:cs typeface="Times New Roman" panose="02020603050405020304" pitchFamily="18" charset="0"/>
              </a:rPr>
              <a:t>2. Which one of the following structure pertains to a component &amp; connector structure?</a:t>
            </a:r>
            <a:endParaRPr lang="zh-CN" altLang="zh-CN" sz="2400" kern="100" dirty="0">
              <a:effectLst/>
              <a:latin typeface="Calibri" panose="020F0502020204030204" charset="0"/>
              <a:ea typeface="宋体" panose="02010600030101010101" pitchFamily="2" charset="-122"/>
              <a:cs typeface="Times New Roman" panose="02020603050405020304" pitchFamily="18" charset="0"/>
            </a:endParaRPr>
          </a:p>
          <a:p>
            <a:pPr marL="400050" algn="just">
              <a:buFont typeface="Wingdings" panose="05000000000000000000" pitchFamily="2" charset="2"/>
              <a:buChar char="ü"/>
            </a:pPr>
            <a:r>
              <a:rPr lang="en-US" altLang="zh-CN" sz="2400" kern="100" dirty="0">
                <a:solidFill>
                  <a:srgbClr val="000000"/>
                </a:solidFill>
                <a:effectLst/>
                <a:latin typeface="Calibri" panose="020F0502020204030204" charset="0"/>
                <a:ea typeface="宋体" panose="02010600030101010101" pitchFamily="2" charset="-122"/>
                <a:cs typeface="Times New Roman" panose="02020603050405020304" pitchFamily="18" charset="0"/>
              </a:rPr>
              <a:t>A. Decomposition structure</a:t>
            </a:r>
            <a:endParaRPr lang="zh-CN" altLang="zh-CN" sz="2400" kern="100" dirty="0">
              <a:effectLst/>
              <a:latin typeface="Calibri" panose="020F0502020204030204" charset="0"/>
              <a:ea typeface="宋体" panose="02010600030101010101" pitchFamily="2" charset="-122"/>
              <a:cs typeface="Times New Roman" panose="02020603050405020304" pitchFamily="18" charset="0"/>
            </a:endParaRPr>
          </a:p>
          <a:p>
            <a:pPr marL="400050" algn="just">
              <a:buFont typeface="Wingdings" panose="05000000000000000000" pitchFamily="2" charset="2"/>
              <a:buChar char="ü"/>
            </a:pPr>
            <a:r>
              <a:rPr lang="en-US" altLang="zh-CN" sz="2400" kern="100" dirty="0">
                <a:solidFill>
                  <a:srgbClr val="000000"/>
                </a:solidFill>
                <a:effectLst/>
                <a:latin typeface="Calibri" panose="020F0502020204030204" charset="0"/>
                <a:ea typeface="宋体" panose="02010600030101010101" pitchFamily="2" charset="-122"/>
                <a:cs typeface="Times New Roman" panose="02020603050405020304" pitchFamily="18" charset="0"/>
              </a:rPr>
              <a:t>B. Class structure</a:t>
            </a:r>
            <a:endParaRPr lang="zh-CN" altLang="zh-CN" sz="2400" kern="100" dirty="0">
              <a:effectLst/>
              <a:latin typeface="Calibri" panose="020F0502020204030204" charset="0"/>
              <a:ea typeface="宋体" panose="02010600030101010101" pitchFamily="2" charset="-122"/>
              <a:cs typeface="Times New Roman" panose="02020603050405020304" pitchFamily="18" charset="0"/>
            </a:endParaRPr>
          </a:p>
          <a:p>
            <a:pPr marL="400050" algn="just">
              <a:buFont typeface="Wingdings" panose="05000000000000000000" pitchFamily="2" charset="2"/>
              <a:buChar char="ü"/>
            </a:pPr>
            <a:r>
              <a:rPr lang="en-US" altLang="zh-CN" sz="2400" kern="100" dirty="0">
                <a:solidFill>
                  <a:srgbClr val="000000"/>
                </a:solidFill>
                <a:effectLst/>
                <a:latin typeface="Calibri" panose="020F0502020204030204" charset="0"/>
                <a:ea typeface="宋体" panose="02010600030101010101" pitchFamily="2" charset="-122"/>
                <a:cs typeface="Times New Roman" panose="02020603050405020304" pitchFamily="18" charset="0"/>
              </a:rPr>
              <a:t>C. Layer structure </a:t>
            </a:r>
            <a:endParaRPr lang="zh-CN" altLang="zh-CN" sz="2400" kern="100" dirty="0">
              <a:effectLst/>
              <a:latin typeface="Calibri" panose="020F0502020204030204" charset="0"/>
              <a:ea typeface="宋体" panose="02010600030101010101" pitchFamily="2" charset="-122"/>
              <a:cs typeface="Times New Roman" panose="02020603050405020304" pitchFamily="18" charset="0"/>
            </a:endParaRPr>
          </a:p>
          <a:p>
            <a:pPr marL="400050" algn="just">
              <a:buFont typeface="Wingdings" panose="05000000000000000000" pitchFamily="2" charset="2"/>
              <a:buChar char="ü"/>
            </a:pPr>
            <a:r>
              <a:rPr lang="en-US" altLang="zh-CN" sz="2400" kern="100" dirty="0">
                <a:effectLst/>
                <a:latin typeface="Calibri" panose="020F0502020204030204" charset="0"/>
                <a:ea typeface="宋体" panose="02010600030101010101" pitchFamily="2" charset="-122"/>
                <a:cs typeface="Times New Roman" panose="02020603050405020304" pitchFamily="18" charset="0"/>
              </a:rPr>
              <a:t>D. Concurrency structure</a:t>
            </a:r>
            <a:endParaRPr lang="zh-CN" altLang="zh-CN" sz="2400" kern="100" dirty="0">
              <a:effectLst/>
              <a:latin typeface="Calibri" panose="020F0502020204030204" charset="0"/>
              <a:ea typeface="宋体" panose="02010600030101010101" pitchFamily="2" charset="-122"/>
              <a:cs typeface="Times New Roman" panose="02020603050405020304" pitchFamily="18" charset="0"/>
            </a:endParaRPr>
          </a:p>
          <a:p>
            <a:endParaRPr lang="zh-CN" altLang="en-US" sz="3600" dirty="0"/>
          </a:p>
        </p:txBody>
      </p:sp>
      <p:sp>
        <p:nvSpPr>
          <p:cNvPr id="4" name="页脚占位符 3"/>
          <p:cNvSpPr>
            <a:spLocks noGrp="1"/>
          </p:cNvSpPr>
          <p:nvPr>
            <p:ph type="ftr" sz="quarter" idx="11"/>
          </p:nvPr>
        </p:nvSpPr>
        <p:spPr/>
        <p:txBody>
          <a:bodyPr/>
          <a:lstStyle/>
          <a:p>
            <a:r>
              <a:rPr lang="en-US"/>
              <a:t>©Software  Architecture</a:t>
            </a:r>
            <a:endParaRPr lang="en-AU"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lgn="just">
              <a:buNone/>
              <a:tabLst>
                <a:tab pos="800100" algn="l"/>
              </a:tabLst>
            </a:pPr>
            <a:r>
              <a:rPr lang="en-US" altLang="zh-CN" sz="2000" kern="100" dirty="0">
                <a:latin typeface="Calibri" panose="020F0502020204030204" charset="0"/>
                <a:ea typeface="宋体" panose="02010600030101010101" pitchFamily="2" charset="-122"/>
                <a:cs typeface="Times New Roman" panose="02020603050405020304" pitchFamily="18" charset="0"/>
              </a:rPr>
              <a:t>3</a:t>
            </a:r>
            <a:r>
              <a:rPr lang="en-US" altLang="zh-CN" sz="2000" kern="100" dirty="0">
                <a:effectLst/>
                <a:latin typeface="Calibri" panose="020F0502020204030204" charset="0"/>
                <a:ea typeface="宋体" panose="02010600030101010101" pitchFamily="2" charset="-122"/>
                <a:cs typeface="Times New Roman" panose="02020603050405020304" pitchFamily="18" charset="0"/>
              </a:rPr>
              <a:t>. Which of the following should be included in the consideration of a Module Structure? </a:t>
            </a:r>
            <a:endParaRPr lang="zh-CN" altLang="zh-CN" sz="2000" kern="100" dirty="0">
              <a:effectLst/>
              <a:latin typeface="Calibri" panose="020F0502020204030204" charset="0"/>
              <a:ea typeface="宋体" panose="02010600030101010101" pitchFamily="2" charset="-122"/>
              <a:cs typeface="Times New Roman" panose="02020603050405020304" pitchFamily="18" charset="0"/>
            </a:endParaRPr>
          </a:p>
          <a:p>
            <a:pPr marL="400050" algn="just">
              <a:buFont typeface="Wingdings" panose="05000000000000000000" pitchFamily="2" charset="2"/>
              <a:buChar char="ü"/>
              <a:tabLst>
                <a:tab pos="800100" algn="l"/>
              </a:tabLst>
            </a:pPr>
            <a:r>
              <a:rPr lang="en-US" altLang="zh-CN" sz="2000" kern="100" dirty="0">
                <a:effectLst/>
                <a:latin typeface="Calibri" panose="020F0502020204030204" charset="0"/>
                <a:ea typeface="宋体" panose="02010600030101010101" pitchFamily="2" charset="-122"/>
                <a:cs typeface="Times New Roman" panose="02020603050405020304" pitchFamily="18" charset="0"/>
              </a:rPr>
              <a:t>A. What are the major executing components and how do they interact at runtime</a:t>
            </a:r>
            <a:endParaRPr lang="zh-CN" altLang="zh-CN" sz="2000" kern="100" dirty="0">
              <a:effectLst/>
              <a:latin typeface="Calibri" panose="020F0502020204030204" charset="0"/>
              <a:ea typeface="宋体" panose="02010600030101010101" pitchFamily="2" charset="-122"/>
              <a:cs typeface="Times New Roman" panose="02020603050405020304" pitchFamily="18" charset="0"/>
            </a:endParaRPr>
          </a:p>
          <a:p>
            <a:pPr marL="400050" algn="just">
              <a:buFont typeface="Wingdings" panose="05000000000000000000" pitchFamily="2" charset="2"/>
              <a:buChar char="ü"/>
              <a:tabLst>
                <a:tab pos="800100" algn="l"/>
              </a:tabLst>
            </a:pPr>
            <a:r>
              <a:rPr lang="en-US" altLang="zh-CN" sz="2000" kern="100" dirty="0">
                <a:effectLst/>
                <a:latin typeface="Calibri" panose="020F0502020204030204" charset="0"/>
                <a:ea typeface="宋体" panose="02010600030101010101" pitchFamily="2" charset="-122"/>
                <a:cs typeface="Times New Roman" panose="02020603050405020304" pitchFamily="18" charset="0"/>
              </a:rPr>
              <a:t>B. what part of the system can run in parallel</a:t>
            </a:r>
            <a:endParaRPr lang="zh-CN" altLang="zh-CN" sz="2000" kern="100" dirty="0">
              <a:effectLst/>
              <a:latin typeface="Calibri" panose="020F0502020204030204" charset="0"/>
              <a:ea typeface="宋体" panose="02010600030101010101" pitchFamily="2" charset="-122"/>
              <a:cs typeface="Times New Roman" panose="02020603050405020304" pitchFamily="18" charset="0"/>
            </a:endParaRPr>
          </a:p>
          <a:p>
            <a:pPr marL="400050" algn="just">
              <a:buFont typeface="Wingdings" panose="05000000000000000000" pitchFamily="2" charset="2"/>
              <a:buChar char="ü"/>
              <a:tabLst>
                <a:tab pos="800100" algn="l"/>
              </a:tabLst>
            </a:pPr>
            <a:r>
              <a:rPr lang="en-US" altLang="zh-CN" sz="2000" kern="100" dirty="0">
                <a:effectLst/>
                <a:latin typeface="Calibri" panose="020F0502020204030204" charset="0"/>
                <a:ea typeface="宋体" panose="02010600030101010101" pitchFamily="2" charset="-122"/>
                <a:cs typeface="Times New Roman" panose="02020603050405020304" pitchFamily="18" charset="0"/>
              </a:rPr>
              <a:t>C. What is the primary functional responsibility assigned to each software elements</a:t>
            </a:r>
            <a:endParaRPr lang="zh-CN" altLang="zh-CN" sz="2000" kern="100" dirty="0">
              <a:effectLst/>
              <a:latin typeface="Calibri" panose="020F0502020204030204" charset="0"/>
              <a:ea typeface="宋体" panose="02010600030101010101" pitchFamily="2" charset="-122"/>
              <a:cs typeface="Times New Roman" panose="02020603050405020304" pitchFamily="18" charset="0"/>
            </a:endParaRPr>
          </a:p>
          <a:p>
            <a:pPr marL="400050" algn="just">
              <a:buFont typeface="Wingdings" panose="05000000000000000000" pitchFamily="2" charset="2"/>
              <a:buChar char="ü"/>
              <a:tabLst>
                <a:tab pos="800100" algn="l"/>
              </a:tabLst>
            </a:pPr>
            <a:r>
              <a:rPr lang="en-US" altLang="zh-CN" sz="2000" kern="100" dirty="0">
                <a:effectLst/>
                <a:latin typeface="Calibri" panose="020F0502020204030204" charset="0"/>
                <a:ea typeface="宋体" panose="02010600030101010101" pitchFamily="2" charset="-122"/>
                <a:cs typeface="Times New Roman" panose="02020603050405020304" pitchFamily="18" charset="0"/>
              </a:rPr>
              <a:t>D. How does data process through the system</a:t>
            </a:r>
            <a:endParaRPr lang="zh-CN" altLang="zh-CN" sz="2000" kern="100" dirty="0">
              <a:effectLst/>
              <a:latin typeface="Calibri" panose="020F0502020204030204" charset="0"/>
              <a:ea typeface="宋体" panose="02010600030101010101" pitchFamily="2" charset="-122"/>
              <a:cs typeface="Times New Roman" panose="02020603050405020304" pitchFamily="18" charset="0"/>
            </a:endParaRPr>
          </a:p>
          <a:p>
            <a:endParaRPr lang="zh-CN" altLang="en-US" dirty="0"/>
          </a:p>
        </p:txBody>
      </p:sp>
      <p:sp>
        <p:nvSpPr>
          <p:cNvPr id="4" name="页脚占位符 3"/>
          <p:cNvSpPr>
            <a:spLocks noGrp="1"/>
          </p:cNvSpPr>
          <p:nvPr>
            <p:ph type="ftr" sz="quarter" idx="11"/>
          </p:nvPr>
        </p:nvSpPr>
        <p:spPr/>
        <p:txBody>
          <a:bodyPr/>
          <a:lstStyle/>
          <a:p>
            <a:r>
              <a:rPr lang="en-US"/>
              <a:t>©Software  Architecture</a:t>
            </a:r>
            <a:endParaRPr lang="en-AU"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lgn="just">
              <a:buNone/>
            </a:pPr>
            <a:r>
              <a:rPr lang="en-US" altLang="zh-CN" sz="2400" kern="100" dirty="0">
                <a:effectLst/>
                <a:latin typeface="Calibri" panose="020F0502020204030204" charset="0"/>
                <a:ea typeface="宋体" panose="02010600030101010101" pitchFamily="2" charset="-122"/>
                <a:cs typeface="Times New Roman" panose="02020603050405020304" pitchFamily="18" charset="0"/>
              </a:rPr>
              <a:t>4. Which one of the following structures pertains to the Allocation Structure?</a:t>
            </a:r>
            <a:endParaRPr lang="zh-CN" altLang="zh-CN" sz="2400" kern="100" dirty="0">
              <a:effectLst/>
              <a:latin typeface="Calibri" panose="020F0502020204030204" charset="0"/>
              <a:ea typeface="宋体" panose="02010600030101010101" pitchFamily="2" charset="-122"/>
              <a:cs typeface="Times New Roman" panose="02020603050405020304" pitchFamily="18" charset="0"/>
            </a:endParaRPr>
          </a:p>
          <a:p>
            <a:pPr marL="400050" algn="just">
              <a:buFont typeface="Wingdings" panose="05000000000000000000" pitchFamily="2" charset="2"/>
              <a:buChar char="ü"/>
            </a:pPr>
            <a:r>
              <a:rPr lang="en-US" altLang="zh-CN" sz="2400" kern="100" dirty="0">
                <a:effectLst/>
                <a:latin typeface="Calibri" panose="020F0502020204030204" charset="0"/>
                <a:ea typeface="宋体" panose="02010600030101010101" pitchFamily="2" charset="-122"/>
                <a:cs typeface="Times New Roman" panose="02020603050405020304" pitchFamily="18" charset="0"/>
              </a:rPr>
              <a:t>A. Service structure</a:t>
            </a:r>
            <a:endParaRPr lang="zh-CN" altLang="zh-CN" sz="2400" kern="100" dirty="0">
              <a:effectLst/>
              <a:latin typeface="Calibri" panose="020F0502020204030204" charset="0"/>
              <a:ea typeface="宋体" panose="02010600030101010101" pitchFamily="2" charset="-122"/>
              <a:cs typeface="Times New Roman" panose="02020603050405020304" pitchFamily="18" charset="0"/>
            </a:endParaRPr>
          </a:p>
          <a:p>
            <a:pPr marL="400050" algn="just">
              <a:buFont typeface="Wingdings" panose="05000000000000000000" pitchFamily="2" charset="2"/>
              <a:buChar char="ü"/>
            </a:pPr>
            <a:r>
              <a:rPr lang="en-US" altLang="zh-CN" sz="2400" kern="100" dirty="0">
                <a:effectLst/>
                <a:latin typeface="Calibri" panose="020F0502020204030204" charset="0"/>
                <a:ea typeface="宋体" panose="02010600030101010101" pitchFamily="2" charset="-122"/>
                <a:cs typeface="Times New Roman" panose="02020603050405020304" pitchFamily="18" charset="0"/>
              </a:rPr>
              <a:t>B. Concurrency structure</a:t>
            </a:r>
            <a:endParaRPr lang="zh-CN" altLang="zh-CN" sz="2400" kern="100" dirty="0">
              <a:effectLst/>
              <a:latin typeface="Calibri" panose="020F0502020204030204" charset="0"/>
              <a:ea typeface="宋体" panose="02010600030101010101" pitchFamily="2" charset="-122"/>
              <a:cs typeface="Times New Roman" panose="02020603050405020304" pitchFamily="18" charset="0"/>
            </a:endParaRPr>
          </a:p>
          <a:p>
            <a:pPr marL="400050" algn="just">
              <a:buFont typeface="Wingdings" panose="05000000000000000000" pitchFamily="2" charset="2"/>
              <a:buChar char="ü"/>
            </a:pPr>
            <a:r>
              <a:rPr lang="en-US" altLang="zh-CN" sz="2400" kern="100" dirty="0">
                <a:effectLst/>
                <a:latin typeface="Calibri" panose="020F0502020204030204" charset="0"/>
                <a:ea typeface="宋体" panose="02010600030101010101" pitchFamily="2" charset="-122"/>
                <a:cs typeface="Times New Roman" panose="02020603050405020304" pitchFamily="18" charset="0"/>
              </a:rPr>
              <a:t>C. Layer structure </a:t>
            </a:r>
            <a:endParaRPr lang="zh-CN" altLang="zh-CN" sz="2400" kern="100" dirty="0">
              <a:effectLst/>
              <a:latin typeface="Calibri" panose="020F0502020204030204" charset="0"/>
              <a:ea typeface="宋体" panose="02010600030101010101" pitchFamily="2" charset="-122"/>
              <a:cs typeface="Times New Roman" panose="02020603050405020304" pitchFamily="18" charset="0"/>
            </a:endParaRPr>
          </a:p>
          <a:p>
            <a:pPr marL="400050" algn="just">
              <a:buFont typeface="Wingdings" panose="05000000000000000000" pitchFamily="2" charset="2"/>
              <a:buChar char="ü"/>
            </a:pPr>
            <a:r>
              <a:rPr lang="en-US" altLang="zh-CN" sz="2400" kern="100" dirty="0">
                <a:effectLst/>
                <a:latin typeface="Calibri" panose="020F0502020204030204" charset="0"/>
                <a:ea typeface="宋体" panose="02010600030101010101" pitchFamily="2" charset="-122"/>
                <a:cs typeface="Times New Roman" panose="02020603050405020304" pitchFamily="18" charset="0"/>
              </a:rPr>
              <a:t>D. Deployment structure</a:t>
            </a:r>
            <a:endParaRPr lang="zh-CN" altLang="zh-CN" sz="2400" kern="100" dirty="0">
              <a:effectLst/>
              <a:latin typeface="Calibri" panose="020F0502020204030204" charset="0"/>
              <a:ea typeface="宋体" panose="02010600030101010101" pitchFamily="2" charset="-122"/>
              <a:cs typeface="Times New Roman" panose="02020603050405020304" pitchFamily="18" charset="0"/>
            </a:endParaRPr>
          </a:p>
          <a:p>
            <a:endParaRPr lang="zh-CN" altLang="en-US" dirty="0"/>
          </a:p>
        </p:txBody>
      </p:sp>
      <p:sp>
        <p:nvSpPr>
          <p:cNvPr id="4" name="页脚占位符 3"/>
          <p:cNvSpPr>
            <a:spLocks noGrp="1"/>
          </p:cNvSpPr>
          <p:nvPr>
            <p:ph type="ftr" sz="quarter" idx="11"/>
          </p:nvPr>
        </p:nvSpPr>
        <p:spPr/>
        <p:txBody>
          <a:bodyPr/>
          <a:lstStyle/>
          <a:p>
            <a:r>
              <a:rPr lang="en-US"/>
              <a:t>©Software  Architecture</a:t>
            </a:r>
            <a:endParaRPr lang="en-AU"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c5NWIxYzdjOTUxYjQ2ZjMyNzFmMjc2NjMyZjhmNjk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TotalTime>
  <Words>2445</Words>
  <Application>Microsoft Office PowerPoint</Application>
  <PresentationFormat>全屏显示(4:3)</PresentationFormat>
  <Paragraphs>234</Paragraphs>
  <Slides>32</Slides>
  <Notes>10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32</vt:i4>
      </vt:variant>
    </vt:vector>
  </HeadingPairs>
  <TitlesOfParts>
    <vt:vector size="40" baseType="lpstr">
      <vt:lpstr>FZSSK--GBK1-0</vt:lpstr>
      <vt:lpstr>quote-cjk-patch</vt:lpstr>
      <vt:lpstr>等线</vt:lpstr>
      <vt:lpstr>Arial</vt:lpstr>
      <vt:lpstr>Calibri</vt:lpstr>
      <vt:lpstr>Times New Roman</vt:lpstr>
      <vt:lpstr>Wingdings</vt:lpstr>
      <vt:lpstr>Office Theme</vt:lpstr>
      <vt:lpstr>Chapter 4: Understanding Quality Attributes</vt:lpstr>
      <vt:lpstr>Architecture and Requirements</vt:lpstr>
      <vt:lpstr>Functionality </vt:lpstr>
      <vt:lpstr>Quality Attribute Considerations</vt:lpstr>
      <vt:lpstr>Two Categories of Quality Attributes</vt:lpstr>
      <vt:lpstr>Quality Attribute Considerations</vt:lpstr>
      <vt:lpstr>Quality Attribute Considerations</vt:lpstr>
      <vt:lpstr>Specifying Quality Attribute Requirements</vt:lpstr>
      <vt:lpstr>Specifying Quality Attribute Requirements</vt:lpstr>
      <vt:lpstr>PowerPoint 演示文稿</vt:lpstr>
      <vt:lpstr>Specifying Quality Attribute Requirements</vt:lpstr>
      <vt:lpstr>Specifying Quality Attribute Requirements</vt:lpstr>
      <vt:lpstr>PowerPoint 演示文稿</vt:lpstr>
      <vt:lpstr>Achieving Quality Attributes Through Tactics</vt:lpstr>
      <vt:lpstr>Tactic v.s. Architectural pattern</vt:lpstr>
      <vt:lpstr>Tactic v.s. Architectural pattern</vt:lpstr>
      <vt:lpstr>Achieving Quality Attributes Through Tactics</vt:lpstr>
      <vt:lpstr>Guiding Quality Design Decisions</vt:lpstr>
      <vt:lpstr>Allocation of Responsibilities</vt:lpstr>
      <vt:lpstr>Coordination Model</vt:lpstr>
      <vt:lpstr>Data Model</vt:lpstr>
      <vt:lpstr>Management of Resources</vt:lpstr>
      <vt:lpstr>Mapping Among Architectural Elements</vt:lpstr>
      <vt:lpstr>Binding Time</vt:lpstr>
      <vt:lpstr>Choice of Technology</vt:lpstr>
      <vt:lpstr>Summary</vt:lpstr>
      <vt:lpstr>Summary</vt:lpstr>
      <vt:lpstr>Summary</vt:lpstr>
      <vt:lpstr>Class Review</vt:lpstr>
      <vt:lpstr>PowerPoint 演示文稿</vt:lpstr>
      <vt:lpstr>PowerPoint 演示文稿</vt:lpstr>
      <vt:lpstr>PowerPoint 演示文稿</vt:lpstr>
    </vt:vector>
  </TitlesOfParts>
  <Company>NICTA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 Bass</dc:creator>
  <cp:lastModifiedBy>祥博 孙</cp:lastModifiedBy>
  <cp:revision>229</cp:revision>
  <dcterms:created xsi:type="dcterms:W3CDTF">2023-09-06T02:41:00Z</dcterms:created>
  <dcterms:modified xsi:type="dcterms:W3CDTF">2026-10-24T12:41:49Z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3C6FB7B5A14E4330C8E2EE645F4D4B55</vt:lpwstr>
  </property>
  <property fmtid="{D5CDD505-2E9C-101B-9397-08002B2CF9AE}" pid="3" name="KSOProductBuildVer">
    <vt:lpwstr>2052-12.1.0.18276</vt:lpwstr>
  </property>
</Properties>
</file>