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4"/>
  </p:notesMasterIdLst>
  <p:handoutMasterIdLst>
    <p:handoutMasterId r:id="rId65"/>
  </p:handoutMasterIdLst>
  <p:sldIdLst>
    <p:sldId id="478" r:id="rId2"/>
    <p:sldId id="1234" r:id="rId3"/>
    <p:sldId id="1235" r:id="rId4"/>
    <p:sldId id="1236" r:id="rId5"/>
    <p:sldId id="1237" r:id="rId6"/>
    <p:sldId id="1527" r:id="rId7"/>
    <p:sldId id="1528" r:id="rId8"/>
    <p:sldId id="480" r:id="rId9"/>
    <p:sldId id="499" r:id="rId10"/>
    <p:sldId id="1536" r:id="rId11"/>
    <p:sldId id="500" r:id="rId12"/>
    <p:sldId id="1535" r:id="rId13"/>
    <p:sldId id="501" r:id="rId14"/>
    <p:sldId id="1537" r:id="rId15"/>
    <p:sldId id="1538" r:id="rId16"/>
    <p:sldId id="1539" r:id="rId17"/>
    <p:sldId id="1540" r:id="rId18"/>
    <p:sldId id="1541" r:id="rId19"/>
    <p:sldId id="1542" r:id="rId20"/>
    <p:sldId id="481" r:id="rId21"/>
    <p:sldId id="1543" r:id="rId22"/>
    <p:sldId id="482" r:id="rId23"/>
    <p:sldId id="1544" r:id="rId24"/>
    <p:sldId id="483" r:id="rId25"/>
    <p:sldId id="1545" r:id="rId26"/>
    <p:sldId id="1548" r:id="rId27"/>
    <p:sldId id="1550" r:id="rId28"/>
    <p:sldId id="1551" r:id="rId29"/>
    <p:sldId id="1552" r:id="rId30"/>
    <p:sldId id="1575" r:id="rId31"/>
    <p:sldId id="1576" r:id="rId32"/>
    <p:sldId id="1549" r:id="rId33"/>
    <p:sldId id="1553" r:id="rId34"/>
    <p:sldId id="503" r:id="rId35"/>
    <p:sldId id="1577" r:id="rId36"/>
    <p:sldId id="1533" r:id="rId37"/>
    <p:sldId id="1534" r:id="rId38"/>
    <p:sldId id="1530" r:id="rId39"/>
    <p:sldId id="1531" r:id="rId40"/>
    <p:sldId id="1532" r:id="rId41"/>
    <p:sldId id="282" r:id="rId42"/>
    <p:sldId id="1554" r:id="rId43"/>
    <p:sldId id="534" r:id="rId44"/>
    <p:sldId id="535" r:id="rId45"/>
    <p:sldId id="536" r:id="rId46"/>
    <p:sldId id="537" r:id="rId47"/>
    <p:sldId id="538" r:id="rId48"/>
    <p:sldId id="1383" r:id="rId49"/>
    <p:sldId id="1384" r:id="rId50"/>
    <p:sldId id="1529" r:id="rId51"/>
    <p:sldId id="539" r:id="rId52"/>
    <p:sldId id="1385" r:id="rId53"/>
    <p:sldId id="540" r:id="rId54"/>
    <p:sldId id="541" r:id="rId55"/>
    <p:sldId id="542" r:id="rId56"/>
    <p:sldId id="543" r:id="rId57"/>
    <p:sldId id="544" r:id="rId58"/>
    <p:sldId id="545" r:id="rId59"/>
    <p:sldId id="546" r:id="rId60"/>
    <p:sldId id="547" r:id="rId61"/>
    <p:sldId id="548" r:id="rId62"/>
    <p:sldId id="498" r:id="rId63"/>
  </p:sldIdLst>
  <p:sldSz cx="9144000" cy="6858000" type="screen4x3"/>
  <p:notesSz cx="6858000" cy="9144000"/>
  <p:custDataLst>
    <p:tags r:id="rId6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D3288D-28B8-4913-B81C-7B6A2FC6D6F0}" v="197" dt="2026-10-07T05:55:56.709"/>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15" autoAdjust="0"/>
    <p:restoredTop sz="91292" autoAdjust="0"/>
  </p:normalViewPr>
  <p:slideViewPr>
    <p:cSldViewPr showGuides="1">
      <p:cViewPr varScale="1">
        <p:scale>
          <a:sx n="145" d="100"/>
          <a:sy n="145" d="100"/>
        </p:scale>
        <p:origin x="2088" y="84"/>
      </p:cViewPr>
      <p:guideLst>
        <p:guide orient="horz" pos="2160"/>
        <p:guide pos="2880"/>
      </p:guideLst>
    </p:cSldViewPr>
  </p:slideViewPr>
  <p:outlineViewPr>
    <p:cViewPr>
      <p:scale>
        <a:sx n="33" d="100"/>
        <a:sy n="33" d="100"/>
      </p:scale>
      <p:origin x="0" y="691"/>
    </p:cViewPr>
  </p:outlineViewPr>
  <p:notesTextViewPr>
    <p:cViewPr>
      <p:scale>
        <a:sx n="1" d="1"/>
        <a:sy n="1" d="1"/>
      </p:scale>
      <p:origin x="0" y="0"/>
    </p:cViewPr>
  </p:notesTextViewPr>
  <p:sorterViewPr>
    <p:cViewPr>
      <p:scale>
        <a:sx n="141" d="100"/>
        <a:sy n="141" d="100"/>
      </p:scale>
      <p:origin x="0" y="12256"/>
    </p:cViewPr>
  </p:sorterViewPr>
  <p:notesViewPr>
    <p:cSldViewPr>
      <p:cViewPr varScale="1">
        <p:scale>
          <a:sx n="59" d="100"/>
          <a:sy n="59" d="100"/>
        </p:scale>
        <p:origin x="3065" y="45"/>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gs" Target="tags/tag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12DDFBD-3A00-4189-8C8D-78071B1A5DE3}" type="datetimeFigureOut">
              <a:rPr lang="zh-CN" altLang="en-US" smtClean="0"/>
              <a:t>2026/10/24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E568E1B-F273-4987-A84E-DC035A03CDB2}"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A9B1F14-2969-4234-94C2-84FB01E3AC7A}" type="datetimeFigureOut">
              <a:rPr lang="en-AU" smtClean="0"/>
              <a:t>24/10/2026</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95789E-32BF-4BCD-9509-3BAE69BCF054}" type="slidenum">
              <a:rPr lang="en-AU" smtClean="0"/>
              <a:t>‹#›</a:t>
            </a:fld>
            <a:endParaRPr lang="en-A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9826049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9973380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C5D4826-BEB9-458B-BC27-190FEB3CC751}" type="slidenum">
              <a:rPr lang="en-US" altLang="zh-TW"/>
              <a:t>44</a:t>
            </a:fld>
            <a:endParaRPr lang="en-US" altLang="zh-TW"/>
          </a:p>
        </p:txBody>
      </p:sp>
      <p:sp>
        <p:nvSpPr>
          <p:cNvPr id="45058" name="Rectangle 2"/>
          <p:cNvSpPr>
            <a:spLocks noGrp="1" noRot="1" noChangeAspect="1" noChangeArrowheads="1" noTextEdit="1"/>
          </p:cNvSpPr>
          <p:nvPr>
            <p:ph type="sldImg"/>
          </p:nvPr>
        </p:nvSpPr>
        <p:spPr/>
      </p:sp>
      <p:sp>
        <p:nvSpPr>
          <p:cNvPr id="45059" name="Rectangle 3"/>
          <p:cNvSpPr>
            <a:spLocks noGrp="1" noChangeArrowheads="1"/>
          </p:cNvSpPr>
          <p:nvPr>
            <p:ph type="body" idx="1"/>
          </p:nvPr>
        </p:nvSpPr>
        <p:spPr/>
        <p:txBody>
          <a:bodyPr/>
          <a:lstStyle/>
          <a:p>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9A6B897-D206-4C6B-A883-F02EB0F42F10}" type="slidenum">
              <a:rPr lang="en-US" altLang="zh-TW"/>
              <a:t>45</a:t>
            </a:fld>
            <a:endParaRPr lang="en-US" altLang="zh-TW"/>
          </a:p>
        </p:txBody>
      </p:sp>
      <p:sp>
        <p:nvSpPr>
          <p:cNvPr id="46082" name="Rectangle 2"/>
          <p:cNvSpPr>
            <a:spLocks noGrp="1" noRot="1" noChangeAspect="1" noChangeArrowheads="1" noTextEdit="1"/>
          </p:cNvSpPr>
          <p:nvPr>
            <p:ph type="sldImg"/>
          </p:nvPr>
        </p:nvSpPr>
        <p:spPr/>
      </p:sp>
      <p:sp>
        <p:nvSpPr>
          <p:cNvPr id="460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915E19C-FC02-4553-B396-D827DFA0FF4C}" type="slidenum">
              <a:rPr lang="en-US" altLang="zh-TW"/>
              <a:t>46</a:t>
            </a:fld>
            <a:endParaRPr lang="en-US" altLang="zh-TW"/>
          </a:p>
        </p:txBody>
      </p:sp>
      <p:sp>
        <p:nvSpPr>
          <p:cNvPr id="47106" name="Rectangle 2"/>
          <p:cNvSpPr>
            <a:spLocks noGrp="1" noRot="1" noChangeAspect="1" noChangeArrowheads="1" noTextEdit="1"/>
          </p:cNvSpPr>
          <p:nvPr>
            <p:ph type="sldImg"/>
          </p:nvPr>
        </p:nvSpPr>
        <p:spPr/>
      </p:sp>
      <p:sp>
        <p:nvSpPr>
          <p:cNvPr id="471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07F98D1-1D74-4832-A7AE-7971A0D1186C}" type="slidenum">
              <a:rPr lang="en-US" altLang="zh-TW"/>
              <a:t>47</a:t>
            </a:fld>
            <a:endParaRPr lang="en-US" altLang="zh-TW"/>
          </a:p>
        </p:txBody>
      </p:sp>
      <p:sp>
        <p:nvSpPr>
          <p:cNvPr id="48130" name="Rectangle 2"/>
          <p:cNvSpPr>
            <a:spLocks noGrp="1" noRot="1" noChangeAspect="1" noChangeArrowheads="1" noTextEdit="1"/>
          </p:cNvSpPr>
          <p:nvPr>
            <p:ph type="sldImg"/>
          </p:nvPr>
        </p:nvSpPr>
        <p:spPr/>
      </p:sp>
      <p:sp>
        <p:nvSpPr>
          <p:cNvPr id="481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6483191-80E2-4337-B4D5-00392BC65E36}" type="slidenum">
              <a:rPr lang="en-US" altLang="zh-TW"/>
              <a:t>51</a:t>
            </a:fld>
            <a:endParaRPr lang="en-US" altLang="zh-TW"/>
          </a:p>
        </p:txBody>
      </p:sp>
      <p:sp>
        <p:nvSpPr>
          <p:cNvPr id="49154" name="Rectangle 2"/>
          <p:cNvSpPr>
            <a:spLocks noGrp="1" noRot="1" noChangeAspect="1" noChangeArrowheads="1" noTextEdit="1"/>
          </p:cNvSpPr>
          <p:nvPr>
            <p:ph type="sldImg"/>
          </p:nvPr>
        </p:nvSpPr>
        <p:spPr/>
      </p:sp>
      <p:sp>
        <p:nvSpPr>
          <p:cNvPr id="491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968A4D67-C5F3-4CF8-95C5-CEDEBE58445B}" type="slidenum">
              <a:rPr lang="en-US" altLang="zh-TW"/>
              <a:t>53</a:t>
            </a:fld>
            <a:endParaRPr lang="en-US" altLang="zh-TW"/>
          </a:p>
        </p:txBody>
      </p:sp>
      <p:sp>
        <p:nvSpPr>
          <p:cNvPr id="50178" name="Rectangle 2"/>
          <p:cNvSpPr>
            <a:spLocks noGrp="1" noRot="1" noChangeAspect="1" noChangeArrowheads="1" noTextEdit="1"/>
          </p:cNvSpPr>
          <p:nvPr>
            <p:ph type="sldImg"/>
          </p:nvPr>
        </p:nvSpPr>
        <p:spPr/>
      </p:sp>
      <p:sp>
        <p:nvSpPr>
          <p:cNvPr id="501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A6C9A01-14AC-46E1-A90D-3473A5E0A247}" type="slidenum">
              <a:rPr lang="en-US" altLang="zh-TW"/>
              <a:t>54</a:t>
            </a:fld>
            <a:endParaRPr lang="en-US" altLang="zh-TW"/>
          </a:p>
        </p:txBody>
      </p:sp>
      <p:sp>
        <p:nvSpPr>
          <p:cNvPr id="51202" name="Rectangle 2"/>
          <p:cNvSpPr>
            <a:spLocks noGrp="1" noRot="1" noChangeAspect="1" noChangeArrowheads="1" noTextEdit="1"/>
          </p:cNvSpPr>
          <p:nvPr>
            <p:ph type="sldImg"/>
          </p:nvPr>
        </p:nvSpPr>
        <p:spPr/>
      </p:sp>
      <p:sp>
        <p:nvSpPr>
          <p:cNvPr id="512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01EFD11-B84C-47A6-B73B-08B0DD3D0349}" type="slidenum">
              <a:rPr lang="en-US" altLang="zh-TW"/>
              <a:t>55</a:t>
            </a:fld>
            <a:endParaRPr lang="en-US" altLang="zh-TW"/>
          </a:p>
        </p:txBody>
      </p:sp>
      <p:sp>
        <p:nvSpPr>
          <p:cNvPr id="52226" name="Rectangle 2"/>
          <p:cNvSpPr>
            <a:spLocks noGrp="1" noRot="1" noChangeAspect="1" noChangeArrowheads="1" noTextEdit="1"/>
          </p:cNvSpPr>
          <p:nvPr>
            <p:ph type="sldImg"/>
          </p:nvPr>
        </p:nvSpPr>
        <p:spPr/>
      </p:sp>
      <p:sp>
        <p:nvSpPr>
          <p:cNvPr id="5222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7FD9E84-2709-4CC8-B5B3-36999194FC2F}" type="slidenum">
              <a:rPr lang="en-US" altLang="zh-TW"/>
              <a:t>56</a:t>
            </a:fld>
            <a:endParaRPr lang="en-US" altLang="zh-TW"/>
          </a:p>
        </p:txBody>
      </p:sp>
      <p:sp>
        <p:nvSpPr>
          <p:cNvPr id="53250" name="Rectangle 2"/>
          <p:cNvSpPr>
            <a:spLocks noGrp="1" noRot="1" noChangeAspect="1" noChangeArrowheads="1" noTextEdit="1"/>
          </p:cNvSpPr>
          <p:nvPr>
            <p:ph type="sldImg"/>
          </p:nvPr>
        </p:nvSpPr>
        <p:spPr/>
      </p:sp>
      <p:sp>
        <p:nvSpPr>
          <p:cNvPr id="532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4867E5F-6D2F-4C88-B920-C36D879A9F84}" type="slidenum">
              <a:rPr lang="en-US" altLang="zh-TW"/>
              <a:t>57</a:t>
            </a:fld>
            <a:endParaRPr lang="en-US" altLang="zh-TW"/>
          </a:p>
        </p:txBody>
      </p:sp>
      <p:sp>
        <p:nvSpPr>
          <p:cNvPr id="54274" name="Rectangle 2"/>
          <p:cNvSpPr>
            <a:spLocks noGrp="1" noRot="1" noChangeAspect="1" noChangeArrowheads="1" noTextEdit="1"/>
          </p:cNvSpPr>
          <p:nvPr>
            <p:ph type="sldImg"/>
          </p:nvPr>
        </p:nvSpPr>
        <p:spPr/>
      </p:sp>
      <p:sp>
        <p:nvSpPr>
          <p:cNvPr id="5427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2290D51-C2B1-4627-890C-9DB5F936E50D}" type="slidenum">
              <a:rPr lang="en-US" altLang="zh-TW"/>
              <a:t>58</a:t>
            </a:fld>
            <a:endParaRPr lang="en-US" altLang="zh-TW"/>
          </a:p>
        </p:txBody>
      </p:sp>
      <p:sp>
        <p:nvSpPr>
          <p:cNvPr id="55298" name="Rectangle 2"/>
          <p:cNvSpPr>
            <a:spLocks noGrp="1" noRot="1" noChangeAspect="1" noChangeArrowheads="1" noTextEdit="1"/>
          </p:cNvSpPr>
          <p:nvPr>
            <p:ph type="sldImg"/>
          </p:nvPr>
        </p:nvSpPr>
        <p:spPr/>
      </p:sp>
      <p:sp>
        <p:nvSpPr>
          <p:cNvPr id="552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7E379D7-8ACC-4E04-B2F8-D25863B8D504}" type="slidenum">
              <a:rPr lang="en-US" altLang="zh-TW"/>
              <a:t>59</a:t>
            </a:fld>
            <a:endParaRPr lang="en-US" altLang="zh-TW"/>
          </a:p>
        </p:txBody>
      </p:sp>
      <p:sp>
        <p:nvSpPr>
          <p:cNvPr id="56322" name="Rectangle 2"/>
          <p:cNvSpPr>
            <a:spLocks noGrp="1" noRot="1" noChangeAspect="1" noChangeArrowheads="1" noTextEdit="1"/>
          </p:cNvSpPr>
          <p:nvPr>
            <p:ph type="sldImg"/>
          </p:nvPr>
        </p:nvSpPr>
        <p:spPr/>
      </p:sp>
      <p:sp>
        <p:nvSpPr>
          <p:cNvPr id="5632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FDE7981-A5E3-4DB7-9425-BA6AD544ECAC}" type="slidenum">
              <a:rPr lang="en-US" altLang="zh-TW"/>
              <a:t>60</a:t>
            </a:fld>
            <a:endParaRPr lang="en-US" altLang="zh-TW"/>
          </a:p>
        </p:txBody>
      </p:sp>
      <p:sp>
        <p:nvSpPr>
          <p:cNvPr id="59394" name="Rectangle 2"/>
          <p:cNvSpPr>
            <a:spLocks noGrp="1" noRot="1" noChangeAspect="1" noChangeArrowheads="1" noTextEdit="1"/>
          </p:cNvSpPr>
          <p:nvPr>
            <p:ph type="sldImg"/>
          </p:nvPr>
        </p:nvSpPr>
        <p:spPr/>
      </p:sp>
      <p:sp>
        <p:nvSpPr>
          <p:cNvPr id="593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FB67ABF3-8782-4A08-A65C-C3FC783B7839}" type="slidenum">
              <a:rPr lang="en-US" altLang="zh-TW"/>
              <a:t>61</a:t>
            </a:fld>
            <a:endParaRPr lang="en-US" altLang="zh-TW"/>
          </a:p>
        </p:txBody>
      </p:sp>
      <p:sp>
        <p:nvSpPr>
          <p:cNvPr id="60418" name="Rectangle 2"/>
          <p:cNvSpPr>
            <a:spLocks noGrp="1" noRot="1" noChangeAspect="1" noChangeArrowheads="1" noTextEdit="1"/>
          </p:cNvSpPr>
          <p:nvPr>
            <p:ph type="sldImg"/>
          </p:nvPr>
        </p:nvSpPr>
        <p:spPr/>
      </p:sp>
      <p:sp>
        <p:nvSpPr>
          <p:cNvPr id="60419" name="Rectangle 3"/>
          <p:cNvSpPr>
            <a:spLocks noGrp="1" noChangeArrowheads="1"/>
          </p:cNvSpPr>
          <p:nvPr>
            <p:ph type="body" idx="1"/>
          </p:nvPr>
        </p:nvSpPr>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endParaRPr lang="en-AU"/>
          </a:p>
        </p:txBody>
      </p:sp>
      <p:sp>
        <p:nvSpPr>
          <p:cNvPr id="5" name="Footer Placeholder 4"/>
          <p:cNvSpPr>
            <a:spLocks noGrp="1"/>
          </p:cNvSpPr>
          <p:nvPr>
            <p:ph type="ftr" sz="quarter" idx="11"/>
          </p:nvPr>
        </p:nvSpPr>
        <p:spPr/>
        <p:txBody>
          <a:bodyPr/>
          <a:lstStyle/>
          <a:p>
            <a:r>
              <a:rPr lang="en-US" altLang="zh-CN"/>
              <a:t>© Software Architecture</a:t>
            </a:r>
            <a:endParaRPr lang="en-AU" dirty="0"/>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lstStyle/>
          <a:p>
            <a:r>
              <a:rPr lang="en-US" dirty="0"/>
              <a:t>Click to edit Master title style</a:t>
            </a:r>
            <a:endParaRPr lang="en-AU"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Footer Placeholder 8"/>
          <p:cNvSpPr>
            <a:spLocks noGrp="1"/>
          </p:cNvSpPr>
          <p:nvPr>
            <p:ph type="ftr" sz="quarter" idx="11"/>
          </p:nvPr>
        </p:nvSpPr>
        <p:spPr>
          <a:xfrm>
            <a:off x="1403648" y="6356350"/>
            <a:ext cx="6336704" cy="365125"/>
          </a:xfrm>
        </p:spPr>
        <p:txBody>
          <a:bodyPr/>
          <a:lstStyle/>
          <a:p>
            <a:r>
              <a:rPr lang="en-US"/>
              <a:t>© Software Architecture</a:t>
            </a:r>
            <a:endParaRPr lang="en-AU" dirty="0"/>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AU"/>
          </a:p>
        </p:txBody>
      </p:sp>
      <p:sp>
        <p:nvSpPr>
          <p:cNvPr id="5" name="Footer Placeholder 4"/>
          <p:cNvSpPr>
            <a:spLocks noGrp="1"/>
          </p:cNvSpPr>
          <p:nvPr>
            <p:ph type="ftr" sz="quarter" idx="11"/>
          </p:nvPr>
        </p:nvSpPr>
        <p:spPr/>
        <p:txBody>
          <a:bodyPr/>
          <a:lstStyle>
            <a:lvl1pPr>
              <a:defRPr/>
            </a:lvl1pPr>
          </a:lstStyle>
          <a:p>
            <a:r>
              <a:rPr lang="en-US"/>
              <a:t>© Software Architecture</a:t>
            </a:r>
            <a:endParaRPr lang="en-AU" dirty="0"/>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pic>
        <p:nvPicPr>
          <p:cNvPr id="7"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1872208" cy="1872208"/>
          </a:xfrm>
          <a:prstGeom prst="rect">
            <a:avLst/>
          </a:prstGeom>
          <a:noFill/>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99592" y="274638"/>
            <a:ext cx="7787208" cy="778098"/>
          </a:xfrm>
        </p:spPr>
        <p:txBody>
          <a:bodyPr/>
          <a:lstStyle/>
          <a:p>
            <a:r>
              <a:rPr lang="en-US" dirty="0"/>
              <a:t>Click to edit Master title style</a:t>
            </a:r>
            <a:endParaRPr lang="en-AU" dirty="0"/>
          </a:p>
        </p:txBody>
      </p:sp>
      <p:sp>
        <p:nvSpPr>
          <p:cNvPr id="3" name="Content Placeholder 2"/>
          <p:cNvSpPr>
            <a:spLocks noGrp="1"/>
          </p:cNvSpPr>
          <p:nvPr>
            <p:ph sz="half" idx="1"/>
          </p:nvPr>
        </p:nvSpPr>
        <p:spPr>
          <a:xfrm>
            <a:off x="457200" y="1268760"/>
            <a:ext cx="4038600" cy="48574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268760"/>
            <a:ext cx="4038600" cy="48574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endParaRPr lang="en-AU"/>
          </a:p>
        </p:txBody>
      </p:sp>
      <p:sp>
        <p:nvSpPr>
          <p:cNvPr id="6" name="Footer Placeholder 5"/>
          <p:cNvSpPr>
            <a:spLocks noGrp="1"/>
          </p:cNvSpPr>
          <p:nvPr>
            <p:ph type="ftr" sz="quarter" idx="11"/>
          </p:nvPr>
        </p:nvSpPr>
        <p:spPr/>
        <p:txBody>
          <a:bodyPr/>
          <a:lstStyle>
            <a:lvl1pPr>
              <a:defRPr/>
            </a:lvl1pPr>
          </a:lstStyle>
          <a:p>
            <a:r>
              <a:rPr lang="en-US" altLang="zh-CN"/>
              <a:t>© Software Architecture</a:t>
            </a:r>
            <a:endParaRPr lang="en-AU" dirty="0"/>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pic>
        <p:nvPicPr>
          <p:cNvPr id="8"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endParaRPr lang="en-AU"/>
          </a:p>
        </p:txBody>
      </p:sp>
      <p:sp>
        <p:nvSpPr>
          <p:cNvPr id="8" name="Footer Placeholder 7"/>
          <p:cNvSpPr>
            <a:spLocks noGrp="1"/>
          </p:cNvSpPr>
          <p:nvPr>
            <p:ph type="ftr" sz="quarter" idx="11"/>
          </p:nvPr>
        </p:nvSpPr>
        <p:spPr/>
        <p:txBody>
          <a:bodyPr/>
          <a:lstStyle>
            <a:lvl1pPr>
              <a:defRPr/>
            </a:lvl1pPr>
          </a:lstStyle>
          <a:p>
            <a:r>
              <a:rPr lang="en-US" altLang="zh-CN"/>
              <a:t>© Software Architecture</a:t>
            </a:r>
            <a:endParaRPr lang="en-AU" dirty="0"/>
          </a:p>
        </p:txBody>
      </p:sp>
      <p:sp>
        <p:nvSpPr>
          <p:cNvPr id="9" name="Slide Number Placeholder 8"/>
          <p:cNvSpPr>
            <a:spLocks noGrp="1"/>
          </p:cNvSpPr>
          <p:nvPr>
            <p:ph type="sldNum" sz="quarter" idx="12"/>
          </p:nvPr>
        </p:nvSpPr>
        <p:spPr/>
        <p:txBody>
          <a:bodyPr/>
          <a:lstStyle/>
          <a:p>
            <a:fld id="{D0E8C58C-0836-46C6-8F9A-AF87B5CA09C9}" type="slidenum">
              <a:rPr lang="en-AU" smtClean="0"/>
              <a:t>‹#›</a:t>
            </a:fld>
            <a:endParaRPr lang="en-AU"/>
          </a:p>
        </p:txBody>
      </p:sp>
      <p:pic>
        <p:nvPicPr>
          <p:cNvPr id="10"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99592" y="274638"/>
            <a:ext cx="7787208" cy="778098"/>
          </a:xfrm>
        </p:spPr>
        <p:txBody>
          <a:bodyPr/>
          <a:lstStyle/>
          <a:p>
            <a:r>
              <a:rPr lang="en-US" dirty="0"/>
              <a:t>Click to edit Master title style</a:t>
            </a:r>
            <a:endParaRPr lang="en-AU" dirty="0"/>
          </a:p>
        </p:txBody>
      </p:sp>
      <p:sp>
        <p:nvSpPr>
          <p:cNvPr id="3" name="Date Placeholder 2"/>
          <p:cNvSpPr>
            <a:spLocks noGrp="1"/>
          </p:cNvSpPr>
          <p:nvPr>
            <p:ph type="dt" sz="half" idx="10"/>
          </p:nvPr>
        </p:nvSpPr>
        <p:spPr/>
        <p:txBody>
          <a:bodyPr/>
          <a:lstStyle/>
          <a:p>
            <a:endParaRPr lang="en-AU"/>
          </a:p>
        </p:txBody>
      </p:sp>
      <p:sp>
        <p:nvSpPr>
          <p:cNvPr id="4" name="Footer Placeholder 3"/>
          <p:cNvSpPr>
            <a:spLocks noGrp="1"/>
          </p:cNvSpPr>
          <p:nvPr>
            <p:ph type="ftr" sz="quarter" idx="11"/>
          </p:nvPr>
        </p:nvSpPr>
        <p:spPr/>
        <p:txBody>
          <a:bodyPr/>
          <a:lstStyle/>
          <a:p>
            <a:r>
              <a:rPr lang="en-US"/>
              <a:t>© Software Architecture</a:t>
            </a:r>
            <a:endParaRPr lang="en-AU" dirty="0"/>
          </a:p>
        </p:txBody>
      </p:sp>
      <p:sp>
        <p:nvSpPr>
          <p:cNvPr id="5" name="Slide Number Placeholder 4"/>
          <p:cNvSpPr>
            <a:spLocks noGrp="1"/>
          </p:cNvSpPr>
          <p:nvPr>
            <p:ph type="sldNum" sz="quarter" idx="12"/>
          </p:nvPr>
        </p:nvSpPr>
        <p:spPr/>
        <p:txBody>
          <a:bodyPr/>
          <a:lstStyle/>
          <a:p>
            <a:fld id="{D0E8C58C-0836-46C6-8F9A-AF87B5CA09C9}" type="slidenum">
              <a:rPr lang="en-AU" smtClean="0"/>
              <a:t>‹#›</a:t>
            </a:fld>
            <a:endParaRPr lang="en-AU"/>
          </a:p>
        </p:txBody>
      </p:sp>
      <p:pic>
        <p:nvPicPr>
          <p:cNvPr id="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AU"/>
          </a:p>
        </p:txBody>
      </p:sp>
      <p:sp>
        <p:nvSpPr>
          <p:cNvPr id="3" name="Footer Placeholder 2"/>
          <p:cNvSpPr>
            <a:spLocks noGrp="1"/>
          </p:cNvSpPr>
          <p:nvPr>
            <p:ph type="ftr" sz="quarter" idx="11"/>
          </p:nvPr>
        </p:nvSpPr>
        <p:spPr/>
        <p:txBody>
          <a:bodyPr/>
          <a:lstStyle/>
          <a:p>
            <a:r>
              <a:rPr lang="en-AU"/>
              <a:t>© Software Architecture</a:t>
            </a:r>
            <a:endParaRPr lang="en-AU" dirty="0"/>
          </a:p>
        </p:txBody>
      </p:sp>
      <p:sp>
        <p:nvSpPr>
          <p:cNvPr id="4" name="Slide Number Placeholder 3"/>
          <p:cNvSpPr>
            <a:spLocks noGrp="1"/>
          </p:cNvSpPr>
          <p:nvPr>
            <p:ph type="sldNum" sz="quarter" idx="12"/>
          </p:nvPr>
        </p:nvSpPr>
        <p:spPr/>
        <p:txBody>
          <a:bodyPr/>
          <a:lstStyle/>
          <a:p>
            <a:fld id="{D0E8C58C-0836-46C6-8F9A-AF87B5CA09C9}"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AU"/>
          </a:p>
        </p:txBody>
      </p:sp>
      <p:sp>
        <p:nvSpPr>
          <p:cNvPr id="6" name="Footer Placeholder 5"/>
          <p:cNvSpPr>
            <a:spLocks noGrp="1"/>
          </p:cNvSpPr>
          <p:nvPr>
            <p:ph type="ftr" sz="quarter" idx="11"/>
          </p:nvPr>
        </p:nvSpPr>
        <p:spPr/>
        <p:txBody>
          <a:bodyPr/>
          <a:lstStyle/>
          <a:p>
            <a:r>
              <a:rPr lang="en-AU"/>
              <a:t>© Software Architecture</a:t>
            </a:r>
            <a:endParaRPr lang="en-AU" dirty="0"/>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AU"/>
          </a:p>
        </p:txBody>
      </p:sp>
      <p:sp>
        <p:nvSpPr>
          <p:cNvPr id="6" name="Footer Placeholder 5"/>
          <p:cNvSpPr>
            <a:spLocks noGrp="1"/>
          </p:cNvSpPr>
          <p:nvPr>
            <p:ph type="ftr" sz="quarter" idx="11"/>
          </p:nvPr>
        </p:nvSpPr>
        <p:spPr/>
        <p:txBody>
          <a:bodyPr/>
          <a:lstStyle/>
          <a:p>
            <a:r>
              <a:rPr lang="en-AU"/>
              <a:t>© Software Architecture</a:t>
            </a:r>
            <a:endParaRPr lang="en-AU" dirty="0"/>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endParaRPr lang="en-AU"/>
          </a:p>
        </p:txBody>
      </p:sp>
      <p:sp>
        <p:nvSpPr>
          <p:cNvPr id="5" name="Footer Placeholder 4"/>
          <p:cNvSpPr>
            <a:spLocks noGrp="1"/>
          </p:cNvSpPr>
          <p:nvPr>
            <p:ph type="ftr" sz="quarter" idx="11"/>
          </p:nvPr>
        </p:nvSpPr>
        <p:spPr/>
        <p:txBody>
          <a:bodyPr/>
          <a:lstStyle/>
          <a:p>
            <a:r>
              <a:rPr lang="en-AU"/>
              <a:t>© Software Architecture</a:t>
            </a:r>
            <a:endParaRPr lang="en-AU" dirty="0"/>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sz="half" idx="10"/>
          </p:nvPr>
        </p:nvSpPr>
        <p:spPr/>
        <p:txBody>
          <a:bodyPr/>
          <a:lstStyle/>
          <a:p>
            <a:endParaRPr lang="en-AU"/>
          </a:p>
        </p:txBody>
      </p:sp>
      <p:sp>
        <p:nvSpPr>
          <p:cNvPr id="5" name="Footer Placeholder 4"/>
          <p:cNvSpPr>
            <a:spLocks noGrp="1"/>
          </p:cNvSpPr>
          <p:nvPr>
            <p:ph type="ftr" sz="quarter" idx="11"/>
          </p:nvPr>
        </p:nvSpPr>
        <p:spPr/>
        <p:txBody>
          <a:bodyPr/>
          <a:lstStyle/>
          <a:p>
            <a:r>
              <a:rPr lang="en-AU"/>
              <a:t>© Software Architecture</a:t>
            </a:r>
            <a:endParaRPr lang="en-AU" dirty="0"/>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778098"/>
          </a:xfrm>
          <a:prstGeom prst="rect">
            <a:avLst/>
          </a:prstGeom>
        </p:spPr>
        <p:txBody>
          <a:bodyPr vert="horz" lIns="91440" tIns="45720" rIns="91440" bIns="45720" rtlCol="0" anchor="ctr">
            <a:normAutofit/>
          </a:bodyPr>
          <a:lstStyle/>
          <a:p>
            <a:r>
              <a:rPr lang="en-US" dirty="0"/>
              <a:t>Click to edit Master title style</a:t>
            </a:r>
            <a:endParaRPr lang="en-AU" dirty="0"/>
          </a:p>
        </p:txBody>
      </p:sp>
      <p:sp>
        <p:nvSpPr>
          <p:cNvPr id="3" name="Text Placeholder 2"/>
          <p:cNvSpPr>
            <a:spLocks noGrp="1"/>
          </p:cNvSpPr>
          <p:nvPr>
            <p:ph type="body" idx="1"/>
          </p:nvPr>
        </p:nvSpPr>
        <p:spPr>
          <a:xfrm>
            <a:off x="457200" y="1268760"/>
            <a:ext cx="8229600" cy="48574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Software Architecture</a:t>
            </a:r>
            <a:endParaRPr lang="en-AU"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E8C58C-0836-46C6-8F9A-AF87B5CA09C9}" type="slidenum">
              <a:rPr lang="en-AU" smtClean="0"/>
              <a:t>‹#›</a:t>
            </a:fld>
            <a:endParaRPr lang="en-A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a:t>Chapter 7: Modifiability</a:t>
            </a:r>
          </a:p>
        </p:txBody>
      </p:sp>
      <p:sp>
        <p:nvSpPr>
          <p:cNvPr id="3" name="Subtitle 2"/>
          <p:cNvSpPr>
            <a:spLocks noGrp="1"/>
          </p:cNvSpPr>
          <p:nvPr>
            <p:ph type="subTitle" idx="1"/>
          </p:nvPr>
        </p:nvSpPr>
        <p:spPr/>
        <p:txBody>
          <a:bodyPr/>
          <a:lstStyle/>
          <a:p>
            <a:endParaRPr lang="en-AU" dirty="0"/>
          </a:p>
        </p:txBody>
      </p:sp>
      <p:sp>
        <p:nvSpPr>
          <p:cNvPr id="4" name="Footer Placeholder 3"/>
          <p:cNvSpPr>
            <a:spLocks noGrp="1"/>
          </p:cNvSpPr>
          <p:nvPr>
            <p:ph type="ftr" sz="quarter" idx="11"/>
          </p:nvPr>
        </p:nvSpPr>
        <p:spPr/>
        <p:txBody>
          <a:bodyPr/>
          <a:lstStyle/>
          <a:p>
            <a:r>
              <a:rPr lang="en-AU"/>
              <a:t>© Software Architecture</a:t>
            </a:r>
            <a:endParaRPr lang="en-A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t>© Software Architecture</a:t>
            </a:r>
            <a:endParaRPr lang="en-AU" dirty="0"/>
          </a:p>
        </p:txBody>
      </p:sp>
      <p:pic>
        <p:nvPicPr>
          <p:cNvPr id="1026" name="Picture 2" descr="代码整洁之道"/>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06970" y="620688"/>
            <a:ext cx="3930059" cy="4941168"/>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3440920" y="5702429"/>
            <a:ext cx="2262158" cy="369332"/>
          </a:xfrm>
          <a:prstGeom prst="rect">
            <a:avLst/>
          </a:prstGeom>
          <a:noFill/>
        </p:spPr>
        <p:txBody>
          <a:bodyPr wrap="none" rtlCol="0">
            <a:spAutoFit/>
          </a:bodyPr>
          <a:lstStyle/>
          <a:p>
            <a:r>
              <a:rPr lang="zh-CN" altLang="en-US" b="1" dirty="0">
                <a:latin typeface="黑体" panose="02010609060101010101" pitchFamily="49" charset="-122"/>
                <a:ea typeface="黑体" panose="02010609060101010101" pitchFamily="49" charset="-122"/>
              </a:rPr>
              <a:t>写代码要像写诗一样</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t>© Software Architecture</a:t>
            </a:r>
            <a:endParaRPr lang="en-AU" dirty="0"/>
          </a:p>
        </p:txBody>
      </p:sp>
      <p:pic>
        <p:nvPicPr>
          <p:cNvPr id="5" name="图片 4"/>
          <p:cNvPicPr>
            <a:picLocks noChangeAspect="1"/>
          </p:cNvPicPr>
          <p:nvPr/>
        </p:nvPicPr>
        <p:blipFill>
          <a:blip r:embed="rId2"/>
          <a:stretch>
            <a:fillRect/>
          </a:stretch>
        </p:blipFill>
        <p:spPr>
          <a:xfrm>
            <a:off x="0" y="805251"/>
            <a:ext cx="9144000" cy="524749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t>© Software Architecture</a:t>
            </a:r>
            <a:endParaRPr lang="en-AU" dirty="0"/>
          </a:p>
        </p:txBody>
      </p:sp>
      <p:pic>
        <p:nvPicPr>
          <p:cNvPr id="2050" name="Picture 2" descr="快速设置好vs code 好看又好用！！！嗯十分钟带你搞定vs code 的设置和主题- 掘金"/>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812118"/>
            <a:ext cx="8374022" cy="5233764"/>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a:picLocks noChangeAspect="1"/>
          </p:cNvPicPr>
          <p:nvPr/>
        </p:nvPicPr>
        <p:blipFill>
          <a:blip r:embed="rId3"/>
          <a:stretch>
            <a:fillRect/>
          </a:stretch>
        </p:blipFill>
        <p:spPr>
          <a:xfrm>
            <a:off x="4366630" y="1628800"/>
            <a:ext cx="4777370" cy="3350125"/>
          </a:xfrm>
          <a:prstGeom prst="rect">
            <a:avLst/>
          </a:prstGeom>
          <a:ln w="19050">
            <a:solidFill>
              <a:schemeClr val="bg1"/>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t>© Software Architecture</a:t>
            </a:r>
            <a:endParaRPr lang="en-AU" dirty="0"/>
          </a:p>
        </p:txBody>
      </p:sp>
      <p:pic>
        <p:nvPicPr>
          <p:cNvPr id="6" name="Picture 2" descr="编程，不止有代码，还有艺术-华为开发者论坛| 华为开发者联盟"/>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2720" y="260648"/>
            <a:ext cx="3738560" cy="57332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dirty="0"/>
          </a:p>
        </p:txBody>
      </p:sp>
      <p:sp>
        <p:nvSpPr>
          <p:cNvPr id="4" name="页脚占位符 3"/>
          <p:cNvSpPr>
            <a:spLocks noGrp="1"/>
          </p:cNvSpPr>
          <p:nvPr>
            <p:ph type="ftr" sz="quarter" idx="11"/>
          </p:nvPr>
        </p:nvSpPr>
        <p:spPr/>
        <p:txBody>
          <a:bodyPr/>
          <a:lstStyle/>
          <a:p>
            <a:r>
              <a:rPr lang="en-US"/>
              <a:t>© Software Architecture</a:t>
            </a:r>
            <a:endParaRPr lang="en-AU"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2432" y="2495550"/>
            <a:ext cx="6039135" cy="2733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页脚占位符 3"/>
          <p:cNvSpPr>
            <a:spLocks noGrp="1"/>
          </p:cNvSpPr>
          <p:nvPr>
            <p:ph type="ftr" sz="quarter" idx="11"/>
          </p:nvPr>
        </p:nvSpPr>
        <p:spPr/>
        <p:txBody>
          <a:bodyPr/>
          <a:lstStyle/>
          <a:p>
            <a:r>
              <a:rPr lang="en-US"/>
              <a:t>© Software Architecture</a:t>
            </a:r>
            <a:endParaRPr lang="en-AU" dirty="0"/>
          </a:p>
        </p:txBody>
      </p:sp>
      <p:pic>
        <p:nvPicPr>
          <p:cNvPr id="2050" name="Picture 2" descr="GIF趣图：当我尝试修复别人的Bug时，当尝试修复一个小bug时_bug修水管的一个动图-CSDN博客"/>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34331" y="2059007"/>
            <a:ext cx="5875337" cy="32910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Modifiability?</a:t>
            </a:r>
          </a:p>
        </p:txBody>
      </p:sp>
      <p:sp>
        <p:nvSpPr>
          <p:cNvPr id="3" name="Content Placeholder 2"/>
          <p:cNvSpPr>
            <a:spLocks noGrp="1"/>
          </p:cNvSpPr>
          <p:nvPr>
            <p:ph idx="1"/>
          </p:nvPr>
        </p:nvSpPr>
        <p:spPr/>
        <p:txBody>
          <a:bodyPr>
            <a:normAutofit/>
          </a:bodyPr>
          <a:lstStyle/>
          <a:p>
            <a:r>
              <a:rPr lang="en-US" b="1" dirty="0">
                <a:solidFill>
                  <a:schemeClr val="tx2"/>
                </a:solidFill>
              </a:rPr>
              <a:t>Modifiability</a:t>
            </a:r>
            <a:r>
              <a:rPr lang="en-US" dirty="0"/>
              <a:t> is about change and our interest in it is in the cost and risk of making changes.  </a:t>
            </a:r>
          </a:p>
          <a:p>
            <a:r>
              <a:rPr lang="en-US" dirty="0"/>
              <a:t>To plan for modifiability, an architect has to consider four questions: </a:t>
            </a:r>
          </a:p>
          <a:p>
            <a:pPr lvl="1"/>
            <a:r>
              <a:rPr lang="en-US" dirty="0"/>
              <a:t>What can change? </a:t>
            </a:r>
          </a:p>
          <a:p>
            <a:pPr lvl="1"/>
            <a:r>
              <a:rPr lang="en-US" dirty="0"/>
              <a:t>What is the likelihood of the change? </a:t>
            </a:r>
          </a:p>
          <a:p>
            <a:pPr lvl="1"/>
            <a:r>
              <a:rPr lang="en-US" dirty="0"/>
              <a:t>When is the change made and who makes it?</a:t>
            </a:r>
          </a:p>
          <a:p>
            <a:pPr lvl="1"/>
            <a:r>
              <a:rPr lang="en-US" dirty="0"/>
              <a:t>What is the cost of the change?  </a:t>
            </a:r>
          </a:p>
          <a:p>
            <a:endParaRPr lang="en-US" dirty="0"/>
          </a:p>
          <a:p>
            <a:endParaRPr lang="en-US" dirty="0"/>
          </a:p>
          <a:p>
            <a:endParaRPr lang="en-US" dirty="0"/>
          </a:p>
        </p:txBody>
      </p:sp>
      <p:sp>
        <p:nvSpPr>
          <p:cNvPr id="4" name="Footer Placeholder 3"/>
          <p:cNvSpPr>
            <a:spLocks noGrp="1"/>
          </p:cNvSpPr>
          <p:nvPr>
            <p:ph type="ftr" sz="quarter" idx="11"/>
          </p:nvPr>
        </p:nvSpPr>
        <p:spPr/>
        <p:txBody>
          <a:bodyPr/>
          <a:lstStyle/>
          <a:p>
            <a:r>
              <a:rPr lang="en-AU"/>
              <a:t>© Software Architecture</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What can change?</a:t>
            </a:r>
            <a:endParaRPr lang="zh-CN" altLang="en-US" dirty="0"/>
          </a:p>
        </p:txBody>
      </p:sp>
      <p:sp>
        <p:nvSpPr>
          <p:cNvPr id="3" name="内容占位符 2"/>
          <p:cNvSpPr>
            <a:spLocks noGrp="1"/>
          </p:cNvSpPr>
          <p:nvPr>
            <p:ph idx="1"/>
          </p:nvPr>
        </p:nvSpPr>
        <p:spPr/>
        <p:txBody>
          <a:bodyPr>
            <a:normAutofit/>
          </a:bodyPr>
          <a:lstStyle/>
          <a:p>
            <a:r>
              <a:rPr lang="en-US" altLang="zh-CN" sz="2400" dirty="0"/>
              <a:t>The functions of the system</a:t>
            </a:r>
          </a:p>
          <a:p>
            <a:r>
              <a:rPr lang="en-US" altLang="zh-CN" sz="2400" dirty="0"/>
              <a:t>The platforms, i.e., the hardware, operating system, middleware</a:t>
            </a:r>
          </a:p>
          <a:p>
            <a:r>
              <a:rPr lang="en-US" altLang="zh-CN" sz="2400" dirty="0"/>
              <a:t>The environment in which the system operates</a:t>
            </a:r>
          </a:p>
          <a:p>
            <a:pPr lvl="1"/>
            <a:r>
              <a:rPr lang="en-US" altLang="zh-CN" sz="2000" dirty="0"/>
              <a:t>The systems with which it must interoperate </a:t>
            </a:r>
          </a:p>
          <a:p>
            <a:pPr lvl="1"/>
            <a:r>
              <a:rPr lang="en-US" altLang="zh-CN" sz="2000" dirty="0"/>
              <a:t>The protocols it use to communicate</a:t>
            </a:r>
          </a:p>
          <a:p>
            <a:r>
              <a:rPr lang="en-US" altLang="zh-CN" sz="2400" dirty="0"/>
              <a:t>The capacity</a:t>
            </a:r>
          </a:p>
          <a:p>
            <a:pPr lvl="1"/>
            <a:r>
              <a:rPr lang="en-US" altLang="zh-CN" sz="2000" dirty="0"/>
              <a:t>Number of users supported</a:t>
            </a:r>
          </a:p>
          <a:p>
            <a:pPr lvl="1"/>
            <a:r>
              <a:rPr lang="en-US" altLang="zh-CN" sz="2000" dirty="0"/>
              <a:t>Number of simultaneous operations</a:t>
            </a:r>
          </a:p>
          <a:p>
            <a:endParaRPr lang="zh-CN" altLang="en-US" sz="2400" dirty="0"/>
          </a:p>
        </p:txBody>
      </p:sp>
      <p:sp>
        <p:nvSpPr>
          <p:cNvPr id="4" name="页脚占位符 3"/>
          <p:cNvSpPr>
            <a:spLocks noGrp="1"/>
          </p:cNvSpPr>
          <p:nvPr>
            <p:ph type="ftr" sz="quarter" idx="11"/>
          </p:nvPr>
        </p:nvSpPr>
        <p:spPr/>
        <p:txBody>
          <a:bodyPr/>
          <a:lstStyle/>
          <a:p>
            <a:r>
              <a:rPr lang="en-US"/>
              <a:t>© Software Architecture</a:t>
            </a:r>
            <a:endParaRPr lang="en-AU" dirty="0"/>
          </a:p>
        </p:txBody>
      </p:sp>
      <p:pic>
        <p:nvPicPr>
          <p:cNvPr id="6" name="图片 5">
            <a:extLst>
              <a:ext uri="{FF2B5EF4-FFF2-40B4-BE49-F238E27FC236}">
                <a16:creationId xmlns:a16="http://schemas.microsoft.com/office/drawing/2014/main" id="{02B75DCA-59D2-4AA6-0C71-D50493CFB5F6}"/>
              </a:ext>
            </a:extLst>
          </p:cNvPr>
          <p:cNvPicPr>
            <a:picLocks noChangeAspect="1"/>
          </p:cNvPicPr>
          <p:nvPr/>
        </p:nvPicPr>
        <p:blipFill>
          <a:blip r:embed="rId2"/>
          <a:stretch>
            <a:fillRect/>
          </a:stretch>
        </p:blipFill>
        <p:spPr>
          <a:xfrm>
            <a:off x="186286" y="4988519"/>
            <a:ext cx="8771428" cy="133333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1B728C-8272-BF1F-0378-2A5E4AD06CF8}"/>
              </a:ext>
            </a:extLst>
          </p:cNvPr>
          <p:cNvSpPr>
            <a:spLocks noGrp="1"/>
          </p:cNvSpPr>
          <p:nvPr>
            <p:ph type="title"/>
          </p:nvPr>
        </p:nvSpPr>
        <p:spPr/>
        <p:txBody>
          <a:bodyPr/>
          <a:lstStyle/>
          <a:p>
            <a:r>
              <a:rPr lang="en-US" altLang="zh-CN" dirty="0"/>
              <a:t>Probability of Change</a:t>
            </a:r>
            <a:endParaRPr lang="zh-CN" altLang="en-US" dirty="0"/>
          </a:p>
        </p:txBody>
      </p:sp>
      <p:pic>
        <p:nvPicPr>
          <p:cNvPr id="6" name="内容占位符 5">
            <a:extLst>
              <a:ext uri="{FF2B5EF4-FFF2-40B4-BE49-F238E27FC236}">
                <a16:creationId xmlns:a16="http://schemas.microsoft.com/office/drawing/2014/main" id="{9272B098-80A9-C8B2-EE8F-7DAA0D4F59D9}"/>
              </a:ext>
            </a:extLst>
          </p:cNvPr>
          <p:cNvPicPr>
            <a:picLocks noGrp="1" noChangeAspect="1"/>
          </p:cNvPicPr>
          <p:nvPr>
            <p:ph idx="1"/>
          </p:nvPr>
        </p:nvPicPr>
        <p:blipFill>
          <a:blip r:embed="rId2"/>
          <a:stretch>
            <a:fillRect/>
          </a:stretch>
        </p:blipFill>
        <p:spPr>
          <a:xfrm>
            <a:off x="457200" y="3094483"/>
            <a:ext cx="8229600" cy="1205610"/>
          </a:xfrm>
          <a:prstGeom prst="rect">
            <a:avLst/>
          </a:prstGeom>
        </p:spPr>
      </p:pic>
      <p:sp>
        <p:nvSpPr>
          <p:cNvPr id="4" name="页脚占位符 3">
            <a:extLst>
              <a:ext uri="{FF2B5EF4-FFF2-40B4-BE49-F238E27FC236}">
                <a16:creationId xmlns:a16="http://schemas.microsoft.com/office/drawing/2014/main" id="{74238285-B4AE-377D-BFC1-2D9CEA802679}"/>
              </a:ext>
            </a:extLst>
          </p:cNvPr>
          <p:cNvSpPr>
            <a:spLocks noGrp="1"/>
          </p:cNvSpPr>
          <p:nvPr>
            <p:ph type="ftr" sz="quarter" idx="11"/>
          </p:nvPr>
        </p:nvSpPr>
        <p:spPr/>
        <p:txBody>
          <a:bodyPr/>
          <a:lstStyle/>
          <a:p>
            <a:r>
              <a:rPr lang="en-US"/>
              <a:t>© Software Architecture</a:t>
            </a:r>
            <a:endParaRPr lang="en-AU" dirty="0"/>
          </a:p>
        </p:txBody>
      </p:sp>
    </p:spTree>
    <p:extLst>
      <p:ext uri="{BB962C8B-B14F-4D97-AF65-F5344CB8AC3E}">
        <p14:creationId xmlns:p14="http://schemas.microsoft.com/office/powerpoint/2010/main" val="1710706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lang="en-US" altLang="zh-CN" dirty="0"/>
              <a:t>When is the change made and who makes it?</a:t>
            </a:r>
            <a:endParaRPr lang="zh-CN" altLang="en-US" dirty="0"/>
          </a:p>
        </p:txBody>
      </p:sp>
      <p:sp>
        <p:nvSpPr>
          <p:cNvPr id="3" name="内容占位符 2"/>
          <p:cNvSpPr>
            <a:spLocks noGrp="1"/>
          </p:cNvSpPr>
          <p:nvPr>
            <p:ph idx="1"/>
          </p:nvPr>
        </p:nvSpPr>
        <p:spPr/>
        <p:txBody>
          <a:bodyPr>
            <a:normAutofit/>
          </a:bodyPr>
          <a:lstStyle/>
          <a:p>
            <a:r>
              <a:rPr lang="en-US" altLang="zh-CN" sz="2800" dirty="0"/>
              <a:t>Changes can be made during</a:t>
            </a:r>
          </a:p>
          <a:p>
            <a:pPr lvl="1"/>
            <a:r>
              <a:rPr lang="en-US" altLang="zh-CN" sz="2400" b="1" dirty="0"/>
              <a:t>implementation</a:t>
            </a:r>
            <a:r>
              <a:rPr lang="en-US" altLang="zh-CN" sz="2400" dirty="0"/>
              <a:t> by modifying the source code</a:t>
            </a:r>
          </a:p>
          <a:p>
            <a:pPr lvl="1"/>
            <a:r>
              <a:rPr lang="en-US" altLang="zh-CN" sz="2400" b="1" dirty="0"/>
              <a:t>build</a:t>
            </a:r>
            <a:r>
              <a:rPr lang="en-US" altLang="zh-CN" sz="2400" dirty="0"/>
              <a:t> by choice of libraries</a:t>
            </a:r>
          </a:p>
          <a:p>
            <a:pPr lvl="1"/>
            <a:r>
              <a:rPr lang="en-US" altLang="zh-CN" sz="2400" b="1" dirty="0"/>
              <a:t>execution</a:t>
            </a:r>
            <a:r>
              <a:rPr lang="en-US" altLang="zh-CN" sz="2400" dirty="0"/>
              <a:t> by parameter setting, plugins, </a:t>
            </a:r>
            <a:r>
              <a:rPr lang="en-US" altLang="zh-CN" sz="2400" dirty="0" err="1"/>
              <a:t>etc</a:t>
            </a:r>
            <a:endParaRPr lang="en-US" altLang="zh-CN" sz="2400" dirty="0"/>
          </a:p>
          <a:p>
            <a:r>
              <a:rPr lang="en-US" altLang="zh-CN" sz="2800" dirty="0"/>
              <a:t>Changes can also be made by </a:t>
            </a:r>
          </a:p>
          <a:p>
            <a:pPr lvl="1"/>
            <a:r>
              <a:rPr lang="en-US" altLang="zh-CN" sz="2400" dirty="0"/>
              <a:t>a developer</a:t>
            </a:r>
          </a:p>
          <a:p>
            <a:pPr lvl="1"/>
            <a:r>
              <a:rPr lang="en-US" altLang="zh-CN" sz="2400" dirty="0"/>
              <a:t>an end user</a:t>
            </a:r>
          </a:p>
          <a:p>
            <a:pPr lvl="1"/>
            <a:r>
              <a:rPr lang="en-US" altLang="zh-CN" sz="2400" dirty="0"/>
              <a:t>a system administrator</a:t>
            </a:r>
          </a:p>
          <a:p>
            <a:pPr marL="457200" lvl="1" indent="0">
              <a:buNone/>
            </a:pPr>
            <a:r>
              <a:rPr lang="en-US" altLang="zh-CN" sz="2400" dirty="0"/>
              <a:t> </a:t>
            </a:r>
            <a:endParaRPr lang="zh-CN" altLang="en-US" sz="2400" dirty="0"/>
          </a:p>
        </p:txBody>
      </p:sp>
      <p:sp>
        <p:nvSpPr>
          <p:cNvPr id="4" name="页脚占位符 3"/>
          <p:cNvSpPr>
            <a:spLocks noGrp="1"/>
          </p:cNvSpPr>
          <p:nvPr>
            <p:ph type="ftr" sz="quarter" idx="11"/>
          </p:nvPr>
        </p:nvSpPr>
        <p:spPr/>
        <p:txBody>
          <a:bodyPr/>
          <a:lstStyle/>
          <a:p>
            <a:r>
              <a:rPr lang="en-US"/>
              <a:t>© Software Architecture</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38F235-5248-4E70-E826-B48A83F9038E}"/>
              </a:ext>
            </a:extLst>
          </p:cNvPr>
          <p:cNvSpPr>
            <a:spLocks noGrp="1"/>
          </p:cNvSpPr>
          <p:nvPr>
            <p:ph type="title"/>
          </p:nvPr>
        </p:nvSpPr>
        <p:spPr/>
        <p:txBody>
          <a:bodyPr>
            <a:normAutofit fontScale="90000"/>
          </a:bodyPr>
          <a:lstStyle/>
          <a:p>
            <a:r>
              <a:rPr lang="en-US" altLang="zh-CN" dirty="0"/>
              <a:t>When is the change made and who makes it?</a:t>
            </a:r>
            <a:endParaRPr lang="zh-CN" altLang="en-US" dirty="0"/>
          </a:p>
        </p:txBody>
      </p:sp>
      <p:pic>
        <p:nvPicPr>
          <p:cNvPr id="8" name="内容占位符 7">
            <a:extLst>
              <a:ext uri="{FF2B5EF4-FFF2-40B4-BE49-F238E27FC236}">
                <a16:creationId xmlns:a16="http://schemas.microsoft.com/office/drawing/2014/main" id="{C1B50AF3-CB83-7D8D-785D-D6DC44C7BDE5}"/>
              </a:ext>
            </a:extLst>
          </p:cNvPr>
          <p:cNvPicPr>
            <a:picLocks noGrp="1" noChangeAspect="1"/>
          </p:cNvPicPr>
          <p:nvPr>
            <p:ph idx="1"/>
          </p:nvPr>
        </p:nvPicPr>
        <p:blipFill>
          <a:blip r:embed="rId2"/>
          <a:stretch>
            <a:fillRect/>
          </a:stretch>
        </p:blipFill>
        <p:spPr>
          <a:xfrm>
            <a:off x="457200" y="2290519"/>
            <a:ext cx="8229600" cy="2813538"/>
          </a:xfrm>
          <a:prstGeom prst="rect">
            <a:avLst/>
          </a:prstGeom>
        </p:spPr>
      </p:pic>
      <p:sp>
        <p:nvSpPr>
          <p:cNvPr id="4" name="页脚占位符 3">
            <a:extLst>
              <a:ext uri="{FF2B5EF4-FFF2-40B4-BE49-F238E27FC236}">
                <a16:creationId xmlns:a16="http://schemas.microsoft.com/office/drawing/2014/main" id="{65CE8012-4591-D70C-FDF9-D7C36FFE3D0A}"/>
              </a:ext>
            </a:extLst>
          </p:cNvPr>
          <p:cNvSpPr>
            <a:spLocks noGrp="1"/>
          </p:cNvSpPr>
          <p:nvPr>
            <p:ph type="ftr" sz="quarter" idx="11"/>
          </p:nvPr>
        </p:nvSpPr>
        <p:spPr/>
        <p:txBody>
          <a:bodyPr/>
          <a:lstStyle/>
          <a:p>
            <a:r>
              <a:rPr lang="en-US"/>
              <a:t>© Software Architecture</a:t>
            </a:r>
            <a:endParaRPr lang="en-AU" dirty="0"/>
          </a:p>
        </p:txBody>
      </p:sp>
    </p:spTree>
    <p:extLst>
      <p:ext uri="{BB962C8B-B14F-4D97-AF65-F5344CB8AC3E}">
        <p14:creationId xmlns:p14="http://schemas.microsoft.com/office/powerpoint/2010/main" val="3014299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What is the cost of the change?</a:t>
            </a:r>
            <a:endParaRPr lang="zh-CN" altLang="en-US" dirty="0"/>
          </a:p>
        </p:txBody>
      </p:sp>
      <p:sp>
        <p:nvSpPr>
          <p:cNvPr id="3" name="内容占位符 2"/>
          <p:cNvSpPr>
            <a:spLocks noGrp="1"/>
          </p:cNvSpPr>
          <p:nvPr>
            <p:ph idx="1"/>
          </p:nvPr>
        </p:nvSpPr>
        <p:spPr/>
        <p:txBody>
          <a:bodyPr>
            <a:normAutofit fontScale="97500" lnSpcReduction="10000"/>
          </a:bodyPr>
          <a:lstStyle/>
          <a:p>
            <a:r>
              <a:rPr lang="en-US" altLang="zh-CN" sz="3600" dirty="0"/>
              <a:t>Involving two types of cost</a:t>
            </a:r>
          </a:p>
          <a:p>
            <a:pPr lvl="1"/>
            <a:r>
              <a:rPr lang="en-US" altLang="zh-CN" sz="3200" dirty="0"/>
              <a:t>The cost of introducing the mechanisms to make the system more modifiable</a:t>
            </a:r>
          </a:p>
          <a:p>
            <a:pPr lvl="2"/>
            <a:r>
              <a:rPr lang="en-US" altLang="zh-CN" sz="2740" dirty="0"/>
              <a:t>e.g. 最简单的变更机制是等待变更请求进来，然后变更源代码以适应该请求, cost = 0</a:t>
            </a:r>
          </a:p>
          <a:p>
            <a:pPr lvl="1"/>
            <a:r>
              <a:rPr lang="en-US" altLang="zh-CN" sz="3200" dirty="0"/>
              <a:t>The cost of making the modification using the mechanisms</a:t>
            </a:r>
          </a:p>
          <a:p>
            <a:pPr lvl="2"/>
            <a:r>
              <a:rPr lang="en-US" altLang="zh-CN" sz="2740" dirty="0"/>
              <a:t>e.g. cost -&gt; max</a:t>
            </a:r>
          </a:p>
          <a:p>
            <a:pPr marL="0" lvl="0" indent="0">
              <a:buNone/>
            </a:pPr>
            <a:r>
              <a:rPr lang="en-US" altLang="zh-CN" sz="3000" dirty="0">
                <a:solidFill>
                  <a:schemeClr val="bg1">
                    <a:lumMod val="65000"/>
                  </a:schemeClr>
                </a:solidFill>
              </a:rPr>
              <a:t>It might be cheaper in the long run to build a sophisticated change-handling mechanism</a:t>
            </a:r>
          </a:p>
        </p:txBody>
      </p:sp>
      <p:sp>
        <p:nvSpPr>
          <p:cNvPr id="4" name="页脚占位符 3"/>
          <p:cNvSpPr>
            <a:spLocks noGrp="1"/>
          </p:cNvSpPr>
          <p:nvPr>
            <p:ph type="ftr" sz="quarter" idx="11"/>
          </p:nvPr>
        </p:nvSpPr>
        <p:spPr/>
        <p:txBody>
          <a:bodyPr/>
          <a:lstStyle/>
          <a:p>
            <a:r>
              <a:rPr lang="en-US"/>
              <a:t>© Software Architecture</a:t>
            </a:r>
            <a:endParaRPr lang="en-AU" dirty="0"/>
          </a:p>
        </p:txBody>
      </p:sp>
      <p:pic>
        <p:nvPicPr>
          <p:cNvPr id="6" name="图片 5">
            <a:extLst>
              <a:ext uri="{FF2B5EF4-FFF2-40B4-BE49-F238E27FC236}">
                <a16:creationId xmlns:a16="http://schemas.microsoft.com/office/drawing/2014/main" id="{9E0F1AC2-1330-6364-DC31-96404993E6A6}"/>
              </a:ext>
            </a:extLst>
          </p:cNvPr>
          <p:cNvPicPr>
            <a:picLocks noChangeAspect="1"/>
          </p:cNvPicPr>
          <p:nvPr/>
        </p:nvPicPr>
        <p:blipFill>
          <a:blip r:embed="rId3"/>
          <a:stretch>
            <a:fillRect/>
          </a:stretch>
        </p:blipFill>
        <p:spPr>
          <a:xfrm>
            <a:off x="1529143" y="5800857"/>
            <a:ext cx="6085714" cy="105714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DFEC00-C8F8-B8BC-5E0A-03F58DE6F4F4}"/>
              </a:ext>
            </a:extLst>
          </p:cNvPr>
          <p:cNvSpPr>
            <a:spLocks noGrp="1"/>
          </p:cNvSpPr>
          <p:nvPr>
            <p:ph type="title"/>
          </p:nvPr>
        </p:nvSpPr>
        <p:spPr/>
        <p:txBody>
          <a:bodyPr/>
          <a:lstStyle/>
          <a:p>
            <a:r>
              <a:rPr lang="en-US" altLang="zh-CN" dirty="0"/>
              <a:t>What is the cost of the change?</a:t>
            </a:r>
            <a:endParaRPr lang="zh-CN" altLang="en-US" dirty="0"/>
          </a:p>
        </p:txBody>
      </p:sp>
      <p:sp>
        <p:nvSpPr>
          <p:cNvPr id="3" name="内容占位符 2">
            <a:extLst>
              <a:ext uri="{FF2B5EF4-FFF2-40B4-BE49-F238E27FC236}">
                <a16:creationId xmlns:a16="http://schemas.microsoft.com/office/drawing/2014/main" id="{49D01A23-FAA8-F808-207F-AA372FC7C342}"/>
              </a:ext>
            </a:extLst>
          </p:cNvPr>
          <p:cNvSpPr>
            <a:spLocks noGrp="1"/>
          </p:cNvSpPr>
          <p:nvPr>
            <p:ph idx="1"/>
          </p:nvPr>
        </p:nvSpPr>
        <p:spPr/>
        <p:txBody>
          <a:bodyPr/>
          <a:lstStyle/>
          <a:p>
            <a:endParaRPr lang="zh-CN" altLang="en-US"/>
          </a:p>
        </p:txBody>
      </p:sp>
      <p:sp>
        <p:nvSpPr>
          <p:cNvPr id="4" name="页脚占位符 3">
            <a:extLst>
              <a:ext uri="{FF2B5EF4-FFF2-40B4-BE49-F238E27FC236}">
                <a16:creationId xmlns:a16="http://schemas.microsoft.com/office/drawing/2014/main" id="{CD0AB1E9-6B72-CDD3-F022-44D8A67FF5D2}"/>
              </a:ext>
            </a:extLst>
          </p:cNvPr>
          <p:cNvSpPr>
            <a:spLocks noGrp="1"/>
          </p:cNvSpPr>
          <p:nvPr>
            <p:ph type="ftr" sz="quarter" idx="11"/>
          </p:nvPr>
        </p:nvSpPr>
        <p:spPr/>
        <p:txBody>
          <a:bodyPr/>
          <a:lstStyle/>
          <a:p>
            <a:r>
              <a:rPr lang="en-US"/>
              <a:t>© Software Architecture</a:t>
            </a:r>
            <a:endParaRPr lang="en-AU" dirty="0"/>
          </a:p>
        </p:txBody>
      </p:sp>
      <p:pic>
        <p:nvPicPr>
          <p:cNvPr id="8" name="图片 7">
            <a:extLst>
              <a:ext uri="{FF2B5EF4-FFF2-40B4-BE49-F238E27FC236}">
                <a16:creationId xmlns:a16="http://schemas.microsoft.com/office/drawing/2014/main" id="{A7763064-6F3B-8D0A-36AA-AB2B48A0F1EB}"/>
              </a:ext>
            </a:extLst>
          </p:cNvPr>
          <p:cNvPicPr>
            <a:picLocks noChangeAspect="1"/>
          </p:cNvPicPr>
          <p:nvPr/>
        </p:nvPicPr>
        <p:blipFill>
          <a:blip r:embed="rId2"/>
          <a:stretch>
            <a:fillRect/>
          </a:stretch>
        </p:blipFill>
        <p:spPr>
          <a:xfrm>
            <a:off x="-8733" y="2204864"/>
            <a:ext cx="9144000" cy="584252"/>
          </a:xfrm>
          <a:prstGeom prst="rect">
            <a:avLst/>
          </a:prstGeom>
        </p:spPr>
      </p:pic>
      <p:pic>
        <p:nvPicPr>
          <p:cNvPr id="10" name="图片 9">
            <a:extLst>
              <a:ext uri="{FF2B5EF4-FFF2-40B4-BE49-F238E27FC236}">
                <a16:creationId xmlns:a16="http://schemas.microsoft.com/office/drawing/2014/main" id="{A0B51CE7-E5B3-73DB-D2C7-F3488FFF1525}"/>
              </a:ext>
            </a:extLst>
          </p:cNvPr>
          <p:cNvPicPr>
            <a:picLocks noChangeAspect="1"/>
          </p:cNvPicPr>
          <p:nvPr/>
        </p:nvPicPr>
        <p:blipFill>
          <a:blip r:embed="rId3"/>
          <a:stretch>
            <a:fillRect/>
          </a:stretch>
        </p:blipFill>
        <p:spPr>
          <a:xfrm>
            <a:off x="107504" y="2773646"/>
            <a:ext cx="8928992" cy="1630992"/>
          </a:xfrm>
          <a:prstGeom prst="rect">
            <a:avLst/>
          </a:prstGeom>
        </p:spPr>
      </p:pic>
    </p:spTree>
    <p:extLst>
      <p:ext uri="{BB962C8B-B14F-4D97-AF65-F5344CB8AC3E}">
        <p14:creationId xmlns:p14="http://schemas.microsoft.com/office/powerpoint/2010/main" val="1337322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812B3B-38C4-EDDA-3CF9-8E8A0D435E78}"/>
              </a:ext>
            </a:extLst>
          </p:cNvPr>
          <p:cNvSpPr>
            <a:spLocks noGrp="1"/>
          </p:cNvSpPr>
          <p:nvPr>
            <p:ph type="title"/>
          </p:nvPr>
        </p:nvSpPr>
        <p:spPr/>
        <p:txBody>
          <a:bodyPr/>
          <a:lstStyle/>
          <a:p>
            <a:r>
              <a:rPr lang="en-US" altLang="zh-CN" dirty="0"/>
              <a:t>What is the cost of the change?</a:t>
            </a:r>
            <a:endParaRPr lang="zh-CN" altLang="en-US" dirty="0"/>
          </a:p>
        </p:txBody>
      </p:sp>
      <p:pic>
        <p:nvPicPr>
          <p:cNvPr id="6" name="内容占位符 5">
            <a:extLst>
              <a:ext uri="{FF2B5EF4-FFF2-40B4-BE49-F238E27FC236}">
                <a16:creationId xmlns:a16="http://schemas.microsoft.com/office/drawing/2014/main" id="{38A9ADEF-7611-C28A-7BB7-27CC867161B4}"/>
              </a:ext>
            </a:extLst>
          </p:cNvPr>
          <p:cNvPicPr>
            <a:picLocks noGrp="1" noChangeAspect="1"/>
          </p:cNvPicPr>
          <p:nvPr>
            <p:ph idx="1"/>
          </p:nvPr>
        </p:nvPicPr>
        <p:blipFill>
          <a:blip r:embed="rId2"/>
          <a:stretch>
            <a:fillRect/>
          </a:stretch>
        </p:blipFill>
        <p:spPr>
          <a:xfrm>
            <a:off x="457200" y="2342415"/>
            <a:ext cx="8229600" cy="2709746"/>
          </a:xfrm>
          <a:prstGeom prst="rect">
            <a:avLst/>
          </a:prstGeom>
        </p:spPr>
      </p:pic>
      <p:sp>
        <p:nvSpPr>
          <p:cNvPr id="4" name="页脚占位符 3">
            <a:extLst>
              <a:ext uri="{FF2B5EF4-FFF2-40B4-BE49-F238E27FC236}">
                <a16:creationId xmlns:a16="http://schemas.microsoft.com/office/drawing/2014/main" id="{18443B01-F41F-1A92-C006-261D9B7C7626}"/>
              </a:ext>
            </a:extLst>
          </p:cNvPr>
          <p:cNvSpPr>
            <a:spLocks noGrp="1"/>
          </p:cNvSpPr>
          <p:nvPr>
            <p:ph type="ftr" sz="quarter" idx="11"/>
          </p:nvPr>
        </p:nvSpPr>
        <p:spPr/>
        <p:txBody>
          <a:bodyPr/>
          <a:lstStyle/>
          <a:p>
            <a:r>
              <a:rPr lang="en-US"/>
              <a:t>© Software Architecture</a:t>
            </a:r>
            <a:endParaRPr lang="en-AU" dirty="0"/>
          </a:p>
        </p:txBody>
      </p:sp>
    </p:spTree>
    <p:extLst>
      <p:ext uri="{BB962C8B-B14F-4D97-AF65-F5344CB8AC3E}">
        <p14:creationId xmlns:p14="http://schemas.microsoft.com/office/powerpoint/2010/main" val="749597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06EF61-6C0E-D906-E889-F43C662FCFFF}"/>
              </a:ext>
            </a:extLst>
          </p:cNvPr>
          <p:cNvSpPr>
            <a:spLocks noGrp="1"/>
          </p:cNvSpPr>
          <p:nvPr>
            <p:ph type="title"/>
          </p:nvPr>
        </p:nvSpPr>
        <p:spPr>
          <a:xfrm>
            <a:off x="457200" y="274638"/>
            <a:ext cx="8229600" cy="778098"/>
          </a:xfrm>
        </p:spPr>
        <p:txBody>
          <a:bodyPr/>
          <a:lstStyle/>
          <a:p>
            <a:r>
              <a:rPr lang="en-US" altLang="zh-CN" dirty="0"/>
              <a:t>Specific Types of Changes</a:t>
            </a:r>
            <a:endParaRPr lang="zh-CN" altLang="en-US" dirty="0"/>
          </a:p>
        </p:txBody>
      </p:sp>
      <p:sp>
        <p:nvSpPr>
          <p:cNvPr id="3" name="内容占位符 2">
            <a:extLst>
              <a:ext uri="{FF2B5EF4-FFF2-40B4-BE49-F238E27FC236}">
                <a16:creationId xmlns:a16="http://schemas.microsoft.com/office/drawing/2014/main" id="{A88FE211-4354-8260-CE18-EA7988F6F561}"/>
              </a:ext>
            </a:extLst>
          </p:cNvPr>
          <p:cNvSpPr>
            <a:spLocks noGrp="1"/>
          </p:cNvSpPr>
          <p:nvPr>
            <p:ph idx="1"/>
          </p:nvPr>
        </p:nvSpPr>
        <p:spPr/>
        <p:txBody>
          <a:bodyPr/>
          <a:lstStyle/>
          <a:p>
            <a:endParaRPr lang="zh-CN" altLang="en-US"/>
          </a:p>
        </p:txBody>
      </p:sp>
      <p:sp>
        <p:nvSpPr>
          <p:cNvPr id="4" name="页脚占位符 3">
            <a:extLst>
              <a:ext uri="{FF2B5EF4-FFF2-40B4-BE49-F238E27FC236}">
                <a16:creationId xmlns:a16="http://schemas.microsoft.com/office/drawing/2014/main" id="{938F8650-39BB-CBB8-0FEB-8EDE784F8E1E}"/>
              </a:ext>
            </a:extLst>
          </p:cNvPr>
          <p:cNvSpPr>
            <a:spLocks noGrp="1"/>
          </p:cNvSpPr>
          <p:nvPr>
            <p:ph type="ftr" sz="quarter" idx="11"/>
          </p:nvPr>
        </p:nvSpPr>
        <p:spPr/>
        <p:txBody>
          <a:bodyPr/>
          <a:lstStyle/>
          <a:p>
            <a:r>
              <a:rPr lang="en-US"/>
              <a:t>© Software Architecture</a:t>
            </a:r>
            <a:endParaRPr lang="en-AU" dirty="0"/>
          </a:p>
        </p:txBody>
      </p:sp>
      <p:pic>
        <p:nvPicPr>
          <p:cNvPr id="6" name="图片 5">
            <a:extLst>
              <a:ext uri="{FF2B5EF4-FFF2-40B4-BE49-F238E27FC236}">
                <a16:creationId xmlns:a16="http://schemas.microsoft.com/office/drawing/2014/main" id="{5FCA8487-820B-EDDF-70C0-FADDFC3B3D70}"/>
              </a:ext>
            </a:extLst>
          </p:cNvPr>
          <p:cNvPicPr>
            <a:picLocks noChangeAspect="1"/>
          </p:cNvPicPr>
          <p:nvPr/>
        </p:nvPicPr>
        <p:blipFill>
          <a:blip r:embed="rId2"/>
          <a:stretch>
            <a:fillRect/>
          </a:stretch>
        </p:blipFill>
        <p:spPr>
          <a:xfrm>
            <a:off x="186286" y="2225707"/>
            <a:ext cx="8771428" cy="2685714"/>
          </a:xfrm>
          <a:prstGeom prst="rect">
            <a:avLst/>
          </a:prstGeom>
        </p:spPr>
      </p:pic>
    </p:spTree>
    <p:extLst>
      <p:ext uri="{BB962C8B-B14F-4D97-AF65-F5344CB8AC3E}">
        <p14:creationId xmlns:p14="http://schemas.microsoft.com/office/powerpoint/2010/main" val="387944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FE211-4140-B2B7-1712-734EC610DF3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6FAC356-6E22-6EED-8D6E-607BE8D4FA97}"/>
              </a:ext>
            </a:extLst>
          </p:cNvPr>
          <p:cNvSpPr>
            <a:spLocks noGrp="1"/>
          </p:cNvSpPr>
          <p:nvPr>
            <p:ph type="title"/>
          </p:nvPr>
        </p:nvSpPr>
        <p:spPr>
          <a:xfrm>
            <a:off x="457200" y="274638"/>
            <a:ext cx="8229600" cy="778098"/>
          </a:xfrm>
        </p:spPr>
        <p:txBody>
          <a:bodyPr/>
          <a:lstStyle/>
          <a:p>
            <a:r>
              <a:rPr lang="en-US" altLang="zh-CN" dirty="0"/>
              <a:t>Specific Types of Changes</a:t>
            </a:r>
            <a:endParaRPr lang="zh-CN" altLang="en-US" dirty="0"/>
          </a:p>
        </p:txBody>
      </p:sp>
      <p:sp>
        <p:nvSpPr>
          <p:cNvPr id="3" name="内容占位符 2">
            <a:extLst>
              <a:ext uri="{FF2B5EF4-FFF2-40B4-BE49-F238E27FC236}">
                <a16:creationId xmlns:a16="http://schemas.microsoft.com/office/drawing/2014/main" id="{CEF835C2-6041-097E-D74C-BCE0A5A72E49}"/>
              </a:ext>
            </a:extLst>
          </p:cNvPr>
          <p:cNvSpPr>
            <a:spLocks noGrp="1"/>
          </p:cNvSpPr>
          <p:nvPr>
            <p:ph idx="1"/>
          </p:nvPr>
        </p:nvSpPr>
        <p:spPr/>
        <p:txBody>
          <a:bodyPr/>
          <a:lstStyle/>
          <a:p>
            <a:endParaRPr lang="zh-CN" altLang="en-US"/>
          </a:p>
        </p:txBody>
      </p:sp>
      <p:sp>
        <p:nvSpPr>
          <p:cNvPr id="4" name="页脚占位符 3">
            <a:extLst>
              <a:ext uri="{FF2B5EF4-FFF2-40B4-BE49-F238E27FC236}">
                <a16:creationId xmlns:a16="http://schemas.microsoft.com/office/drawing/2014/main" id="{A2632359-439F-3DBA-DD49-F3B33FDADB3C}"/>
              </a:ext>
            </a:extLst>
          </p:cNvPr>
          <p:cNvSpPr>
            <a:spLocks noGrp="1"/>
          </p:cNvSpPr>
          <p:nvPr>
            <p:ph type="ftr" sz="quarter" idx="11"/>
          </p:nvPr>
        </p:nvSpPr>
        <p:spPr/>
        <p:txBody>
          <a:bodyPr/>
          <a:lstStyle/>
          <a:p>
            <a:r>
              <a:rPr lang="en-US"/>
              <a:t>© Software Architecture</a:t>
            </a:r>
            <a:endParaRPr lang="en-AU" dirty="0"/>
          </a:p>
        </p:txBody>
      </p:sp>
      <p:pic>
        <p:nvPicPr>
          <p:cNvPr id="7" name="图片 6">
            <a:extLst>
              <a:ext uri="{FF2B5EF4-FFF2-40B4-BE49-F238E27FC236}">
                <a16:creationId xmlns:a16="http://schemas.microsoft.com/office/drawing/2014/main" id="{03616744-3D0C-90C9-1F1D-F36E74389FAE}"/>
              </a:ext>
            </a:extLst>
          </p:cNvPr>
          <p:cNvPicPr>
            <a:picLocks noChangeAspect="1"/>
          </p:cNvPicPr>
          <p:nvPr/>
        </p:nvPicPr>
        <p:blipFill>
          <a:blip r:embed="rId2"/>
          <a:stretch>
            <a:fillRect/>
          </a:stretch>
        </p:blipFill>
        <p:spPr>
          <a:xfrm>
            <a:off x="157714" y="2400428"/>
            <a:ext cx="8828571" cy="2057143"/>
          </a:xfrm>
          <a:prstGeom prst="rect">
            <a:avLst/>
          </a:prstGeom>
        </p:spPr>
      </p:pic>
    </p:spTree>
    <p:extLst>
      <p:ext uri="{BB962C8B-B14F-4D97-AF65-F5344CB8AC3E}">
        <p14:creationId xmlns:p14="http://schemas.microsoft.com/office/powerpoint/2010/main" val="38443090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F9761-480D-4880-79EF-13F5AD92042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09DAA15-6ECC-F032-8ADB-BCAEF7C2F2DF}"/>
              </a:ext>
            </a:extLst>
          </p:cNvPr>
          <p:cNvSpPr>
            <a:spLocks noGrp="1"/>
          </p:cNvSpPr>
          <p:nvPr>
            <p:ph type="title"/>
          </p:nvPr>
        </p:nvSpPr>
        <p:spPr>
          <a:xfrm>
            <a:off x="457200" y="274638"/>
            <a:ext cx="8229600" cy="778098"/>
          </a:xfrm>
        </p:spPr>
        <p:txBody>
          <a:bodyPr/>
          <a:lstStyle/>
          <a:p>
            <a:r>
              <a:rPr lang="en-US" altLang="zh-CN" dirty="0"/>
              <a:t>Specific Types of Changes</a:t>
            </a:r>
            <a:endParaRPr lang="zh-CN" altLang="en-US" dirty="0"/>
          </a:p>
        </p:txBody>
      </p:sp>
      <p:sp>
        <p:nvSpPr>
          <p:cNvPr id="3" name="内容占位符 2">
            <a:extLst>
              <a:ext uri="{FF2B5EF4-FFF2-40B4-BE49-F238E27FC236}">
                <a16:creationId xmlns:a16="http://schemas.microsoft.com/office/drawing/2014/main" id="{C897B6E1-369C-A222-3605-E1B5FCA4AE91}"/>
              </a:ext>
            </a:extLst>
          </p:cNvPr>
          <p:cNvSpPr>
            <a:spLocks noGrp="1"/>
          </p:cNvSpPr>
          <p:nvPr>
            <p:ph idx="1"/>
          </p:nvPr>
        </p:nvSpPr>
        <p:spPr/>
        <p:txBody>
          <a:bodyPr/>
          <a:lstStyle/>
          <a:p>
            <a:endParaRPr lang="zh-CN" altLang="en-US"/>
          </a:p>
        </p:txBody>
      </p:sp>
      <p:sp>
        <p:nvSpPr>
          <p:cNvPr id="4" name="页脚占位符 3">
            <a:extLst>
              <a:ext uri="{FF2B5EF4-FFF2-40B4-BE49-F238E27FC236}">
                <a16:creationId xmlns:a16="http://schemas.microsoft.com/office/drawing/2014/main" id="{92854202-F375-12FC-DBB3-B2C24B8F82DE}"/>
              </a:ext>
            </a:extLst>
          </p:cNvPr>
          <p:cNvSpPr>
            <a:spLocks noGrp="1"/>
          </p:cNvSpPr>
          <p:nvPr>
            <p:ph type="ftr" sz="quarter" idx="11"/>
          </p:nvPr>
        </p:nvSpPr>
        <p:spPr/>
        <p:txBody>
          <a:bodyPr/>
          <a:lstStyle/>
          <a:p>
            <a:r>
              <a:rPr lang="en-US"/>
              <a:t>© Software Architecture</a:t>
            </a:r>
            <a:endParaRPr lang="en-AU" dirty="0"/>
          </a:p>
        </p:txBody>
      </p:sp>
      <p:pic>
        <p:nvPicPr>
          <p:cNvPr id="7" name="图片 6">
            <a:extLst>
              <a:ext uri="{FF2B5EF4-FFF2-40B4-BE49-F238E27FC236}">
                <a16:creationId xmlns:a16="http://schemas.microsoft.com/office/drawing/2014/main" id="{C18F2434-6088-5E23-95D3-922A3DC7253C}"/>
              </a:ext>
            </a:extLst>
          </p:cNvPr>
          <p:cNvPicPr>
            <a:picLocks noChangeAspect="1"/>
          </p:cNvPicPr>
          <p:nvPr/>
        </p:nvPicPr>
        <p:blipFill>
          <a:blip r:embed="rId2"/>
          <a:stretch>
            <a:fillRect/>
          </a:stretch>
        </p:blipFill>
        <p:spPr>
          <a:xfrm>
            <a:off x="148190" y="1916832"/>
            <a:ext cx="8847619" cy="1057143"/>
          </a:xfrm>
          <a:prstGeom prst="rect">
            <a:avLst/>
          </a:prstGeom>
        </p:spPr>
      </p:pic>
      <p:pic>
        <p:nvPicPr>
          <p:cNvPr id="9" name="图片 8">
            <a:extLst>
              <a:ext uri="{FF2B5EF4-FFF2-40B4-BE49-F238E27FC236}">
                <a16:creationId xmlns:a16="http://schemas.microsoft.com/office/drawing/2014/main" id="{3D0D5AB2-1572-5298-2C6D-5B8545952AB8}"/>
              </a:ext>
            </a:extLst>
          </p:cNvPr>
          <p:cNvPicPr>
            <a:picLocks noChangeAspect="1"/>
          </p:cNvPicPr>
          <p:nvPr/>
        </p:nvPicPr>
        <p:blipFill>
          <a:blip r:embed="rId3"/>
          <a:stretch>
            <a:fillRect/>
          </a:stretch>
        </p:blipFill>
        <p:spPr>
          <a:xfrm>
            <a:off x="539552" y="2852936"/>
            <a:ext cx="8504762" cy="1057143"/>
          </a:xfrm>
          <a:prstGeom prst="rect">
            <a:avLst/>
          </a:prstGeom>
        </p:spPr>
      </p:pic>
    </p:spTree>
    <p:extLst>
      <p:ext uri="{BB962C8B-B14F-4D97-AF65-F5344CB8AC3E}">
        <p14:creationId xmlns:p14="http://schemas.microsoft.com/office/powerpoint/2010/main" val="38499686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A6B98-0676-4285-226D-9A1EDE02D77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BAFA5BA-8460-AA9E-24DE-DABA66396C83}"/>
              </a:ext>
            </a:extLst>
          </p:cNvPr>
          <p:cNvSpPr>
            <a:spLocks noGrp="1"/>
          </p:cNvSpPr>
          <p:nvPr>
            <p:ph type="title"/>
          </p:nvPr>
        </p:nvSpPr>
        <p:spPr>
          <a:xfrm>
            <a:off x="457200" y="274638"/>
            <a:ext cx="8229600" cy="778098"/>
          </a:xfrm>
        </p:spPr>
        <p:txBody>
          <a:bodyPr/>
          <a:lstStyle/>
          <a:p>
            <a:r>
              <a:rPr lang="en-US" altLang="zh-CN" dirty="0"/>
              <a:t>Specific Types of Changes</a:t>
            </a:r>
            <a:endParaRPr lang="zh-CN" altLang="en-US" dirty="0"/>
          </a:p>
        </p:txBody>
      </p:sp>
      <p:pic>
        <p:nvPicPr>
          <p:cNvPr id="6" name="内容占位符 5">
            <a:extLst>
              <a:ext uri="{FF2B5EF4-FFF2-40B4-BE49-F238E27FC236}">
                <a16:creationId xmlns:a16="http://schemas.microsoft.com/office/drawing/2014/main" id="{91F99DFA-EDBA-D4CD-902D-511471A9CD51}"/>
              </a:ext>
            </a:extLst>
          </p:cNvPr>
          <p:cNvPicPr>
            <a:picLocks noGrp="1" noChangeAspect="1"/>
          </p:cNvPicPr>
          <p:nvPr>
            <p:ph idx="1"/>
          </p:nvPr>
        </p:nvPicPr>
        <p:blipFill>
          <a:blip r:embed="rId2"/>
          <a:stretch>
            <a:fillRect/>
          </a:stretch>
        </p:blipFill>
        <p:spPr>
          <a:xfrm>
            <a:off x="179512" y="2926580"/>
            <a:ext cx="8833610" cy="1654548"/>
          </a:xfrm>
          <a:prstGeom prst="rect">
            <a:avLst/>
          </a:prstGeom>
        </p:spPr>
      </p:pic>
      <p:sp>
        <p:nvSpPr>
          <p:cNvPr id="4" name="页脚占位符 3">
            <a:extLst>
              <a:ext uri="{FF2B5EF4-FFF2-40B4-BE49-F238E27FC236}">
                <a16:creationId xmlns:a16="http://schemas.microsoft.com/office/drawing/2014/main" id="{8CC543A1-0880-D6D7-546B-F551E3047092}"/>
              </a:ext>
            </a:extLst>
          </p:cNvPr>
          <p:cNvSpPr>
            <a:spLocks noGrp="1"/>
          </p:cNvSpPr>
          <p:nvPr>
            <p:ph type="ftr" sz="quarter" idx="11"/>
          </p:nvPr>
        </p:nvSpPr>
        <p:spPr/>
        <p:txBody>
          <a:bodyPr/>
          <a:lstStyle/>
          <a:p>
            <a:r>
              <a:rPr lang="en-US"/>
              <a:t>© Software Architecture</a:t>
            </a:r>
            <a:endParaRPr lang="en-AU" dirty="0"/>
          </a:p>
        </p:txBody>
      </p:sp>
    </p:spTree>
    <p:extLst>
      <p:ext uri="{BB962C8B-B14F-4D97-AF65-F5344CB8AC3E}">
        <p14:creationId xmlns:p14="http://schemas.microsoft.com/office/powerpoint/2010/main" val="3346364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Modifiability General Scenario</a:t>
            </a:r>
          </a:p>
        </p:txBody>
      </p:sp>
      <p:sp>
        <p:nvSpPr>
          <p:cNvPr id="4" name="Footer Placeholder 3"/>
          <p:cNvSpPr>
            <a:spLocks noGrp="1"/>
          </p:cNvSpPr>
          <p:nvPr>
            <p:ph type="ftr" sz="quarter" idx="11"/>
          </p:nvPr>
        </p:nvSpPr>
        <p:spPr/>
        <p:txBody>
          <a:bodyPr/>
          <a:lstStyle/>
          <a:p>
            <a:r>
              <a:rPr lang="en-AU"/>
              <a:t>© Software Architecture</a:t>
            </a:r>
            <a:endParaRPr lang="en-AU" dirty="0"/>
          </a:p>
        </p:txBody>
      </p:sp>
      <p:graphicFrame>
        <p:nvGraphicFramePr>
          <p:cNvPr id="3" name="Table 2"/>
          <p:cNvGraphicFramePr>
            <a:graphicFrameLocks noGrp="1"/>
          </p:cNvGraphicFramePr>
          <p:nvPr>
            <p:custDataLst>
              <p:tags r:id="rId1"/>
            </p:custDataLst>
          </p:nvPr>
        </p:nvGraphicFramePr>
        <p:xfrm>
          <a:off x="0" y="1100418"/>
          <a:ext cx="9144000" cy="5757310"/>
        </p:xfrm>
        <a:graphic>
          <a:graphicData uri="http://schemas.openxmlformats.org/drawingml/2006/table">
            <a:tbl>
              <a:tblPr>
                <a:tableStyleId>{5C22544A-7EE6-4342-B048-85BDC9FD1C3A}</a:tableStyleId>
              </a:tblPr>
              <a:tblGrid>
                <a:gridCol w="1628140">
                  <a:extLst>
                    <a:ext uri="{9D8B030D-6E8A-4147-A177-3AD203B41FA5}">
                      <a16:colId xmlns:a16="http://schemas.microsoft.com/office/drawing/2014/main" val="20000"/>
                    </a:ext>
                  </a:extLst>
                </a:gridCol>
                <a:gridCol w="7515860">
                  <a:extLst>
                    <a:ext uri="{9D8B030D-6E8A-4147-A177-3AD203B41FA5}">
                      <a16:colId xmlns:a16="http://schemas.microsoft.com/office/drawing/2014/main" val="20001"/>
                    </a:ext>
                  </a:extLst>
                </a:gridCol>
              </a:tblGrid>
              <a:tr h="558165">
                <a:tc>
                  <a:txBody>
                    <a:bodyPr/>
                    <a:lstStyle/>
                    <a:p>
                      <a:pPr marL="0" marR="0">
                        <a:lnSpc>
                          <a:spcPct val="90000"/>
                        </a:lnSpc>
                        <a:spcBef>
                          <a:spcPts val="400"/>
                        </a:spcBef>
                        <a:spcAft>
                          <a:spcPts val="400"/>
                        </a:spcAft>
                      </a:pPr>
                      <a:r>
                        <a:rPr lang="en-US" sz="2000" b="1" dirty="0">
                          <a:effectLst/>
                        </a:rPr>
                        <a:t>Portion of </a:t>
                      </a:r>
                      <a:br>
                        <a:rPr lang="en-US" sz="2000" b="1" dirty="0">
                          <a:effectLst/>
                        </a:rPr>
                      </a:br>
                      <a:r>
                        <a:rPr lang="en-US" sz="2000" b="1" dirty="0">
                          <a:effectLst/>
                        </a:rPr>
                        <a:t>Scenario</a:t>
                      </a:r>
                      <a:endParaRPr lang="en-US" sz="2000" b="1" dirty="0">
                        <a:effectLst/>
                        <a:latin typeface="Times"/>
                        <a:ea typeface="Times New Roman" panose="02020603050405020304"/>
                        <a:cs typeface="Times New Roman" panose="02020603050405020304"/>
                      </a:endParaRPr>
                    </a:p>
                  </a:txBody>
                  <a:tcPr marL="68580" marR="68580" marT="0" marB="0"/>
                </a:tc>
                <a:tc>
                  <a:txBody>
                    <a:bodyPr/>
                    <a:lstStyle/>
                    <a:p>
                      <a:pPr marL="0" marR="0">
                        <a:lnSpc>
                          <a:spcPct val="90000"/>
                        </a:lnSpc>
                        <a:spcBef>
                          <a:spcPts val="400"/>
                        </a:spcBef>
                        <a:spcAft>
                          <a:spcPts val="400"/>
                        </a:spcAft>
                      </a:pPr>
                      <a:r>
                        <a:rPr lang="en-US" sz="2000" b="1" dirty="0">
                          <a:effectLst/>
                        </a:rPr>
                        <a:t>Possible Values</a:t>
                      </a:r>
                      <a:endParaRPr lang="en-US" sz="2000" b="1" dirty="0">
                        <a:effectLst/>
                        <a:latin typeface="Times"/>
                        <a:ea typeface="Times New Roman" panose="02020603050405020304"/>
                        <a:cs typeface="Times New Roman" panose="02020603050405020304"/>
                      </a:endParaRPr>
                    </a:p>
                  </a:txBody>
                  <a:tcPr marL="68580" marR="68580" marT="0" marB="0"/>
                </a:tc>
                <a:extLst>
                  <a:ext uri="{0D108BD9-81ED-4DB2-BD59-A6C34878D82A}">
                    <a16:rowId xmlns:a16="http://schemas.microsoft.com/office/drawing/2014/main" val="10000"/>
                  </a:ext>
                </a:extLst>
              </a:tr>
              <a:tr h="310242">
                <a:tc>
                  <a:txBody>
                    <a:bodyPr/>
                    <a:lstStyle/>
                    <a:p>
                      <a:pPr marL="0" marR="0">
                        <a:lnSpc>
                          <a:spcPct val="90000"/>
                        </a:lnSpc>
                        <a:spcBef>
                          <a:spcPts val="400"/>
                        </a:spcBef>
                        <a:spcAft>
                          <a:spcPts val="400"/>
                        </a:spcAft>
                      </a:pPr>
                      <a:r>
                        <a:rPr lang="en-US" sz="2000" dirty="0">
                          <a:effectLst/>
                        </a:rPr>
                        <a:t>Source</a:t>
                      </a:r>
                      <a:endParaRPr lang="en-US" sz="2000" dirty="0">
                        <a:effectLst/>
                        <a:latin typeface="Times"/>
                        <a:ea typeface="Times New Roman" panose="02020603050405020304"/>
                        <a:cs typeface="Times New Roman" panose="02020603050405020304"/>
                      </a:endParaRPr>
                    </a:p>
                  </a:txBody>
                  <a:tcPr marL="68580" marR="68580" marT="0" marB="0"/>
                </a:tc>
                <a:tc>
                  <a:txBody>
                    <a:bodyPr/>
                    <a:lstStyle/>
                    <a:p>
                      <a:pPr marL="0" marR="0">
                        <a:lnSpc>
                          <a:spcPct val="100000"/>
                        </a:lnSpc>
                        <a:spcBef>
                          <a:spcPts val="400"/>
                        </a:spcBef>
                        <a:spcAft>
                          <a:spcPts val="400"/>
                        </a:spcAft>
                      </a:pPr>
                      <a:r>
                        <a:rPr lang="en-US" sz="2000" dirty="0">
                          <a:effectLst/>
                        </a:rPr>
                        <a:t>End user, developer, system administrator</a:t>
                      </a:r>
                      <a:endParaRPr lang="en-US" sz="2000" dirty="0">
                        <a:effectLst/>
                        <a:latin typeface="Times"/>
                        <a:ea typeface="Times New Roman" panose="02020603050405020304"/>
                        <a:cs typeface="Times New Roman" panose="02020603050405020304"/>
                      </a:endParaRPr>
                    </a:p>
                  </a:txBody>
                  <a:tcPr marL="68580" marR="68580" marT="0" marB="0"/>
                </a:tc>
                <a:extLst>
                  <a:ext uri="{0D108BD9-81ED-4DB2-BD59-A6C34878D82A}">
                    <a16:rowId xmlns:a16="http://schemas.microsoft.com/office/drawing/2014/main" val="10001"/>
                  </a:ext>
                </a:extLst>
              </a:tr>
              <a:tr h="620485">
                <a:tc>
                  <a:txBody>
                    <a:bodyPr/>
                    <a:lstStyle/>
                    <a:p>
                      <a:pPr marL="0" marR="0">
                        <a:lnSpc>
                          <a:spcPct val="90000"/>
                        </a:lnSpc>
                        <a:spcBef>
                          <a:spcPts val="400"/>
                        </a:spcBef>
                        <a:spcAft>
                          <a:spcPts val="400"/>
                        </a:spcAft>
                      </a:pPr>
                      <a:r>
                        <a:rPr lang="en-US" sz="2000" b="1" dirty="0">
                          <a:solidFill>
                            <a:schemeClr val="tx2"/>
                          </a:solidFill>
                          <a:effectLst/>
                        </a:rPr>
                        <a:t>Stimulus</a:t>
                      </a:r>
                      <a:endParaRPr lang="en-US" sz="2000" b="1" dirty="0">
                        <a:solidFill>
                          <a:schemeClr val="tx2"/>
                        </a:solidFill>
                        <a:effectLst/>
                        <a:latin typeface="Times"/>
                        <a:ea typeface="Times New Roman" panose="02020603050405020304"/>
                        <a:cs typeface="Times New Roman" panose="02020603050405020304"/>
                      </a:endParaRPr>
                    </a:p>
                  </a:txBody>
                  <a:tcPr marL="68580" marR="68580" marT="0" marB="0"/>
                </a:tc>
                <a:tc>
                  <a:txBody>
                    <a:bodyPr/>
                    <a:lstStyle/>
                    <a:p>
                      <a:pPr marL="0" marR="0">
                        <a:lnSpc>
                          <a:spcPct val="100000"/>
                        </a:lnSpc>
                        <a:spcBef>
                          <a:spcPts val="400"/>
                        </a:spcBef>
                        <a:spcAft>
                          <a:spcPts val="400"/>
                        </a:spcAft>
                      </a:pPr>
                      <a:r>
                        <a:rPr lang="en-US" sz="2000" dirty="0">
                          <a:effectLst/>
                        </a:rPr>
                        <a:t>A directive to add/delete/modify functionality, or change a quality attribute, capacity, or technology</a:t>
                      </a:r>
                      <a:endParaRPr lang="en-US" sz="2000" dirty="0">
                        <a:effectLst/>
                        <a:latin typeface="Times"/>
                        <a:ea typeface="Times New Roman" panose="02020603050405020304"/>
                        <a:cs typeface="Times New Roman" panose="02020603050405020304"/>
                      </a:endParaRPr>
                    </a:p>
                  </a:txBody>
                  <a:tcPr marL="68580" marR="68580" marT="0" marB="0"/>
                </a:tc>
                <a:extLst>
                  <a:ext uri="{0D108BD9-81ED-4DB2-BD59-A6C34878D82A}">
                    <a16:rowId xmlns:a16="http://schemas.microsoft.com/office/drawing/2014/main" val="10002"/>
                  </a:ext>
                </a:extLst>
              </a:tr>
              <a:tr h="310242">
                <a:tc>
                  <a:txBody>
                    <a:bodyPr/>
                    <a:lstStyle/>
                    <a:p>
                      <a:pPr marL="0" marR="0">
                        <a:lnSpc>
                          <a:spcPct val="90000"/>
                        </a:lnSpc>
                        <a:spcBef>
                          <a:spcPts val="400"/>
                        </a:spcBef>
                        <a:spcAft>
                          <a:spcPts val="400"/>
                        </a:spcAft>
                      </a:pPr>
                      <a:r>
                        <a:rPr lang="en-US" sz="2000">
                          <a:effectLst/>
                        </a:rPr>
                        <a:t>Artifacts</a:t>
                      </a:r>
                      <a:endParaRPr lang="en-US" sz="2000">
                        <a:effectLst/>
                        <a:latin typeface="Times"/>
                        <a:ea typeface="Times New Roman" panose="02020603050405020304"/>
                        <a:cs typeface="Times New Roman" panose="02020603050405020304"/>
                      </a:endParaRPr>
                    </a:p>
                  </a:txBody>
                  <a:tcPr marL="68580" marR="68580" marT="0" marB="0"/>
                </a:tc>
                <a:tc>
                  <a:txBody>
                    <a:bodyPr/>
                    <a:lstStyle/>
                    <a:p>
                      <a:pPr marL="0" marR="0">
                        <a:lnSpc>
                          <a:spcPct val="100000"/>
                        </a:lnSpc>
                        <a:spcBef>
                          <a:spcPts val="400"/>
                        </a:spcBef>
                        <a:spcAft>
                          <a:spcPts val="400"/>
                        </a:spcAft>
                      </a:pPr>
                      <a:r>
                        <a:rPr lang="en-US" sz="2000" dirty="0">
                          <a:effectLst/>
                        </a:rPr>
                        <a:t>Code, data, interfaces, components, resources, configurations, … </a:t>
                      </a:r>
                      <a:endParaRPr lang="en-US" sz="2000" dirty="0">
                        <a:effectLst/>
                        <a:latin typeface="Times"/>
                        <a:ea typeface="Times New Roman" panose="02020603050405020304"/>
                        <a:cs typeface="Times New Roman" panose="02020603050405020304"/>
                      </a:endParaRPr>
                    </a:p>
                  </a:txBody>
                  <a:tcPr marL="68580" marR="68580" marT="0" marB="0"/>
                </a:tc>
                <a:extLst>
                  <a:ext uri="{0D108BD9-81ED-4DB2-BD59-A6C34878D82A}">
                    <a16:rowId xmlns:a16="http://schemas.microsoft.com/office/drawing/2014/main" val="10003"/>
                  </a:ext>
                </a:extLst>
              </a:tr>
              <a:tr h="310242">
                <a:tc>
                  <a:txBody>
                    <a:bodyPr/>
                    <a:lstStyle/>
                    <a:p>
                      <a:pPr marL="0" marR="0">
                        <a:lnSpc>
                          <a:spcPct val="90000"/>
                        </a:lnSpc>
                        <a:spcBef>
                          <a:spcPts val="400"/>
                        </a:spcBef>
                        <a:spcAft>
                          <a:spcPts val="400"/>
                        </a:spcAft>
                      </a:pPr>
                      <a:r>
                        <a:rPr lang="en-US" sz="2000">
                          <a:effectLst/>
                        </a:rPr>
                        <a:t>Environment</a:t>
                      </a:r>
                      <a:endParaRPr lang="en-US" sz="2000">
                        <a:effectLst/>
                        <a:latin typeface="Times"/>
                        <a:ea typeface="Times New Roman" panose="02020603050405020304"/>
                        <a:cs typeface="Times New Roman" panose="02020603050405020304"/>
                      </a:endParaRPr>
                    </a:p>
                  </a:txBody>
                  <a:tcPr marL="68580" marR="68580" marT="0" marB="0"/>
                </a:tc>
                <a:tc>
                  <a:txBody>
                    <a:bodyPr/>
                    <a:lstStyle/>
                    <a:p>
                      <a:pPr marL="0" marR="0">
                        <a:lnSpc>
                          <a:spcPct val="100000"/>
                        </a:lnSpc>
                        <a:spcBef>
                          <a:spcPts val="400"/>
                        </a:spcBef>
                        <a:spcAft>
                          <a:spcPts val="400"/>
                        </a:spcAft>
                      </a:pPr>
                      <a:r>
                        <a:rPr lang="en-US" sz="2000" dirty="0">
                          <a:effectLst/>
                        </a:rPr>
                        <a:t>Runtime, compile time, build time, initiation time, design time</a:t>
                      </a:r>
                      <a:endParaRPr lang="en-US" sz="2000" dirty="0">
                        <a:effectLst/>
                        <a:latin typeface="Times"/>
                        <a:ea typeface="Times New Roman" panose="02020603050405020304"/>
                        <a:cs typeface="Times New Roman" panose="02020603050405020304"/>
                      </a:endParaRPr>
                    </a:p>
                  </a:txBody>
                  <a:tcPr marL="68580" marR="68580" marT="0" marB="0"/>
                </a:tc>
                <a:extLst>
                  <a:ext uri="{0D108BD9-81ED-4DB2-BD59-A6C34878D82A}">
                    <a16:rowId xmlns:a16="http://schemas.microsoft.com/office/drawing/2014/main" val="10004"/>
                  </a:ext>
                </a:extLst>
              </a:tr>
              <a:tr h="1284921">
                <a:tc>
                  <a:txBody>
                    <a:bodyPr/>
                    <a:lstStyle/>
                    <a:p>
                      <a:pPr marL="0" marR="0">
                        <a:lnSpc>
                          <a:spcPct val="90000"/>
                        </a:lnSpc>
                        <a:spcBef>
                          <a:spcPts val="400"/>
                        </a:spcBef>
                        <a:spcAft>
                          <a:spcPts val="400"/>
                        </a:spcAft>
                      </a:pPr>
                      <a:r>
                        <a:rPr lang="en-US" sz="2000" b="1" dirty="0">
                          <a:solidFill>
                            <a:schemeClr val="tx2"/>
                          </a:solidFill>
                          <a:effectLst/>
                        </a:rPr>
                        <a:t>Response</a:t>
                      </a:r>
                      <a:endParaRPr lang="en-US" sz="2000" b="1" dirty="0">
                        <a:solidFill>
                          <a:schemeClr val="tx2"/>
                        </a:solidFill>
                        <a:effectLst/>
                        <a:latin typeface="Times"/>
                        <a:ea typeface="Times New Roman" panose="02020603050405020304"/>
                        <a:cs typeface="Times New Roman" panose="02020603050405020304"/>
                      </a:endParaRPr>
                    </a:p>
                  </a:txBody>
                  <a:tcPr marL="68580" marR="68580" marT="0" marB="0"/>
                </a:tc>
                <a:tc>
                  <a:txBody>
                    <a:bodyPr/>
                    <a:lstStyle/>
                    <a:p>
                      <a:pPr marL="0" marR="0">
                        <a:lnSpc>
                          <a:spcPct val="90000"/>
                        </a:lnSpc>
                        <a:spcBef>
                          <a:spcPts val="400"/>
                        </a:spcBef>
                        <a:spcAft>
                          <a:spcPts val="400"/>
                        </a:spcAft>
                      </a:pPr>
                      <a:r>
                        <a:rPr lang="en-US" sz="2000" dirty="0">
                          <a:effectLst/>
                        </a:rPr>
                        <a:t>One or more of the following:</a:t>
                      </a:r>
                    </a:p>
                    <a:p>
                      <a:pPr marL="342900" marR="0" lvl="0" indent="-342900">
                        <a:lnSpc>
                          <a:spcPct val="90000"/>
                        </a:lnSpc>
                        <a:spcBef>
                          <a:spcPts val="100"/>
                        </a:spcBef>
                        <a:spcAft>
                          <a:spcPts val="300"/>
                        </a:spcAft>
                        <a:buSzPts val="800"/>
                        <a:buFont typeface="Symbol" panose="05050102010706020507"/>
                        <a:buChar char=""/>
                        <a:tabLst>
                          <a:tab pos="228600" algn="l"/>
                          <a:tab pos="274320" algn="l"/>
                        </a:tabLst>
                      </a:pPr>
                      <a:r>
                        <a:rPr lang="en-US" sz="2000" kern="1100" dirty="0">
                          <a:effectLst/>
                        </a:rPr>
                        <a:t>make modification </a:t>
                      </a:r>
                    </a:p>
                    <a:p>
                      <a:pPr marL="342900" marR="0" lvl="0" indent="-342900">
                        <a:lnSpc>
                          <a:spcPct val="90000"/>
                        </a:lnSpc>
                        <a:spcBef>
                          <a:spcPts val="100"/>
                        </a:spcBef>
                        <a:spcAft>
                          <a:spcPts val="300"/>
                        </a:spcAft>
                        <a:buSzPts val="800"/>
                        <a:buFont typeface="Symbol" panose="05050102010706020507"/>
                        <a:buChar char=""/>
                        <a:tabLst>
                          <a:tab pos="228600" algn="l"/>
                          <a:tab pos="274320" algn="l"/>
                        </a:tabLst>
                      </a:pPr>
                      <a:r>
                        <a:rPr lang="en-US" sz="2000" kern="1100" dirty="0">
                          <a:effectLst/>
                        </a:rPr>
                        <a:t>test modification</a:t>
                      </a:r>
                    </a:p>
                    <a:p>
                      <a:pPr marL="342900" marR="0" lvl="0" indent="-342900">
                        <a:lnSpc>
                          <a:spcPct val="90000"/>
                        </a:lnSpc>
                        <a:spcBef>
                          <a:spcPts val="100"/>
                        </a:spcBef>
                        <a:spcAft>
                          <a:spcPts val="300"/>
                        </a:spcAft>
                        <a:buSzPts val="800"/>
                        <a:buFont typeface="Symbol" panose="05050102010706020507"/>
                        <a:buChar char=""/>
                        <a:tabLst>
                          <a:tab pos="228600" algn="l"/>
                          <a:tab pos="274320" algn="l"/>
                        </a:tabLst>
                      </a:pPr>
                      <a:r>
                        <a:rPr lang="en-US" sz="2000" kern="1100" dirty="0">
                          <a:effectLst/>
                        </a:rPr>
                        <a:t>deploy modification</a:t>
                      </a:r>
                      <a:endParaRPr lang="en-US" sz="2000" kern="1100" dirty="0">
                        <a:effectLst/>
                        <a:latin typeface="Times New Roman" panose="02020603050405020304"/>
                        <a:ea typeface="Times New Roman" panose="02020603050405020304"/>
                      </a:endParaRPr>
                    </a:p>
                  </a:txBody>
                  <a:tcPr marL="68580" marR="68580" marT="0" marB="0"/>
                </a:tc>
                <a:extLst>
                  <a:ext uri="{0D108BD9-81ED-4DB2-BD59-A6C34878D82A}">
                    <a16:rowId xmlns:a16="http://schemas.microsoft.com/office/drawing/2014/main" val="10005"/>
                  </a:ext>
                </a:extLst>
              </a:tr>
              <a:tr h="2363013">
                <a:tc>
                  <a:txBody>
                    <a:bodyPr/>
                    <a:lstStyle/>
                    <a:p>
                      <a:pPr marL="0" marR="0">
                        <a:lnSpc>
                          <a:spcPct val="90000"/>
                        </a:lnSpc>
                        <a:spcBef>
                          <a:spcPts val="400"/>
                        </a:spcBef>
                        <a:spcAft>
                          <a:spcPts val="400"/>
                        </a:spcAft>
                      </a:pPr>
                      <a:r>
                        <a:rPr lang="en-US" sz="2000" b="1" dirty="0">
                          <a:solidFill>
                            <a:schemeClr val="tx2"/>
                          </a:solidFill>
                          <a:effectLst/>
                        </a:rPr>
                        <a:t>Response </a:t>
                      </a:r>
                      <a:br>
                        <a:rPr lang="en-US" sz="2000" b="1" dirty="0">
                          <a:solidFill>
                            <a:schemeClr val="tx2"/>
                          </a:solidFill>
                          <a:effectLst/>
                        </a:rPr>
                      </a:br>
                      <a:r>
                        <a:rPr lang="en-US" sz="2000" b="1" dirty="0">
                          <a:solidFill>
                            <a:schemeClr val="tx2"/>
                          </a:solidFill>
                          <a:effectLst/>
                        </a:rPr>
                        <a:t>Measure</a:t>
                      </a:r>
                    </a:p>
                    <a:p>
                      <a:pPr marL="0" marR="0">
                        <a:lnSpc>
                          <a:spcPct val="90000"/>
                        </a:lnSpc>
                        <a:spcBef>
                          <a:spcPts val="400"/>
                        </a:spcBef>
                        <a:spcAft>
                          <a:spcPts val="400"/>
                        </a:spcAft>
                      </a:pPr>
                      <a:r>
                        <a:rPr lang="en-US" sz="2000" dirty="0">
                          <a:effectLst/>
                        </a:rPr>
                        <a:t> </a:t>
                      </a:r>
                      <a:endParaRPr lang="en-US" sz="2000" dirty="0">
                        <a:effectLst/>
                        <a:latin typeface="Times"/>
                        <a:ea typeface="Times New Roman" panose="02020603050405020304"/>
                        <a:cs typeface="Times New Roman" panose="02020603050405020304"/>
                      </a:endParaRPr>
                    </a:p>
                  </a:txBody>
                  <a:tcPr marL="68580" marR="68580" marT="0" marB="0"/>
                </a:tc>
                <a:tc>
                  <a:txBody>
                    <a:bodyPr/>
                    <a:lstStyle/>
                    <a:p>
                      <a:pPr marL="0" marR="0">
                        <a:lnSpc>
                          <a:spcPct val="90000"/>
                        </a:lnSpc>
                        <a:spcBef>
                          <a:spcPts val="400"/>
                        </a:spcBef>
                        <a:spcAft>
                          <a:spcPts val="400"/>
                        </a:spcAft>
                      </a:pPr>
                      <a:r>
                        <a:rPr lang="en-US" sz="2000" dirty="0">
                          <a:effectLst/>
                        </a:rPr>
                        <a:t>Cost in terms of:</a:t>
                      </a:r>
                    </a:p>
                    <a:p>
                      <a:pPr marL="342900" marR="0" lvl="0" indent="-342900">
                        <a:lnSpc>
                          <a:spcPct val="90000"/>
                        </a:lnSpc>
                        <a:spcBef>
                          <a:spcPts val="100"/>
                        </a:spcBef>
                        <a:spcAft>
                          <a:spcPts val="0"/>
                        </a:spcAft>
                        <a:buSzPts val="800"/>
                        <a:buFont typeface="Symbol" panose="05050102010706020507"/>
                        <a:buChar char=""/>
                        <a:tabLst>
                          <a:tab pos="228600" algn="l"/>
                          <a:tab pos="274320" algn="l"/>
                        </a:tabLst>
                      </a:pPr>
                      <a:r>
                        <a:rPr lang="en-US" sz="2000" kern="1100" dirty="0">
                          <a:effectLst/>
                        </a:rPr>
                        <a:t>number, size, complexity of affected artifacts</a:t>
                      </a:r>
                    </a:p>
                    <a:p>
                      <a:pPr marL="342900" marR="0" lvl="0" indent="-342900">
                        <a:lnSpc>
                          <a:spcPct val="90000"/>
                        </a:lnSpc>
                        <a:spcBef>
                          <a:spcPts val="100"/>
                        </a:spcBef>
                        <a:spcAft>
                          <a:spcPts val="0"/>
                        </a:spcAft>
                        <a:buSzPts val="800"/>
                        <a:buFont typeface="Symbol" panose="05050102010706020507"/>
                        <a:buChar char=""/>
                        <a:tabLst>
                          <a:tab pos="228600" algn="l"/>
                          <a:tab pos="274320" algn="l"/>
                        </a:tabLst>
                      </a:pPr>
                      <a:r>
                        <a:rPr lang="en-US" sz="2000" kern="1100" dirty="0">
                          <a:effectLst/>
                        </a:rPr>
                        <a:t>effort</a:t>
                      </a:r>
                    </a:p>
                    <a:p>
                      <a:pPr marL="342900" marR="0" lvl="0" indent="-342900">
                        <a:lnSpc>
                          <a:spcPct val="90000"/>
                        </a:lnSpc>
                        <a:spcBef>
                          <a:spcPts val="100"/>
                        </a:spcBef>
                        <a:spcAft>
                          <a:spcPts val="0"/>
                        </a:spcAft>
                        <a:buSzPts val="800"/>
                        <a:buFont typeface="Symbol" panose="05050102010706020507"/>
                        <a:buChar char=""/>
                        <a:tabLst>
                          <a:tab pos="228600" algn="l"/>
                          <a:tab pos="274320" algn="l"/>
                        </a:tabLst>
                      </a:pPr>
                      <a:r>
                        <a:rPr lang="en-US" sz="2000" kern="1100" dirty="0">
                          <a:effectLst/>
                        </a:rPr>
                        <a:t>calendar time</a:t>
                      </a:r>
                    </a:p>
                    <a:p>
                      <a:pPr marL="342900" marR="0" lvl="0" indent="-342900">
                        <a:lnSpc>
                          <a:spcPct val="90000"/>
                        </a:lnSpc>
                        <a:spcBef>
                          <a:spcPts val="100"/>
                        </a:spcBef>
                        <a:spcAft>
                          <a:spcPts val="0"/>
                        </a:spcAft>
                        <a:buSzPts val="800"/>
                        <a:buFont typeface="Symbol" panose="05050102010706020507"/>
                        <a:buChar char=""/>
                        <a:tabLst>
                          <a:tab pos="228600" algn="l"/>
                          <a:tab pos="274320" algn="l"/>
                        </a:tabLst>
                      </a:pPr>
                      <a:r>
                        <a:rPr lang="en-US" sz="2000" kern="1100" dirty="0">
                          <a:effectLst/>
                        </a:rPr>
                        <a:t>money (direct outlay or opportunity cost)</a:t>
                      </a:r>
                    </a:p>
                    <a:p>
                      <a:pPr marL="342900" marR="0" lvl="0" indent="-342900">
                        <a:lnSpc>
                          <a:spcPct val="90000"/>
                        </a:lnSpc>
                        <a:spcBef>
                          <a:spcPts val="100"/>
                        </a:spcBef>
                        <a:spcAft>
                          <a:spcPts val="0"/>
                        </a:spcAft>
                        <a:buSzPts val="800"/>
                        <a:buFont typeface="Symbol" panose="05050102010706020507"/>
                        <a:buChar char=""/>
                        <a:tabLst>
                          <a:tab pos="228600" algn="l"/>
                          <a:tab pos="274320" algn="l"/>
                        </a:tabLst>
                      </a:pPr>
                      <a:r>
                        <a:rPr lang="en-US" sz="2000" kern="1100" dirty="0">
                          <a:effectLst/>
                        </a:rPr>
                        <a:t>extent to which this modification affects other functions or quality attributes</a:t>
                      </a:r>
                    </a:p>
                    <a:p>
                      <a:pPr marL="342900" marR="0" lvl="0" indent="-342900">
                        <a:lnSpc>
                          <a:spcPct val="90000"/>
                        </a:lnSpc>
                        <a:spcBef>
                          <a:spcPts val="100"/>
                        </a:spcBef>
                        <a:spcAft>
                          <a:spcPts val="0"/>
                        </a:spcAft>
                        <a:buSzPts val="800"/>
                        <a:buFont typeface="Symbol" panose="05050102010706020507"/>
                        <a:buChar char=""/>
                        <a:tabLst>
                          <a:tab pos="228600" algn="l"/>
                          <a:tab pos="274320" algn="l"/>
                        </a:tabLst>
                      </a:pPr>
                      <a:r>
                        <a:rPr lang="en-US" sz="2000" kern="1100" dirty="0">
                          <a:effectLst/>
                        </a:rPr>
                        <a:t>new defects introduced</a:t>
                      </a:r>
                      <a:endParaRPr lang="en-US" sz="2000" kern="1100" dirty="0">
                        <a:effectLst/>
                        <a:latin typeface="Times New Roman" panose="02020603050405020304"/>
                        <a:ea typeface="Times New Roman" panose="02020603050405020304"/>
                      </a:endParaRPr>
                    </a:p>
                  </a:txBody>
                  <a:tcPr marL="68580" marR="68580" marT="0" marB="0"/>
                </a:tc>
                <a:extLst>
                  <a:ext uri="{0D108BD9-81ED-4DB2-BD59-A6C34878D82A}">
                    <a16:rowId xmlns:a16="http://schemas.microsoft.com/office/drawing/2014/main" val="10006"/>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0CBEAE-3CF8-EBB6-70A4-3F2599CC6697}"/>
              </a:ext>
            </a:extLst>
          </p:cNvPr>
          <p:cNvSpPr>
            <a:spLocks noGrp="1"/>
          </p:cNvSpPr>
          <p:nvPr>
            <p:ph type="title"/>
          </p:nvPr>
        </p:nvSpPr>
        <p:spPr/>
        <p:txBody>
          <a:bodyPr/>
          <a:lstStyle/>
          <a:p>
            <a:r>
              <a:rPr lang="en-US" altLang="zh-CN" dirty="0"/>
              <a:t>Modifiability General Scenario</a:t>
            </a:r>
            <a:endParaRPr lang="zh-CN" altLang="en-US" dirty="0"/>
          </a:p>
        </p:txBody>
      </p:sp>
      <p:pic>
        <p:nvPicPr>
          <p:cNvPr id="6" name="内容占位符 5">
            <a:extLst>
              <a:ext uri="{FF2B5EF4-FFF2-40B4-BE49-F238E27FC236}">
                <a16:creationId xmlns:a16="http://schemas.microsoft.com/office/drawing/2014/main" id="{524E3FC2-6249-88DE-0405-B1F83606BE3F}"/>
              </a:ext>
            </a:extLst>
          </p:cNvPr>
          <p:cNvPicPr>
            <a:picLocks noGrp="1" noChangeAspect="1"/>
          </p:cNvPicPr>
          <p:nvPr>
            <p:ph idx="1"/>
          </p:nvPr>
        </p:nvPicPr>
        <p:blipFill>
          <a:blip r:embed="rId2"/>
          <a:stretch>
            <a:fillRect/>
          </a:stretch>
        </p:blipFill>
        <p:spPr>
          <a:xfrm>
            <a:off x="1346612" y="1268413"/>
            <a:ext cx="6450776" cy="4857750"/>
          </a:xfrm>
          <a:prstGeom prst="rect">
            <a:avLst/>
          </a:prstGeom>
        </p:spPr>
      </p:pic>
      <p:sp>
        <p:nvSpPr>
          <p:cNvPr id="4" name="页脚占位符 3">
            <a:extLst>
              <a:ext uri="{FF2B5EF4-FFF2-40B4-BE49-F238E27FC236}">
                <a16:creationId xmlns:a16="http://schemas.microsoft.com/office/drawing/2014/main" id="{9E8DB4F9-36B4-391C-A21E-CE93155960F5}"/>
              </a:ext>
            </a:extLst>
          </p:cNvPr>
          <p:cNvSpPr>
            <a:spLocks noGrp="1"/>
          </p:cNvSpPr>
          <p:nvPr>
            <p:ph type="ftr" sz="quarter" idx="11"/>
          </p:nvPr>
        </p:nvSpPr>
        <p:spPr/>
        <p:txBody>
          <a:bodyPr/>
          <a:lstStyle/>
          <a:p>
            <a:r>
              <a:rPr lang="en-US"/>
              <a:t>© Software Architecture</a:t>
            </a:r>
            <a:endParaRPr lang="en-AU" dirty="0"/>
          </a:p>
        </p:txBody>
      </p:sp>
    </p:spTree>
    <p:extLst>
      <p:ext uri="{BB962C8B-B14F-4D97-AF65-F5344CB8AC3E}">
        <p14:creationId xmlns:p14="http://schemas.microsoft.com/office/powerpoint/2010/main" val="37596314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400" y="404664"/>
            <a:ext cx="7715200" cy="778098"/>
          </a:xfrm>
        </p:spPr>
        <p:txBody>
          <a:bodyPr>
            <a:normAutofit fontScale="90000"/>
          </a:bodyPr>
          <a:lstStyle/>
          <a:p>
            <a:r>
              <a:rPr lang="en-US" dirty="0"/>
              <a:t>Sample Concrete Modifiability Scenario</a:t>
            </a:r>
          </a:p>
        </p:txBody>
      </p:sp>
      <p:sp>
        <p:nvSpPr>
          <p:cNvPr id="3" name="Content Placeholder 2"/>
          <p:cNvSpPr>
            <a:spLocks noGrp="1"/>
          </p:cNvSpPr>
          <p:nvPr>
            <p:ph idx="1"/>
          </p:nvPr>
        </p:nvSpPr>
        <p:spPr>
          <a:xfrm>
            <a:off x="395536" y="1396697"/>
            <a:ext cx="8568952" cy="5308699"/>
          </a:xfrm>
        </p:spPr>
        <p:txBody>
          <a:bodyPr>
            <a:normAutofit/>
          </a:bodyPr>
          <a:lstStyle/>
          <a:p>
            <a:r>
              <a:rPr lang="en-US" dirty="0"/>
              <a:t>The developer wishes to change the user interface by modifying the code at design time. The modifications are made with no side effects within three hours.</a:t>
            </a:r>
          </a:p>
          <a:p>
            <a:pPr lvl="1"/>
            <a:r>
              <a:rPr lang="en-US" sz="2600" b="1" dirty="0">
                <a:solidFill>
                  <a:schemeClr val="tx2"/>
                </a:solidFill>
              </a:rPr>
              <a:t>Stimulus</a:t>
            </a:r>
            <a:r>
              <a:rPr lang="en-US" sz="2600" dirty="0"/>
              <a:t> – Wishes to change UI</a:t>
            </a:r>
          </a:p>
          <a:p>
            <a:pPr lvl="1"/>
            <a:r>
              <a:rPr lang="en-US" sz="2600" b="1" dirty="0">
                <a:solidFill>
                  <a:schemeClr val="tx2"/>
                </a:solidFill>
              </a:rPr>
              <a:t>Artifact </a:t>
            </a:r>
            <a:r>
              <a:rPr lang="en-US" sz="2600" dirty="0"/>
              <a:t>– Code</a:t>
            </a:r>
          </a:p>
          <a:p>
            <a:pPr lvl="1"/>
            <a:r>
              <a:rPr lang="en-US" sz="2600" b="1" dirty="0">
                <a:solidFill>
                  <a:schemeClr val="tx2"/>
                </a:solidFill>
              </a:rPr>
              <a:t>Environment</a:t>
            </a:r>
            <a:r>
              <a:rPr lang="en-US" sz="2600" dirty="0"/>
              <a:t>: Design time</a:t>
            </a:r>
          </a:p>
          <a:p>
            <a:pPr lvl="1"/>
            <a:r>
              <a:rPr lang="en-US" sz="2600" b="1" dirty="0">
                <a:solidFill>
                  <a:schemeClr val="tx2"/>
                </a:solidFill>
              </a:rPr>
              <a:t>Response</a:t>
            </a:r>
            <a:r>
              <a:rPr lang="en-US" sz="2600" dirty="0"/>
              <a:t> – Change made</a:t>
            </a:r>
          </a:p>
          <a:p>
            <a:pPr lvl="1"/>
            <a:r>
              <a:rPr lang="en-US" sz="2600" b="1" dirty="0">
                <a:solidFill>
                  <a:schemeClr val="tx2"/>
                </a:solidFill>
              </a:rPr>
              <a:t>Response measure</a:t>
            </a:r>
            <a:r>
              <a:rPr lang="en-US" sz="2600" dirty="0"/>
              <a:t> – No side effects in three hours</a:t>
            </a:r>
          </a:p>
          <a:p>
            <a:pPr lvl="1"/>
            <a:r>
              <a:rPr lang="en-US" sz="2600" b="1" dirty="0">
                <a:solidFill>
                  <a:schemeClr val="tx2"/>
                </a:solidFill>
              </a:rPr>
              <a:t>Source</a:t>
            </a:r>
            <a:r>
              <a:rPr lang="en-US" sz="2600" dirty="0"/>
              <a:t> - Developer</a:t>
            </a:r>
          </a:p>
        </p:txBody>
      </p:sp>
      <p:sp>
        <p:nvSpPr>
          <p:cNvPr id="4" name="Footer Placeholder 3"/>
          <p:cNvSpPr>
            <a:spLocks noGrp="1"/>
          </p:cNvSpPr>
          <p:nvPr>
            <p:ph type="ftr" sz="quarter" idx="11"/>
          </p:nvPr>
        </p:nvSpPr>
        <p:spPr/>
        <p:txBody>
          <a:bodyPr/>
          <a:lstStyle/>
          <a:p>
            <a:r>
              <a:rPr lang="en-AU" dirty="0"/>
              <a:t>© Software Architecture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B5CFC2-00DE-6C10-8A8E-4D8B382A1B6D}"/>
              </a:ext>
            </a:extLst>
          </p:cNvPr>
          <p:cNvSpPr>
            <a:spLocks noGrp="1"/>
          </p:cNvSpPr>
          <p:nvPr>
            <p:ph type="title"/>
          </p:nvPr>
        </p:nvSpPr>
        <p:spPr/>
        <p:txBody>
          <a:bodyPr>
            <a:normAutofit fontScale="90000"/>
          </a:bodyPr>
          <a:lstStyle/>
          <a:p>
            <a:r>
              <a:rPr lang="en-US" altLang="zh-CN" dirty="0"/>
              <a:t>Sample Concrete Modifiability Scenario</a:t>
            </a:r>
            <a:endParaRPr lang="zh-CN" altLang="en-US" dirty="0"/>
          </a:p>
        </p:txBody>
      </p:sp>
      <p:pic>
        <p:nvPicPr>
          <p:cNvPr id="6" name="内容占位符 5">
            <a:extLst>
              <a:ext uri="{FF2B5EF4-FFF2-40B4-BE49-F238E27FC236}">
                <a16:creationId xmlns:a16="http://schemas.microsoft.com/office/drawing/2014/main" id="{CA0A809D-074D-25CE-B15B-E38CC34CECE0}"/>
              </a:ext>
            </a:extLst>
          </p:cNvPr>
          <p:cNvPicPr>
            <a:picLocks noGrp="1" noChangeAspect="1"/>
          </p:cNvPicPr>
          <p:nvPr>
            <p:ph idx="1"/>
          </p:nvPr>
        </p:nvPicPr>
        <p:blipFill>
          <a:blip r:embed="rId2"/>
          <a:stretch>
            <a:fillRect/>
          </a:stretch>
        </p:blipFill>
        <p:spPr>
          <a:xfrm>
            <a:off x="457200" y="2175376"/>
            <a:ext cx="8229600" cy="3043824"/>
          </a:xfrm>
          <a:prstGeom prst="rect">
            <a:avLst/>
          </a:prstGeom>
        </p:spPr>
      </p:pic>
      <p:sp>
        <p:nvSpPr>
          <p:cNvPr id="4" name="页脚占位符 3">
            <a:extLst>
              <a:ext uri="{FF2B5EF4-FFF2-40B4-BE49-F238E27FC236}">
                <a16:creationId xmlns:a16="http://schemas.microsoft.com/office/drawing/2014/main" id="{91BF7488-7F31-20D7-02C1-CB8DB23FF7F1}"/>
              </a:ext>
            </a:extLst>
          </p:cNvPr>
          <p:cNvSpPr>
            <a:spLocks noGrp="1"/>
          </p:cNvSpPr>
          <p:nvPr>
            <p:ph type="ftr" sz="quarter" idx="11"/>
          </p:nvPr>
        </p:nvSpPr>
        <p:spPr/>
        <p:txBody>
          <a:bodyPr/>
          <a:lstStyle/>
          <a:p>
            <a:r>
              <a:rPr lang="en-US"/>
              <a:t>© Software Architecture</a:t>
            </a:r>
            <a:endParaRPr lang="en-AU" dirty="0"/>
          </a:p>
        </p:txBody>
      </p:sp>
    </p:spTree>
    <p:extLst>
      <p:ext uri="{BB962C8B-B14F-4D97-AF65-F5344CB8AC3E}">
        <p14:creationId xmlns:p14="http://schemas.microsoft.com/office/powerpoint/2010/main" val="8594814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Goal of Modifiability Tactics</a:t>
            </a:r>
          </a:p>
        </p:txBody>
      </p:sp>
      <p:sp>
        <p:nvSpPr>
          <p:cNvPr id="3" name="Content Placeholder 2"/>
          <p:cNvSpPr>
            <a:spLocks noGrp="1"/>
          </p:cNvSpPr>
          <p:nvPr>
            <p:ph idx="1"/>
          </p:nvPr>
        </p:nvSpPr>
        <p:spPr/>
        <p:txBody>
          <a:bodyPr>
            <a:normAutofit/>
          </a:bodyPr>
          <a:lstStyle/>
          <a:p>
            <a:r>
              <a:rPr lang="en-US" dirty="0"/>
              <a:t>Goal of modifiability</a:t>
            </a:r>
          </a:p>
          <a:p>
            <a:pPr lvl="1"/>
            <a:r>
              <a:rPr lang="en-US" dirty="0"/>
              <a:t>controlling the complexity of making changes, </a:t>
            </a:r>
          </a:p>
          <a:p>
            <a:pPr lvl="1"/>
            <a:r>
              <a:rPr lang="en-US" dirty="0"/>
              <a:t>controlling the time and cost to make changes.</a:t>
            </a:r>
          </a:p>
        </p:txBody>
      </p:sp>
      <p:sp>
        <p:nvSpPr>
          <p:cNvPr id="4" name="Footer Placeholder 3"/>
          <p:cNvSpPr>
            <a:spLocks noGrp="1"/>
          </p:cNvSpPr>
          <p:nvPr>
            <p:ph type="ftr" sz="quarter" idx="11"/>
          </p:nvPr>
        </p:nvSpPr>
        <p:spPr/>
        <p:txBody>
          <a:bodyPr/>
          <a:lstStyle/>
          <a:p>
            <a:r>
              <a:rPr lang="en-AU"/>
              <a:t>© Software Architecture</a:t>
            </a:r>
            <a:endParaRPr lang="en-AU" dirty="0"/>
          </a:p>
        </p:txBody>
      </p:sp>
      <p:pic>
        <p:nvPicPr>
          <p:cNvPr id="5" name="Picture 5"/>
          <p:cNvPicPr/>
          <p:nvPr/>
        </p:nvPicPr>
        <p:blipFill>
          <a:blip r:embed="rId2" cstate="print"/>
          <a:srcRect/>
          <a:stretch>
            <a:fillRect/>
          </a:stretch>
        </p:blipFill>
        <p:spPr bwMode="auto">
          <a:xfrm>
            <a:off x="996035" y="4509120"/>
            <a:ext cx="7200800" cy="1847230"/>
          </a:xfrm>
          <a:prstGeom prst="rect">
            <a:avLst/>
          </a:prstGeom>
          <a:noFill/>
          <a:ln w="9525">
            <a:noFill/>
            <a:miter lim="800000"/>
            <a:headEnd/>
            <a:tailEnd/>
          </a:ln>
        </p:spPr>
      </p:pic>
      <p:pic>
        <p:nvPicPr>
          <p:cNvPr id="7" name="图片 6">
            <a:extLst>
              <a:ext uri="{FF2B5EF4-FFF2-40B4-BE49-F238E27FC236}">
                <a16:creationId xmlns:a16="http://schemas.microsoft.com/office/drawing/2014/main" id="{38DE8022-DA64-F38F-F59F-C3FE928A9175}"/>
              </a:ext>
            </a:extLst>
          </p:cNvPr>
          <p:cNvPicPr>
            <a:picLocks noChangeAspect="1"/>
          </p:cNvPicPr>
          <p:nvPr/>
        </p:nvPicPr>
        <p:blipFill>
          <a:blip r:embed="rId3"/>
          <a:stretch>
            <a:fillRect/>
          </a:stretch>
        </p:blipFill>
        <p:spPr>
          <a:xfrm>
            <a:off x="1872000" y="2801108"/>
            <a:ext cx="5400000" cy="1600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F9270C-B9F2-F0F4-8555-15005083CB51}"/>
              </a:ext>
            </a:extLst>
          </p:cNvPr>
          <p:cNvSpPr>
            <a:spLocks noGrp="1"/>
          </p:cNvSpPr>
          <p:nvPr>
            <p:ph type="title"/>
          </p:nvPr>
        </p:nvSpPr>
        <p:spPr/>
        <p:txBody>
          <a:bodyPr/>
          <a:lstStyle/>
          <a:p>
            <a:r>
              <a:rPr lang="en-US" altLang="zh-CN" dirty="0"/>
              <a:t>Modifiability Tactics</a:t>
            </a:r>
            <a:endParaRPr lang="zh-CN" altLang="en-US" dirty="0"/>
          </a:p>
        </p:txBody>
      </p:sp>
      <p:sp>
        <p:nvSpPr>
          <p:cNvPr id="3" name="内容占位符 2">
            <a:extLst>
              <a:ext uri="{FF2B5EF4-FFF2-40B4-BE49-F238E27FC236}">
                <a16:creationId xmlns:a16="http://schemas.microsoft.com/office/drawing/2014/main" id="{1F9A8FB2-1E8D-BA3B-5054-1BEFEA4A8D71}"/>
              </a:ext>
            </a:extLst>
          </p:cNvPr>
          <p:cNvSpPr>
            <a:spLocks noGrp="1"/>
          </p:cNvSpPr>
          <p:nvPr>
            <p:ph idx="1"/>
          </p:nvPr>
        </p:nvSpPr>
        <p:spPr/>
        <p:txBody>
          <a:bodyPr/>
          <a:lstStyle/>
          <a:p>
            <a:endParaRPr lang="zh-CN" altLang="en-US"/>
          </a:p>
        </p:txBody>
      </p:sp>
      <p:sp>
        <p:nvSpPr>
          <p:cNvPr id="4" name="页脚占位符 3">
            <a:extLst>
              <a:ext uri="{FF2B5EF4-FFF2-40B4-BE49-F238E27FC236}">
                <a16:creationId xmlns:a16="http://schemas.microsoft.com/office/drawing/2014/main" id="{31C7229E-5060-3CA9-CD16-5FBAF0B67565}"/>
              </a:ext>
            </a:extLst>
          </p:cNvPr>
          <p:cNvSpPr>
            <a:spLocks noGrp="1"/>
          </p:cNvSpPr>
          <p:nvPr>
            <p:ph type="ftr" sz="quarter" idx="11"/>
          </p:nvPr>
        </p:nvSpPr>
        <p:spPr/>
        <p:txBody>
          <a:bodyPr/>
          <a:lstStyle/>
          <a:p>
            <a:r>
              <a:rPr lang="en-US"/>
              <a:t>© Software Architecture</a:t>
            </a:r>
            <a:endParaRPr lang="en-AU" dirty="0"/>
          </a:p>
        </p:txBody>
      </p:sp>
      <p:pic>
        <p:nvPicPr>
          <p:cNvPr id="6" name="图片 5">
            <a:extLst>
              <a:ext uri="{FF2B5EF4-FFF2-40B4-BE49-F238E27FC236}">
                <a16:creationId xmlns:a16="http://schemas.microsoft.com/office/drawing/2014/main" id="{4F57E5E0-E70C-67E3-7A18-BEBBA870D298}"/>
              </a:ext>
            </a:extLst>
          </p:cNvPr>
          <p:cNvPicPr>
            <a:picLocks noChangeAspect="1"/>
          </p:cNvPicPr>
          <p:nvPr/>
        </p:nvPicPr>
        <p:blipFill>
          <a:blip r:embed="rId2"/>
          <a:stretch>
            <a:fillRect/>
          </a:stretch>
        </p:blipFill>
        <p:spPr>
          <a:xfrm>
            <a:off x="1772000" y="1657566"/>
            <a:ext cx="5600000" cy="3942857"/>
          </a:xfrm>
          <a:prstGeom prst="rect">
            <a:avLst/>
          </a:prstGeom>
        </p:spPr>
      </p:pic>
    </p:spTree>
    <p:extLst>
      <p:ext uri="{BB962C8B-B14F-4D97-AF65-F5344CB8AC3E}">
        <p14:creationId xmlns:p14="http://schemas.microsoft.com/office/powerpoint/2010/main" val="8620711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49FAFA-4065-AC4B-20E0-C6F0B9D5CE7C}"/>
              </a:ext>
            </a:extLst>
          </p:cNvPr>
          <p:cNvSpPr>
            <a:spLocks noGrp="1"/>
          </p:cNvSpPr>
          <p:nvPr>
            <p:ph type="title"/>
          </p:nvPr>
        </p:nvSpPr>
        <p:spPr/>
        <p:txBody>
          <a:bodyPr/>
          <a:lstStyle/>
          <a:p>
            <a:r>
              <a:rPr lang="zh-CN" altLang="en-US" dirty="0"/>
              <a:t>高内聚、低耦合</a:t>
            </a:r>
          </a:p>
        </p:txBody>
      </p:sp>
      <p:sp>
        <p:nvSpPr>
          <p:cNvPr id="3" name="内容占位符 2">
            <a:extLst>
              <a:ext uri="{FF2B5EF4-FFF2-40B4-BE49-F238E27FC236}">
                <a16:creationId xmlns:a16="http://schemas.microsoft.com/office/drawing/2014/main" id="{B9ED6220-6A25-B548-69FB-D963554AFD06}"/>
              </a:ext>
            </a:extLst>
          </p:cNvPr>
          <p:cNvSpPr>
            <a:spLocks noGrp="1"/>
          </p:cNvSpPr>
          <p:nvPr>
            <p:ph idx="1"/>
          </p:nvPr>
        </p:nvSpPr>
        <p:spPr/>
        <p:txBody>
          <a:bodyPr/>
          <a:lstStyle/>
          <a:p>
            <a:r>
              <a:rPr lang="en-US" altLang="zh-CN" dirty="0" err="1"/>
              <a:t>内聚</a:t>
            </a:r>
            <a:r>
              <a:rPr lang="en-US" altLang="zh-CN" dirty="0"/>
              <a:t>(</a:t>
            </a:r>
            <a:r>
              <a:rPr lang="en-US" altLang="zh-CN" dirty="0">
                <a:sym typeface="+mn-ea"/>
              </a:rPr>
              <a:t>Cohesion</a:t>
            </a:r>
            <a:r>
              <a:rPr lang="en-US" altLang="zh-CN" dirty="0"/>
              <a:t>)</a:t>
            </a:r>
            <a:r>
              <a:rPr lang="en-US" altLang="zh-CN" dirty="0" err="1"/>
              <a:t>用于度量一个模块的职责之间的关系有多紧密。非正式地，它衡量模块的“目标一致性</a:t>
            </a:r>
            <a:r>
              <a:rPr lang="en-US" altLang="zh-CN" dirty="0"/>
              <a:t>”。</a:t>
            </a:r>
          </a:p>
          <a:p>
            <a:r>
              <a:rPr lang="en-US" altLang="zh-CN" b="1" dirty="0">
                <a:solidFill>
                  <a:schemeClr val="tx2"/>
                </a:solidFill>
              </a:rPr>
              <a:t>Coupling</a:t>
            </a:r>
            <a:r>
              <a:rPr lang="en-US" altLang="zh-CN" dirty="0"/>
              <a:t> is measured by this overlap, i.e., by the probability that a modification to one module will propagate to the other </a:t>
            </a:r>
          </a:p>
          <a:p>
            <a:pPr lvl="1"/>
            <a:r>
              <a:rPr lang="en-US" altLang="zh-CN" dirty="0" err="1"/>
              <a:t>如果两个模块的职责以某种方式重叠，那么对其中一个进行变更可能会影响到另一个</a:t>
            </a:r>
            <a:endParaRPr lang="en-US" altLang="zh-CN" dirty="0"/>
          </a:p>
          <a:p>
            <a:endParaRPr lang="en-US" altLang="zh-CN" dirty="0"/>
          </a:p>
          <a:p>
            <a:endParaRPr lang="zh-CN" altLang="en-US" dirty="0"/>
          </a:p>
        </p:txBody>
      </p:sp>
      <p:sp>
        <p:nvSpPr>
          <p:cNvPr id="4" name="页脚占位符 3">
            <a:extLst>
              <a:ext uri="{FF2B5EF4-FFF2-40B4-BE49-F238E27FC236}">
                <a16:creationId xmlns:a16="http://schemas.microsoft.com/office/drawing/2014/main" id="{E56F484B-8E3E-B096-E5BE-F9D1ABE333B2}"/>
              </a:ext>
            </a:extLst>
          </p:cNvPr>
          <p:cNvSpPr>
            <a:spLocks noGrp="1"/>
          </p:cNvSpPr>
          <p:nvPr>
            <p:ph type="ftr" sz="quarter" idx="11"/>
          </p:nvPr>
        </p:nvSpPr>
        <p:spPr/>
        <p:txBody>
          <a:bodyPr/>
          <a:lstStyle/>
          <a:p>
            <a:r>
              <a:rPr lang="en-US"/>
              <a:t>© Software Architecture</a:t>
            </a:r>
            <a:endParaRPr lang="en-AU" dirty="0"/>
          </a:p>
        </p:txBody>
      </p:sp>
    </p:spTree>
    <p:extLst>
      <p:ext uri="{BB962C8B-B14F-4D97-AF65-F5344CB8AC3E}">
        <p14:creationId xmlns:p14="http://schemas.microsoft.com/office/powerpoint/2010/main" val="22730879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231E3-54E1-69B5-5C14-415BA5325B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FF7F72-60E0-9309-25F3-2F8DD7FD51C8}"/>
              </a:ext>
            </a:extLst>
          </p:cNvPr>
          <p:cNvSpPr>
            <a:spLocks noGrp="1"/>
          </p:cNvSpPr>
          <p:nvPr>
            <p:ph type="title"/>
          </p:nvPr>
        </p:nvSpPr>
        <p:spPr/>
        <p:txBody>
          <a:bodyPr>
            <a:normAutofit/>
          </a:bodyPr>
          <a:lstStyle/>
          <a:p>
            <a:r>
              <a:rPr lang="zh-CN" altLang="en-US" dirty="0"/>
              <a:t>增加内聚（</a:t>
            </a:r>
            <a:r>
              <a:rPr lang="en-US" altLang="zh-CN" dirty="0"/>
              <a:t>Increase Cohesion</a:t>
            </a:r>
            <a:r>
              <a:rPr lang="zh-CN" altLang="en-US" dirty="0"/>
              <a:t>）</a:t>
            </a:r>
            <a:endParaRPr lang="en-US" dirty="0"/>
          </a:p>
        </p:txBody>
      </p:sp>
      <p:sp>
        <p:nvSpPr>
          <p:cNvPr id="3" name="Content Placeholder 2">
            <a:extLst>
              <a:ext uri="{FF2B5EF4-FFF2-40B4-BE49-F238E27FC236}">
                <a16:creationId xmlns:a16="http://schemas.microsoft.com/office/drawing/2014/main" id="{3CA19A14-8976-0F24-B611-D2ECA0DC7EC8}"/>
              </a:ext>
            </a:extLst>
          </p:cNvPr>
          <p:cNvSpPr>
            <a:spLocks noGrp="1"/>
          </p:cNvSpPr>
          <p:nvPr>
            <p:ph idx="1"/>
          </p:nvPr>
        </p:nvSpPr>
        <p:spPr/>
        <p:txBody>
          <a:bodyPr/>
          <a:lstStyle/>
          <a:p>
            <a:pPr lvl="0"/>
            <a:r>
              <a:rPr lang="en-US" b="1" dirty="0">
                <a:solidFill>
                  <a:schemeClr val="tx2"/>
                </a:solidFill>
              </a:rPr>
              <a:t>Split Module</a:t>
            </a:r>
            <a:r>
              <a:rPr lang="en-US" dirty="0"/>
              <a:t>: If the module being modified includes a great deal of capability, the modification costs will likely be high. </a:t>
            </a:r>
          </a:p>
          <a:p>
            <a:pPr lvl="0"/>
            <a:r>
              <a:rPr lang="en-US" dirty="0"/>
              <a:t>Refining the module into several smaller modules should reduce the average cost of future changes. </a:t>
            </a:r>
          </a:p>
        </p:txBody>
      </p:sp>
      <p:sp>
        <p:nvSpPr>
          <p:cNvPr id="4" name="Footer Placeholder 3">
            <a:extLst>
              <a:ext uri="{FF2B5EF4-FFF2-40B4-BE49-F238E27FC236}">
                <a16:creationId xmlns:a16="http://schemas.microsoft.com/office/drawing/2014/main" id="{AFD21714-D29A-1306-BA86-3F8CFE072EAD}"/>
              </a:ext>
            </a:extLst>
          </p:cNvPr>
          <p:cNvSpPr>
            <a:spLocks noGrp="1"/>
          </p:cNvSpPr>
          <p:nvPr>
            <p:ph type="ftr" sz="quarter" idx="11"/>
          </p:nvPr>
        </p:nvSpPr>
        <p:spPr/>
        <p:txBody>
          <a:bodyPr/>
          <a:lstStyle/>
          <a:p>
            <a:r>
              <a:rPr lang="en-AU"/>
              <a:t>© Software Architecture</a:t>
            </a:r>
            <a:endParaRPr lang="en-AU" dirty="0"/>
          </a:p>
        </p:txBody>
      </p:sp>
      <p:pic>
        <p:nvPicPr>
          <p:cNvPr id="6" name="图片 5">
            <a:extLst>
              <a:ext uri="{FF2B5EF4-FFF2-40B4-BE49-F238E27FC236}">
                <a16:creationId xmlns:a16="http://schemas.microsoft.com/office/drawing/2014/main" id="{2CA63F96-4AFF-D514-F4B2-4C948C71CB01}"/>
              </a:ext>
            </a:extLst>
          </p:cNvPr>
          <p:cNvPicPr>
            <a:picLocks noChangeAspect="1"/>
          </p:cNvPicPr>
          <p:nvPr/>
        </p:nvPicPr>
        <p:blipFill>
          <a:blip r:embed="rId2"/>
          <a:stretch>
            <a:fillRect/>
          </a:stretch>
        </p:blipFill>
        <p:spPr>
          <a:xfrm>
            <a:off x="186286" y="4509120"/>
            <a:ext cx="8771428" cy="1342857"/>
          </a:xfrm>
          <a:prstGeom prst="rect">
            <a:avLst/>
          </a:prstGeom>
        </p:spPr>
      </p:pic>
    </p:spTree>
    <p:extLst>
      <p:ext uri="{BB962C8B-B14F-4D97-AF65-F5344CB8AC3E}">
        <p14:creationId xmlns:p14="http://schemas.microsoft.com/office/powerpoint/2010/main" val="1495346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B2D76-7B1A-4CC7-D5E6-A6AC65D568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22F3D7-CBC3-D643-40D3-069350323B43}"/>
              </a:ext>
            </a:extLst>
          </p:cNvPr>
          <p:cNvSpPr>
            <a:spLocks noGrp="1"/>
          </p:cNvSpPr>
          <p:nvPr>
            <p:ph type="title"/>
          </p:nvPr>
        </p:nvSpPr>
        <p:spPr/>
        <p:txBody>
          <a:bodyPr>
            <a:normAutofit/>
          </a:bodyPr>
          <a:lstStyle/>
          <a:p>
            <a:r>
              <a:rPr lang="zh-CN" altLang="en-US" dirty="0"/>
              <a:t>增加内聚（</a:t>
            </a:r>
            <a:r>
              <a:rPr lang="en-US" altLang="zh-CN" dirty="0"/>
              <a:t>Increase Cohesion</a:t>
            </a:r>
            <a:r>
              <a:rPr lang="zh-CN" altLang="en-US" dirty="0"/>
              <a:t>）</a:t>
            </a:r>
            <a:endParaRPr lang="en-US" dirty="0"/>
          </a:p>
        </p:txBody>
      </p:sp>
      <p:sp>
        <p:nvSpPr>
          <p:cNvPr id="3" name="Content Placeholder 2">
            <a:extLst>
              <a:ext uri="{FF2B5EF4-FFF2-40B4-BE49-F238E27FC236}">
                <a16:creationId xmlns:a16="http://schemas.microsoft.com/office/drawing/2014/main" id="{C0048CEA-C26D-E41E-1FA0-A8D5659C3E79}"/>
              </a:ext>
            </a:extLst>
          </p:cNvPr>
          <p:cNvSpPr>
            <a:spLocks noGrp="1"/>
          </p:cNvSpPr>
          <p:nvPr>
            <p:ph idx="1"/>
          </p:nvPr>
        </p:nvSpPr>
        <p:spPr/>
        <p:txBody>
          <a:bodyPr>
            <a:normAutofit/>
          </a:bodyPr>
          <a:lstStyle/>
          <a:p>
            <a:pPr lvl="0"/>
            <a:r>
              <a:rPr lang="en-US" sz="2800" b="1" dirty="0">
                <a:solidFill>
                  <a:schemeClr val="accent1"/>
                </a:solidFill>
              </a:rPr>
              <a:t>Reassign responsibilities. </a:t>
            </a:r>
            <a:r>
              <a:rPr lang="en-US" sz="2800" dirty="0"/>
              <a:t>If (similar) responsibilities A, A′, and A′′ are scattered across several different modules, it's best to bring them together. This kind of refactoring may involve creating a new module or moving the responsibilities into an existing one. responsibilities into a new module.</a:t>
            </a:r>
          </a:p>
        </p:txBody>
      </p:sp>
      <p:sp>
        <p:nvSpPr>
          <p:cNvPr id="4" name="Footer Placeholder 3">
            <a:extLst>
              <a:ext uri="{FF2B5EF4-FFF2-40B4-BE49-F238E27FC236}">
                <a16:creationId xmlns:a16="http://schemas.microsoft.com/office/drawing/2014/main" id="{5CEC69B7-253B-8F27-A132-9FFECC29335B}"/>
              </a:ext>
            </a:extLst>
          </p:cNvPr>
          <p:cNvSpPr>
            <a:spLocks noGrp="1"/>
          </p:cNvSpPr>
          <p:nvPr>
            <p:ph type="ftr" sz="quarter" idx="11"/>
          </p:nvPr>
        </p:nvSpPr>
        <p:spPr/>
        <p:txBody>
          <a:bodyPr/>
          <a:lstStyle/>
          <a:p>
            <a:r>
              <a:rPr lang="en-AU"/>
              <a:t>© Software Architecture</a:t>
            </a:r>
            <a:endParaRPr lang="en-AU" dirty="0"/>
          </a:p>
        </p:txBody>
      </p:sp>
      <p:pic>
        <p:nvPicPr>
          <p:cNvPr id="7" name="图片 6">
            <a:extLst>
              <a:ext uri="{FF2B5EF4-FFF2-40B4-BE49-F238E27FC236}">
                <a16:creationId xmlns:a16="http://schemas.microsoft.com/office/drawing/2014/main" id="{D3EE731F-78DF-41E5-34BA-D75060B4E591}"/>
              </a:ext>
            </a:extLst>
          </p:cNvPr>
          <p:cNvPicPr>
            <a:picLocks noChangeAspect="1"/>
          </p:cNvPicPr>
          <p:nvPr/>
        </p:nvPicPr>
        <p:blipFill>
          <a:blip r:embed="rId2"/>
          <a:stretch>
            <a:fillRect/>
          </a:stretch>
        </p:blipFill>
        <p:spPr>
          <a:xfrm>
            <a:off x="114857" y="4365104"/>
            <a:ext cx="8914286" cy="742857"/>
          </a:xfrm>
          <a:prstGeom prst="rect">
            <a:avLst/>
          </a:prstGeom>
        </p:spPr>
      </p:pic>
      <p:pic>
        <p:nvPicPr>
          <p:cNvPr id="9" name="图片 8">
            <a:extLst>
              <a:ext uri="{FF2B5EF4-FFF2-40B4-BE49-F238E27FC236}">
                <a16:creationId xmlns:a16="http://schemas.microsoft.com/office/drawing/2014/main" id="{1AF72AEA-3726-36A2-3F4A-AC70213A36BE}"/>
              </a:ext>
            </a:extLst>
          </p:cNvPr>
          <p:cNvPicPr>
            <a:picLocks noChangeAspect="1"/>
          </p:cNvPicPr>
          <p:nvPr/>
        </p:nvPicPr>
        <p:blipFill>
          <a:blip r:embed="rId3"/>
          <a:stretch>
            <a:fillRect/>
          </a:stretch>
        </p:blipFill>
        <p:spPr>
          <a:xfrm>
            <a:off x="539552" y="5089240"/>
            <a:ext cx="8428571" cy="1000000"/>
          </a:xfrm>
          <a:prstGeom prst="rect">
            <a:avLst/>
          </a:prstGeom>
        </p:spPr>
      </p:pic>
    </p:spTree>
    <p:extLst>
      <p:ext uri="{BB962C8B-B14F-4D97-AF65-F5344CB8AC3E}">
        <p14:creationId xmlns:p14="http://schemas.microsoft.com/office/powerpoint/2010/main" val="1901125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CEB56-CA0E-AA38-9C8D-719EFF26A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8B6FAB-2A4D-4AA8-5545-B8D043AA36A0}"/>
              </a:ext>
            </a:extLst>
          </p:cNvPr>
          <p:cNvSpPr>
            <a:spLocks noGrp="1"/>
          </p:cNvSpPr>
          <p:nvPr>
            <p:ph type="title"/>
          </p:nvPr>
        </p:nvSpPr>
        <p:spPr/>
        <p:txBody>
          <a:bodyPr>
            <a:normAutofit/>
          </a:bodyPr>
          <a:lstStyle/>
          <a:p>
            <a:r>
              <a:rPr lang="zh-CN" altLang="en-US" dirty="0"/>
              <a:t>减少耦合 </a:t>
            </a:r>
            <a:r>
              <a:rPr lang="en-US" altLang="zh-CN" dirty="0"/>
              <a:t>(Reducing Coupling)</a:t>
            </a:r>
            <a:endParaRPr lang="en-US" dirty="0"/>
          </a:p>
        </p:txBody>
      </p:sp>
      <p:sp>
        <p:nvSpPr>
          <p:cNvPr id="3" name="Content Placeholder 2">
            <a:extLst>
              <a:ext uri="{FF2B5EF4-FFF2-40B4-BE49-F238E27FC236}">
                <a16:creationId xmlns:a16="http://schemas.microsoft.com/office/drawing/2014/main" id="{30C0BDC6-DBFC-484B-11D4-62B3A21D2981}"/>
              </a:ext>
            </a:extLst>
          </p:cNvPr>
          <p:cNvSpPr>
            <a:spLocks noGrp="1"/>
          </p:cNvSpPr>
          <p:nvPr>
            <p:ph idx="1"/>
          </p:nvPr>
        </p:nvSpPr>
        <p:spPr/>
        <p:txBody>
          <a:bodyPr>
            <a:normAutofit/>
          </a:bodyPr>
          <a:lstStyle/>
          <a:p>
            <a:r>
              <a:rPr lang="en-US" sz="2800" b="1" dirty="0">
                <a:solidFill>
                  <a:schemeClr val="tx2"/>
                </a:solidFill>
              </a:rPr>
              <a:t>Encapsulate</a:t>
            </a:r>
            <a:r>
              <a:rPr lang="zh-CN" altLang="en-US" sz="2800" b="1" dirty="0">
                <a:solidFill>
                  <a:schemeClr val="tx2"/>
                </a:solidFill>
              </a:rPr>
              <a:t>（封装）</a:t>
            </a:r>
            <a:r>
              <a:rPr lang="en-US" sz="2800" dirty="0"/>
              <a:t>: Encapsulation introduces an explicit interface to a module. This interface includes an API and its associated responsibilities</a:t>
            </a:r>
          </a:p>
          <a:p>
            <a:endParaRPr lang="en-US" sz="2800" dirty="0"/>
          </a:p>
          <a:p>
            <a:endParaRPr lang="en-US" sz="2800" dirty="0"/>
          </a:p>
          <a:p>
            <a:pPr lvl="1"/>
            <a:endParaRPr lang="en-US" sz="2450" dirty="0"/>
          </a:p>
          <a:p>
            <a:endParaRPr lang="en-US" dirty="0"/>
          </a:p>
        </p:txBody>
      </p:sp>
      <p:sp>
        <p:nvSpPr>
          <p:cNvPr id="4" name="Footer Placeholder 3">
            <a:extLst>
              <a:ext uri="{FF2B5EF4-FFF2-40B4-BE49-F238E27FC236}">
                <a16:creationId xmlns:a16="http://schemas.microsoft.com/office/drawing/2014/main" id="{B2439ACE-7F1D-8A20-FDC3-AEC3AC513D8D}"/>
              </a:ext>
            </a:extLst>
          </p:cNvPr>
          <p:cNvSpPr>
            <a:spLocks noGrp="1"/>
          </p:cNvSpPr>
          <p:nvPr>
            <p:ph type="ftr" sz="quarter" idx="11"/>
          </p:nvPr>
        </p:nvSpPr>
        <p:spPr/>
        <p:txBody>
          <a:bodyPr/>
          <a:lstStyle/>
          <a:p>
            <a:r>
              <a:rPr lang="en-AU"/>
              <a:t>© Software Architecture</a:t>
            </a:r>
            <a:endParaRPr lang="en-AU" dirty="0"/>
          </a:p>
        </p:txBody>
      </p:sp>
      <p:pic>
        <p:nvPicPr>
          <p:cNvPr id="5" name="图片 4">
            <a:extLst>
              <a:ext uri="{FF2B5EF4-FFF2-40B4-BE49-F238E27FC236}">
                <a16:creationId xmlns:a16="http://schemas.microsoft.com/office/drawing/2014/main" id="{D3E1676F-89B4-DDB3-5932-DE916AE885B9}"/>
              </a:ext>
            </a:extLst>
          </p:cNvPr>
          <p:cNvPicPr>
            <a:picLocks noChangeAspect="1"/>
          </p:cNvPicPr>
          <p:nvPr/>
        </p:nvPicPr>
        <p:blipFill>
          <a:blip r:embed="rId2"/>
          <a:stretch>
            <a:fillRect/>
          </a:stretch>
        </p:blipFill>
        <p:spPr>
          <a:xfrm>
            <a:off x="1645906" y="2780928"/>
            <a:ext cx="5852188" cy="2664688"/>
          </a:xfrm>
          <a:prstGeom prst="rect">
            <a:avLst/>
          </a:prstGeom>
        </p:spPr>
      </p:pic>
    </p:spTree>
    <p:extLst>
      <p:ext uri="{BB962C8B-B14F-4D97-AF65-F5344CB8AC3E}">
        <p14:creationId xmlns:p14="http://schemas.microsoft.com/office/powerpoint/2010/main" val="33221413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6A07E4-722F-EE78-CC68-27D671870299}"/>
              </a:ext>
            </a:extLst>
          </p:cNvPr>
          <p:cNvSpPr>
            <a:spLocks noGrp="1"/>
          </p:cNvSpPr>
          <p:nvPr>
            <p:ph type="title"/>
          </p:nvPr>
        </p:nvSpPr>
        <p:spPr/>
        <p:txBody>
          <a:bodyPr/>
          <a:lstStyle/>
          <a:p>
            <a:r>
              <a:rPr lang="zh-CN" altLang="en-US" dirty="0"/>
              <a:t>减少耦合 </a:t>
            </a:r>
            <a:r>
              <a:rPr lang="en-US" altLang="zh-CN" dirty="0"/>
              <a:t>(Reducing Coupling)</a:t>
            </a:r>
            <a:endParaRPr lang="zh-CN" altLang="en-US" dirty="0"/>
          </a:p>
        </p:txBody>
      </p:sp>
      <p:pic>
        <p:nvPicPr>
          <p:cNvPr id="6" name="内容占位符 5">
            <a:extLst>
              <a:ext uri="{FF2B5EF4-FFF2-40B4-BE49-F238E27FC236}">
                <a16:creationId xmlns:a16="http://schemas.microsoft.com/office/drawing/2014/main" id="{3E601E25-DCD9-2692-7BD3-FFEB7607C0B8}"/>
              </a:ext>
            </a:extLst>
          </p:cNvPr>
          <p:cNvPicPr>
            <a:picLocks noGrp="1" noChangeAspect="1"/>
          </p:cNvPicPr>
          <p:nvPr>
            <p:ph idx="1"/>
          </p:nvPr>
        </p:nvPicPr>
        <p:blipFill>
          <a:blip r:embed="rId2"/>
          <a:stretch>
            <a:fillRect/>
          </a:stretch>
        </p:blipFill>
        <p:spPr>
          <a:xfrm>
            <a:off x="457200" y="1916832"/>
            <a:ext cx="8229600" cy="3156012"/>
          </a:xfrm>
          <a:prstGeom prst="rect">
            <a:avLst/>
          </a:prstGeom>
        </p:spPr>
      </p:pic>
      <p:sp>
        <p:nvSpPr>
          <p:cNvPr id="4" name="页脚占位符 3">
            <a:extLst>
              <a:ext uri="{FF2B5EF4-FFF2-40B4-BE49-F238E27FC236}">
                <a16:creationId xmlns:a16="http://schemas.microsoft.com/office/drawing/2014/main" id="{7F10623A-9FE0-ED9C-984A-DFD7D57A3D95}"/>
              </a:ext>
            </a:extLst>
          </p:cNvPr>
          <p:cNvSpPr>
            <a:spLocks noGrp="1"/>
          </p:cNvSpPr>
          <p:nvPr>
            <p:ph type="ftr" sz="quarter" idx="11"/>
          </p:nvPr>
        </p:nvSpPr>
        <p:spPr/>
        <p:txBody>
          <a:bodyPr/>
          <a:lstStyle/>
          <a:p>
            <a:r>
              <a:rPr lang="en-US"/>
              <a:t>© Software Architecture</a:t>
            </a:r>
            <a:endParaRPr lang="en-AU" dirty="0"/>
          </a:p>
        </p:txBody>
      </p:sp>
    </p:spTree>
    <p:extLst>
      <p:ext uri="{BB962C8B-B14F-4D97-AF65-F5344CB8AC3E}">
        <p14:creationId xmlns:p14="http://schemas.microsoft.com/office/powerpoint/2010/main" val="17369517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155B3-9E13-3586-8203-EF8606C9DC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A4BB95-1634-120F-2A54-9E97825C5ED1}"/>
              </a:ext>
            </a:extLst>
          </p:cNvPr>
          <p:cNvSpPr>
            <a:spLocks noGrp="1"/>
          </p:cNvSpPr>
          <p:nvPr>
            <p:ph type="title"/>
          </p:nvPr>
        </p:nvSpPr>
        <p:spPr/>
        <p:txBody>
          <a:bodyPr>
            <a:normAutofit/>
          </a:bodyPr>
          <a:lstStyle/>
          <a:p>
            <a:r>
              <a:rPr lang="zh-CN" altLang="en-US" dirty="0"/>
              <a:t>减少耦合 </a:t>
            </a:r>
            <a:r>
              <a:rPr lang="en-US" altLang="zh-CN" dirty="0"/>
              <a:t>(Reducing Coupling)</a:t>
            </a:r>
            <a:endParaRPr lang="en-US" dirty="0"/>
          </a:p>
        </p:txBody>
      </p:sp>
      <p:sp>
        <p:nvSpPr>
          <p:cNvPr id="3" name="Content Placeholder 2">
            <a:extLst>
              <a:ext uri="{FF2B5EF4-FFF2-40B4-BE49-F238E27FC236}">
                <a16:creationId xmlns:a16="http://schemas.microsoft.com/office/drawing/2014/main" id="{C2A18C70-A749-6F13-8222-7ACE31702072}"/>
              </a:ext>
            </a:extLst>
          </p:cNvPr>
          <p:cNvSpPr>
            <a:spLocks noGrp="1"/>
          </p:cNvSpPr>
          <p:nvPr>
            <p:ph idx="1"/>
          </p:nvPr>
        </p:nvSpPr>
        <p:spPr/>
        <p:txBody>
          <a:bodyPr>
            <a:normAutofit/>
          </a:bodyPr>
          <a:lstStyle/>
          <a:p>
            <a:r>
              <a:rPr lang="en-US" sz="2800" b="1" dirty="0">
                <a:solidFill>
                  <a:schemeClr val="tx2"/>
                </a:solidFill>
              </a:rPr>
              <a:t>Use an Intermediary</a:t>
            </a:r>
            <a:r>
              <a:rPr lang="en-US" sz="2800" dirty="0"/>
              <a:t>: Given a dependency between responsibility A and responsibility B (for example, carrying out A first requires carrying out B), the dependency can be broken by using an intermediary. </a:t>
            </a:r>
          </a:p>
          <a:p>
            <a:endParaRPr lang="en-US" dirty="0"/>
          </a:p>
        </p:txBody>
      </p:sp>
      <p:sp>
        <p:nvSpPr>
          <p:cNvPr id="4" name="Footer Placeholder 3">
            <a:extLst>
              <a:ext uri="{FF2B5EF4-FFF2-40B4-BE49-F238E27FC236}">
                <a16:creationId xmlns:a16="http://schemas.microsoft.com/office/drawing/2014/main" id="{1C633180-A1D2-D83B-6D50-DD5DE77BD2B9}"/>
              </a:ext>
            </a:extLst>
          </p:cNvPr>
          <p:cNvSpPr>
            <a:spLocks noGrp="1"/>
          </p:cNvSpPr>
          <p:nvPr>
            <p:ph type="ftr" sz="quarter" idx="11"/>
          </p:nvPr>
        </p:nvSpPr>
        <p:spPr/>
        <p:txBody>
          <a:bodyPr/>
          <a:lstStyle/>
          <a:p>
            <a:r>
              <a:rPr lang="en-AU"/>
              <a:t>© Software Architecture</a:t>
            </a:r>
            <a:endParaRPr lang="en-AU" dirty="0"/>
          </a:p>
        </p:txBody>
      </p:sp>
      <p:pic>
        <p:nvPicPr>
          <p:cNvPr id="7" name="图片 6">
            <a:extLst>
              <a:ext uri="{FF2B5EF4-FFF2-40B4-BE49-F238E27FC236}">
                <a16:creationId xmlns:a16="http://schemas.microsoft.com/office/drawing/2014/main" id="{6AF040F1-73ED-1211-EE71-CD3A0FD5F7B3}"/>
              </a:ext>
            </a:extLst>
          </p:cNvPr>
          <p:cNvPicPr>
            <a:picLocks noChangeAspect="1"/>
          </p:cNvPicPr>
          <p:nvPr/>
        </p:nvPicPr>
        <p:blipFill>
          <a:blip r:embed="rId2"/>
          <a:stretch>
            <a:fillRect/>
          </a:stretch>
        </p:blipFill>
        <p:spPr>
          <a:xfrm>
            <a:off x="0" y="2996952"/>
            <a:ext cx="9144000" cy="3490936"/>
          </a:xfrm>
          <a:prstGeom prst="rect">
            <a:avLst/>
          </a:prstGeom>
        </p:spPr>
      </p:pic>
    </p:spTree>
    <p:extLst>
      <p:ext uri="{BB962C8B-B14F-4D97-AF65-F5344CB8AC3E}">
        <p14:creationId xmlns:p14="http://schemas.microsoft.com/office/powerpoint/2010/main" val="330946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15B74B-8089-AA5E-26D8-416FE01E123B}"/>
              </a:ext>
            </a:extLst>
          </p:cNvPr>
          <p:cNvSpPr>
            <a:spLocks noGrp="1"/>
          </p:cNvSpPr>
          <p:nvPr>
            <p:ph type="title"/>
          </p:nvPr>
        </p:nvSpPr>
        <p:spPr/>
        <p:txBody>
          <a:bodyPr/>
          <a:lstStyle/>
          <a:p>
            <a:r>
              <a:rPr lang="zh-CN" altLang="en-US" dirty="0"/>
              <a:t>减少耦合 </a:t>
            </a:r>
            <a:r>
              <a:rPr lang="en-US" altLang="zh-CN" dirty="0"/>
              <a:t>(Reducing Coupling)</a:t>
            </a:r>
            <a:endParaRPr lang="zh-CN" altLang="en-US" dirty="0"/>
          </a:p>
        </p:txBody>
      </p:sp>
      <p:sp>
        <p:nvSpPr>
          <p:cNvPr id="3" name="内容占位符 2">
            <a:extLst>
              <a:ext uri="{FF2B5EF4-FFF2-40B4-BE49-F238E27FC236}">
                <a16:creationId xmlns:a16="http://schemas.microsoft.com/office/drawing/2014/main" id="{ABDE4F4F-9466-4F4B-B797-0EB0C32087AB}"/>
              </a:ext>
            </a:extLst>
          </p:cNvPr>
          <p:cNvSpPr>
            <a:spLocks noGrp="1"/>
          </p:cNvSpPr>
          <p:nvPr>
            <p:ph idx="1"/>
          </p:nvPr>
        </p:nvSpPr>
        <p:spPr/>
        <p:txBody>
          <a:bodyPr/>
          <a:lstStyle/>
          <a:p>
            <a:r>
              <a:rPr lang="en-US" altLang="zh-CN" sz="3000" b="1" dirty="0">
                <a:solidFill>
                  <a:schemeClr val="tx2"/>
                </a:solidFill>
              </a:rPr>
              <a:t>Restrict Dependencies</a:t>
            </a:r>
            <a:r>
              <a:rPr lang="en-US" altLang="zh-CN" sz="3000" dirty="0"/>
              <a:t>: restricts the modules which a given module interacts with or depends on. </a:t>
            </a:r>
          </a:p>
          <a:p>
            <a:r>
              <a:rPr lang="en-US" altLang="zh-CN" sz="3000" dirty="0"/>
              <a:t>By restricting a module’s visibility and by authorization</a:t>
            </a:r>
          </a:p>
          <a:p>
            <a:r>
              <a:rPr lang="en-US" altLang="zh-CN" sz="3000" dirty="0"/>
              <a:t>For example, </a:t>
            </a:r>
          </a:p>
          <a:p>
            <a:pPr lvl="1"/>
            <a:r>
              <a:rPr lang="en-US" altLang="zh-CN" dirty="0"/>
              <a:t>a layer is allowed to see the modules in its bottom layer (layered module)</a:t>
            </a:r>
          </a:p>
          <a:p>
            <a:endParaRPr lang="en-US" altLang="zh-CN" dirty="0"/>
          </a:p>
          <a:p>
            <a:endParaRPr lang="zh-CN" altLang="en-US" dirty="0"/>
          </a:p>
        </p:txBody>
      </p:sp>
      <p:sp>
        <p:nvSpPr>
          <p:cNvPr id="4" name="页脚占位符 3">
            <a:extLst>
              <a:ext uri="{FF2B5EF4-FFF2-40B4-BE49-F238E27FC236}">
                <a16:creationId xmlns:a16="http://schemas.microsoft.com/office/drawing/2014/main" id="{890AC6D8-A14A-9E09-72F2-B9E637096BD8}"/>
              </a:ext>
            </a:extLst>
          </p:cNvPr>
          <p:cNvSpPr>
            <a:spLocks noGrp="1"/>
          </p:cNvSpPr>
          <p:nvPr>
            <p:ph type="ftr" sz="quarter" idx="11"/>
          </p:nvPr>
        </p:nvSpPr>
        <p:spPr/>
        <p:txBody>
          <a:bodyPr/>
          <a:lstStyle/>
          <a:p>
            <a:r>
              <a:rPr lang="en-US"/>
              <a:t>© Software Architecture</a:t>
            </a:r>
            <a:endParaRPr lang="en-AU" dirty="0"/>
          </a:p>
        </p:txBody>
      </p:sp>
    </p:spTree>
    <p:extLst>
      <p:ext uri="{BB962C8B-B14F-4D97-AF65-F5344CB8AC3E}">
        <p14:creationId xmlns:p14="http://schemas.microsoft.com/office/powerpoint/2010/main" val="30197489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077BF-56A1-289F-F86B-F9E87D545C2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41EC739-AE53-45EE-F52C-441D97997E39}"/>
              </a:ext>
            </a:extLst>
          </p:cNvPr>
          <p:cNvSpPr>
            <a:spLocks noGrp="1"/>
          </p:cNvSpPr>
          <p:nvPr>
            <p:ph type="title"/>
          </p:nvPr>
        </p:nvSpPr>
        <p:spPr/>
        <p:txBody>
          <a:bodyPr/>
          <a:lstStyle/>
          <a:p>
            <a:r>
              <a:rPr lang="zh-CN" altLang="en-US" dirty="0"/>
              <a:t>减少耦合 </a:t>
            </a:r>
            <a:r>
              <a:rPr lang="en-US" altLang="zh-CN" dirty="0"/>
              <a:t>(Reducing Coupling)</a:t>
            </a:r>
            <a:endParaRPr lang="zh-CN" altLang="en-US" dirty="0"/>
          </a:p>
        </p:txBody>
      </p:sp>
      <p:sp>
        <p:nvSpPr>
          <p:cNvPr id="3" name="内容占位符 2">
            <a:extLst>
              <a:ext uri="{FF2B5EF4-FFF2-40B4-BE49-F238E27FC236}">
                <a16:creationId xmlns:a16="http://schemas.microsoft.com/office/drawing/2014/main" id="{B90A006D-449D-33E5-CA60-8781E1ED8666}"/>
              </a:ext>
            </a:extLst>
          </p:cNvPr>
          <p:cNvSpPr>
            <a:spLocks noGrp="1"/>
          </p:cNvSpPr>
          <p:nvPr>
            <p:ph idx="1"/>
          </p:nvPr>
        </p:nvSpPr>
        <p:spPr/>
        <p:txBody>
          <a:bodyPr/>
          <a:lstStyle/>
          <a:p>
            <a:r>
              <a:rPr lang="en-US" altLang="zh-CN" sz="2800" b="1" dirty="0">
                <a:solidFill>
                  <a:schemeClr val="tx2"/>
                </a:solidFill>
              </a:rPr>
              <a:t>Restrict Dependencies</a:t>
            </a:r>
            <a:r>
              <a:rPr lang="en-US" altLang="zh-CN" sz="2800" dirty="0"/>
              <a:t>: restricts the modules which a given module interacts with or depends on. </a:t>
            </a:r>
          </a:p>
          <a:p>
            <a:r>
              <a:rPr lang="en-US" altLang="zh-CN" sz="2800" dirty="0"/>
              <a:t>By restricting a module’s visibility and by authorization. For example, a layer is allowed to see the modules in its bottom layer (layered module)</a:t>
            </a:r>
          </a:p>
          <a:p>
            <a:endParaRPr lang="en-US" altLang="zh-CN" dirty="0"/>
          </a:p>
          <a:p>
            <a:endParaRPr lang="zh-CN" altLang="en-US" dirty="0"/>
          </a:p>
        </p:txBody>
      </p:sp>
      <p:sp>
        <p:nvSpPr>
          <p:cNvPr id="4" name="页脚占位符 3">
            <a:extLst>
              <a:ext uri="{FF2B5EF4-FFF2-40B4-BE49-F238E27FC236}">
                <a16:creationId xmlns:a16="http://schemas.microsoft.com/office/drawing/2014/main" id="{5727AF5D-BDE5-B1F3-D432-010B516204F1}"/>
              </a:ext>
            </a:extLst>
          </p:cNvPr>
          <p:cNvSpPr>
            <a:spLocks noGrp="1"/>
          </p:cNvSpPr>
          <p:nvPr>
            <p:ph type="ftr" sz="quarter" idx="11"/>
          </p:nvPr>
        </p:nvSpPr>
        <p:spPr/>
        <p:txBody>
          <a:bodyPr/>
          <a:lstStyle/>
          <a:p>
            <a:r>
              <a:rPr lang="en-US"/>
              <a:t>© Software Architecture</a:t>
            </a:r>
            <a:endParaRPr lang="en-AU" dirty="0"/>
          </a:p>
        </p:txBody>
      </p:sp>
      <p:pic>
        <p:nvPicPr>
          <p:cNvPr id="6" name="图片 5">
            <a:extLst>
              <a:ext uri="{FF2B5EF4-FFF2-40B4-BE49-F238E27FC236}">
                <a16:creationId xmlns:a16="http://schemas.microsoft.com/office/drawing/2014/main" id="{F47A2AA8-14F9-25FB-CAA5-132E859C1E9D}"/>
              </a:ext>
            </a:extLst>
          </p:cNvPr>
          <p:cNvPicPr>
            <a:picLocks noChangeAspect="1"/>
          </p:cNvPicPr>
          <p:nvPr/>
        </p:nvPicPr>
        <p:blipFill>
          <a:blip r:embed="rId2"/>
          <a:stretch>
            <a:fillRect/>
          </a:stretch>
        </p:blipFill>
        <p:spPr>
          <a:xfrm>
            <a:off x="0" y="3732630"/>
            <a:ext cx="9144000" cy="1780674"/>
          </a:xfrm>
          <a:prstGeom prst="rect">
            <a:avLst/>
          </a:prstGeom>
        </p:spPr>
      </p:pic>
    </p:spTree>
    <p:extLst>
      <p:ext uri="{BB962C8B-B14F-4D97-AF65-F5344CB8AC3E}">
        <p14:creationId xmlns:p14="http://schemas.microsoft.com/office/powerpoint/2010/main" val="14442468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t>减少耦合 </a:t>
            </a:r>
            <a:r>
              <a:rPr lang="en-US" altLang="zh-CN" dirty="0"/>
              <a:t>(Reducing Coupling)</a:t>
            </a:r>
            <a:endParaRPr lang="en-US" dirty="0"/>
          </a:p>
        </p:txBody>
      </p:sp>
      <p:sp>
        <p:nvSpPr>
          <p:cNvPr id="3" name="Content Placeholder 2"/>
          <p:cNvSpPr>
            <a:spLocks noGrp="1"/>
          </p:cNvSpPr>
          <p:nvPr>
            <p:ph idx="1"/>
          </p:nvPr>
        </p:nvSpPr>
        <p:spPr/>
        <p:txBody>
          <a:bodyPr>
            <a:normAutofit/>
          </a:bodyPr>
          <a:lstStyle/>
          <a:p>
            <a:r>
              <a:rPr lang="en-US" b="1" dirty="0">
                <a:solidFill>
                  <a:schemeClr val="tx2"/>
                </a:solidFill>
              </a:rPr>
              <a:t>Abstract Common Services</a:t>
            </a:r>
            <a:r>
              <a:rPr lang="en-US" dirty="0"/>
              <a:t>: where two modules provide not-quite-the-same but similar services, it may be cost-effective to implement the services just once in a more general (abstract) form. </a:t>
            </a:r>
          </a:p>
          <a:p>
            <a:endParaRPr lang="en-US" dirty="0"/>
          </a:p>
        </p:txBody>
      </p:sp>
      <p:sp>
        <p:nvSpPr>
          <p:cNvPr id="4" name="Footer Placeholder 3"/>
          <p:cNvSpPr>
            <a:spLocks noGrp="1"/>
          </p:cNvSpPr>
          <p:nvPr>
            <p:ph type="ftr" sz="quarter" idx="11"/>
          </p:nvPr>
        </p:nvSpPr>
        <p:spPr/>
        <p:txBody>
          <a:bodyPr/>
          <a:lstStyle/>
          <a:p>
            <a:r>
              <a:rPr lang="en-AU"/>
              <a:t>© Software Architecture</a:t>
            </a:r>
            <a:endParaRPr lang="en-AU" dirty="0"/>
          </a:p>
        </p:txBody>
      </p:sp>
    </p:spTree>
    <p:extLst>
      <p:ext uri="{BB962C8B-B14F-4D97-AF65-F5344CB8AC3E}">
        <p14:creationId xmlns:p14="http://schemas.microsoft.com/office/powerpoint/2010/main" val="2157959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9B784E-1F3F-C634-00AE-13F0A8AD678E}"/>
              </a:ext>
            </a:extLst>
          </p:cNvPr>
          <p:cNvSpPr>
            <a:spLocks noGrp="1"/>
          </p:cNvSpPr>
          <p:nvPr>
            <p:ph type="title"/>
          </p:nvPr>
        </p:nvSpPr>
        <p:spPr/>
        <p:txBody>
          <a:bodyPr/>
          <a:lstStyle/>
          <a:p>
            <a:r>
              <a:rPr lang="zh-CN" altLang="en-US"/>
              <a:t>减少耦合 </a:t>
            </a:r>
            <a:r>
              <a:rPr lang="en-US" altLang="zh-CN"/>
              <a:t>(Reducing Coupling)</a:t>
            </a:r>
            <a:endParaRPr lang="zh-CN" altLang="en-US" dirty="0"/>
          </a:p>
        </p:txBody>
      </p:sp>
      <p:pic>
        <p:nvPicPr>
          <p:cNvPr id="6" name="内容占位符 5">
            <a:extLst>
              <a:ext uri="{FF2B5EF4-FFF2-40B4-BE49-F238E27FC236}">
                <a16:creationId xmlns:a16="http://schemas.microsoft.com/office/drawing/2014/main" id="{C79B4688-8311-FC5E-D57F-E490F50DE54E}"/>
              </a:ext>
            </a:extLst>
          </p:cNvPr>
          <p:cNvPicPr>
            <a:picLocks noGrp="1" noChangeAspect="1"/>
          </p:cNvPicPr>
          <p:nvPr>
            <p:ph idx="1"/>
          </p:nvPr>
        </p:nvPicPr>
        <p:blipFill>
          <a:blip r:embed="rId2"/>
          <a:stretch>
            <a:fillRect/>
          </a:stretch>
        </p:blipFill>
        <p:spPr>
          <a:xfrm>
            <a:off x="457200" y="1332813"/>
            <a:ext cx="8229600" cy="4728949"/>
          </a:xfrm>
          <a:prstGeom prst="rect">
            <a:avLst/>
          </a:prstGeom>
        </p:spPr>
      </p:pic>
      <p:sp>
        <p:nvSpPr>
          <p:cNvPr id="4" name="页脚占位符 3">
            <a:extLst>
              <a:ext uri="{FF2B5EF4-FFF2-40B4-BE49-F238E27FC236}">
                <a16:creationId xmlns:a16="http://schemas.microsoft.com/office/drawing/2014/main" id="{C8F81250-625D-9091-7E65-4EEF200ACF23}"/>
              </a:ext>
            </a:extLst>
          </p:cNvPr>
          <p:cNvSpPr>
            <a:spLocks noGrp="1"/>
          </p:cNvSpPr>
          <p:nvPr>
            <p:ph type="ftr" sz="quarter" idx="11"/>
          </p:nvPr>
        </p:nvSpPr>
        <p:spPr/>
        <p:txBody>
          <a:bodyPr/>
          <a:lstStyle/>
          <a:p>
            <a:r>
              <a:rPr lang="en-US"/>
              <a:t>© Software Architecture</a:t>
            </a:r>
            <a:endParaRPr lang="en-AU" dirty="0"/>
          </a:p>
        </p:txBody>
      </p:sp>
    </p:spTree>
    <p:extLst>
      <p:ext uri="{BB962C8B-B14F-4D97-AF65-F5344CB8AC3E}">
        <p14:creationId xmlns:p14="http://schemas.microsoft.com/office/powerpoint/2010/main" val="30631096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抽象前</a:t>
            </a:r>
          </a:p>
        </p:txBody>
      </p:sp>
      <p:pic>
        <p:nvPicPr>
          <p:cNvPr id="5" name="内容占位符 4"/>
          <p:cNvPicPr>
            <a:picLocks noGrp="1" noChangeAspect="1"/>
          </p:cNvPicPr>
          <p:nvPr>
            <p:ph idx="1"/>
          </p:nvPr>
        </p:nvPicPr>
        <p:blipFill>
          <a:blip r:embed="rId3"/>
          <a:stretch>
            <a:fillRect/>
          </a:stretch>
        </p:blipFill>
        <p:spPr>
          <a:xfrm>
            <a:off x="1553845" y="1422400"/>
            <a:ext cx="6035675" cy="4255770"/>
          </a:xfrm>
          <a:prstGeom prst="rect">
            <a:avLst/>
          </a:prstGeom>
        </p:spPr>
      </p:pic>
      <p:sp>
        <p:nvSpPr>
          <p:cNvPr id="4" name="页脚占位符 3"/>
          <p:cNvSpPr>
            <a:spLocks noGrp="1"/>
          </p:cNvSpPr>
          <p:nvPr>
            <p:ph type="ftr" sz="quarter" idx="11"/>
          </p:nvPr>
        </p:nvSpPr>
        <p:spPr/>
        <p:txBody>
          <a:bodyPr/>
          <a:lstStyle/>
          <a:p>
            <a:r>
              <a:rPr lang="en-US"/>
              <a:t>© Software Architecture</a:t>
            </a:r>
            <a:endParaRPr lang="en-AU" dirty="0"/>
          </a:p>
        </p:txBody>
      </p:sp>
      <p:sp>
        <p:nvSpPr>
          <p:cNvPr id="6" name="文本框 5"/>
          <p:cNvSpPr txBox="1"/>
          <p:nvPr/>
        </p:nvSpPr>
        <p:spPr>
          <a:xfrm>
            <a:off x="3275330" y="5805170"/>
            <a:ext cx="2569845" cy="368300"/>
          </a:xfrm>
          <a:prstGeom prst="rect">
            <a:avLst/>
          </a:prstGeom>
          <a:noFill/>
        </p:spPr>
        <p:txBody>
          <a:bodyPr wrap="square" rtlCol="0" anchor="t">
            <a:spAutoFit/>
          </a:bodyPr>
          <a:lstStyle/>
          <a:p>
            <a:r>
              <a:rPr lang="zh-CN" altLang="en-US">
                <a:sym typeface="+mn-ea"/>
              </a:rPr>
              <a:t>都有</a:t>
            </a:r>
            <a:r>
              <a:rPr lang="en-US" altLang="zh-CN">
                <a:sym typeface="+mn-ea"/>
              </a:rPr>
              <a:t>pay</a:t>
            </a:r>
            <a:r>
              <a:rPr lang="zh-CN" altLang="en-US">
                <a:sym typeface="+mn-ea"/>
              </a:rPr>
              <a:t>这个函数、功能</a:t>
            </a:r>
          </a:p>
        </p:txBody>
      </p:sp>
    </p:spTree>
    <p:extLst>
      <p:ext uri="{BB962C8B-B14F-4D97-AF65-F5344CB8AC3E}">
        <p14:creationId xmlns:p14="http://schemas.microsoft.com/office/powerpoint/2010/main" val="2526692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抽象后</a:t>
            </a:r>
          </a:p>
        </p:txBody>
      </p:sp>
      <p:pic>
        <p:nvPicPr>
          <p:cNvPr id="5" name="内容占位符 4"/>
          <p:cNvPicPr>
            <a:picLocks noGrp="1" noChangeAspect="1"/>
          </p:cNvPicPr>
          <p:nvPr>
            <p:ph idx="1"/>
          </p:nvPr>
        </p:nvPicPr>
        <p:blipFill>
          <a:blip r:embed="rId3"/>
          <a:stretch>
            <a:fillRect/>
          </a:stretch>
        </p:blipFill>
        <p:spPr>
          <a:xfrm>
            <a:off x="35560" y="975995"/>
            <a:ext cx="4858385" cy="5582920"/>
          </a:xfrm>
          <a:prstGeom prst="rect">
            <a:avLst/>
          </a:prstGeom>
        </p:spPr>
      </p:pic>
      <p:sp>
        <p:nvSpPr>
          <p:cNvPr id="4" name="页脚占位符 3"/>
          <p:cNvSpPr>
            <a:spLocks noGrp="1"/>
          </p:cNvSpPr>
          <p:nvPr>
            <p:ph type="ftr" sz="quarter" idx="11"/>
          </p:nvPr>
        </p:nvSpPr>
        <p:spPr/>
        <p:txBody>
          <a:bodyPr/>
          <a:lstStyle/>
          <a:p>
            <a:r>
              <a:rPr lang="en-US"/>
              <a:t>© Software Architecture</a:t>
            </a:r>
            <a:endParaRPr lang="en-AU" dirty="0"/>
          </a:p>
        </p:txBody>
      </p:sp>
      <p:pic>
        <p:nvPicPr>
          <p:cNvPr id="6" name="图片 5"/>
          <p:cNvPicPr>
            <a:picLocks noChangeAspect="1"/>
          </p:cNvPicPr>
          <p:nvPr/>
        </p:nvPicPr>
        <p:blipFill>
          <a:blip r:embed="rId4"/>
          <a:stretch>
            <a:fillRect/>
          </a:stretch>
        </p:blipFill>
        <p:spPr>
          <a:xfrm>
            <a:off x="5003800" y="981075"/>
            <a:ext cx="4126230" cy="3156585"/>
          </a:xfrm>
          <a:prstGeom prst="rect">
            <a:avLst/>
          </a:prstGeom>
        </p:spPr>
      </p:pic>
      <p:sp>
        <p:nvSpPr>
          <p:cNvPr id="7" name="文本框 6"/>
          <p:cNvSpPr txBox="1"/>
          <p:nvPr/>
        </p:nvSpPr>
        <p:spPr>
          <a:xfrm>
            <a:off x="5061585" y="4725035"/>
            <a:ext cx="3803015" cy="1476375"/>
          </a:xfrm>
          <a:prstGeom prst="rect">
            <a:avLst/>
          </a:prstGeom>
        </p:spPr>
        <p:txBody>
          <a:bodyPr wrap="square">
            <a:spAutoFit/>
          </a:bodyPr>
          <a:lstStyle/>
          <a:p>
            <a:pPr marL="0" indent="0">
              <a:spcBef>
                <a:spcPct val="0"/>
              </a:spcBef>
              <a:spcAft>
                <a:spcPct val="0"/>
              </a:spcAft>
              <a:buFont typeface="Arial" panose="020B0604020202020204"/>
              <a:buChar char="•"/>
            </a:pPr>
            <a:r>
              <a:rPr lang="zh-CN" altLang="en-US" b="0" i="0">
                <a:solidFill>
                  <a:srgbClr val="0F1115"/>
                </a:solidFill>
                <a:latin typeface="quote-cjk-patch"/>
                <a:ea typeface="quote-cjk-patch"/>
              </a:rPr>
              <a:t>通用逻辑（金额验证、日志记录）只写一次</a:t>
            </a:r>
          </a:p>
          <a:p>
            <a:pPr marL="0" indent="0">
              <a:spcBef>
                <a:spcPct val="0"/>
              </a:spcBef>
              <a:spcAft>
                <a:spcPct val="0"/>
              </a:spcAft>
              <a:buFont typeface="Arial" panose="020B0604020202020204"/>
              <a:buChar char="•"/>
            </a:pPr>
            <a:r>
              <a:rPr lang="zh-CN" altLang="en-US" b="0" i="0">
                <a:solidFill>
                  <a:srgbClr val="0F1115"/>
                </a:solidFill>
                <a:latin typeface="quote-cjk-patch"/>
                <a:ea typeface="quote-cjk-patch"/>
              </a:rPr>
              <a:t>添加新的支付方式（如</a:t>
            </a:r>
            <a:r>
              <a:rPr lang="en-US" altLang="zh-CN" b="0" i="0">
                <a:solidFill>
                  <a:srgbClr val="0F1115"/>
                </a:solidFill>
                <a:latin typeface="quote-cjk-patch"/>
                <a:ea typeface="quote-cjk-patch"/>
              </a:rPr>
              <a:t>Apple Pay</a:t>
            </a:r>
            <a:r>
              <a:rPr lang="zh-CN" altLang="en-US" b="0" i="0">
                <a:solidFill>
                  <a:srgbClr val="0F1115"/>
                </a:solidFill>
                <a:latin typeface="quote-cjk-patch"/>
                <a:ea typeface="quote-cjk-patch"/>
              </a:rPr>
              <a:t>）只需要实现特定的验证和网关调用</a:t>
            </a:r>
          </a:p>
          <a:p>
            <a:pPr marL="0" indent="0">
              <a:spcBef>
                <a:spcPct val="0"/>
              </a:spcBef>
              <a:spcAft>
                <a:spcPct val="0"/>
              </a:spcAft>
              <a:buFont typeface="Arial" panose="020B0604020202020204"/>
              <a:buChar char="•"/>
            </a:pPr>
            <a:r>
              <a:rPr lang="zh-CN" altLang="en-US" b="0" i="0">
                <a:solidFill>
                  <a:srgbClr val="0F1115"/>
                </a:solidFill>
                <a:latin typeface="quote-cjk-patch"/>
                <a:ea typeface="quote-cjk-patch"/>
              </a:rPr>
              <a:t>支付流程的变更只需要修改基类</a:t>
            </a:r>
          </a:p>
        </p:txBody>
      </p:sp>
    </p:spTree>
    <p:extLst>
      <p:ext uri="{BB962C8B-B14F-4D97-AF65-F5344CB8AC3E}">
        <p14:creationId xmlns:p14="http://schemas.microsoft.com/office/powerpoint/2010/main" val="32967655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DC074-DFE9-56F7-4EBA-A0999CF1C13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D27D3AF-9B49-382F-C60D-9049F1C86CEF}"/>
              </a:ext>
            </a:extLst>
          </p:cNvPr>
          <p:cNvSpPr>
            <a:spLocks noGrp="1"/>
          </p:cNvSpPr>
          <p:nvPr>
            <p:ph type="title"/>
          </p:nvPr>
        </p:nvSpPr>
        <p:spPr/>
        <p:txBody>
          <a:bodyPr/>
          <a:lstStyle/>
          <a:p>
            <a:r>
              <a:rPr lang="zh-CN" altLang="en-US"/>
              <a:t>负面例子</a:t>
            </a:r>
          </a:p>
        </p:txBody>
      </p:sp>
      <p:pic>
        <p:nvPicPr>
          <p:cNvPr id="5" name="内容占位符 4">
            <a:extLst>
              <a:ext uri="{FF2B5EF4-FFF2-40B4-BE49-F238E27FC236}">
                <a16:creationId xmlns:a16="http://schemas.microsoft.com/office/drawing/2014/main" id="{539FAD7F-F165-A821-2590-03E86D59BF03}"/>
              </a:ext>
            </a:extLst>
          </p:cNvPr>
          <p:cNvPicPr>
            <a:picLocks noGrp="1" noChangeAspect="1"/>
          </p:cNvPicPr>
          <p:nvPr>
            <p:ph idx="1"/>
          </p:nvPr>
        </p:nvPicPr>
        <p:blipFill>
          <a:blip r:embed="rId2"/>
          <a:stretch>
            <a:fillRect/>
          </a:stretch>
        </p:blipFill>
        <p:spPr>
          <a:xfrm>
            <a:off x="2051685" y="908685"/>
            <a:ext cx="5474970" cy="5622925"/>
          </a:xfrm>
          <a:prstGeom prst="rect">
            <a:avLst/>
          </a:prstGeom>
        </p:spPr>
      </p:pic>
      <p:sp>
        <p:nvSpPr>
          <p:cNvPr id="4" name="页脚占位符 3">
            <a:extLst>
              <a:ext uri="{FF2B5EF4-FFF2-40B4-BE49-F238E27FC236}">
                <a16:creationId xmlns:a16="http://schemas.microsoft.com/office/drawing/2014/main" id="{B5B6C055-5EA7-FA2D-6DFF-0DF0FBEC289E}"/>
              </a:ext>
            </a:extLst>
          </p:cNvPr>
          <p:cNvSpPr>
            <a:spLocks noGrp="1"/>
          </p:cNvSpPr>
          <p:nvPr>
            <p:ph type="ftr" sz="quarter" idx="11"/>
          </p:nvPr>
        </p:nvSpPr>
        <p:spPr/>
        <p:txBody>
          <a:bodyPr/>
          <a:lstStyle/>
          <a:p>
            <a:r>
              <a:rPr lang="en-US"/>
              <a:t>© Software Architecture</a:t>
            </a:r>
            <a:endParaRPr lang="en-AU" dirty="0"/>
          </a:p>
        </p:txBody>
      </p:sp>
    </p:spTree>
    <p:extLst>
      <p:ext uri="{BB962C8B-B14F-4D97-AF65-F5344CB8AC3E}">
        <p14:creationId xmlns:p14="http://schemas.microsoft.com/office/powerpoint/2010/main" val="10424395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正面例子</a:t>
            </a:r>
          </a:p>
        </p:txBody>
      </p:sp>
      <p:pic>
        <p:nvPicPr>
          <p:cNvPr id="5" name="内容占位符 4"/>
          <p:cNvPicPr>
            <a:picLocks noGrp="1" noChangeAspect="1"/>
          </p:cNvPicPr>
          <p:nvPr>
            <p:ph idx="1"/>
          </p:nvPr>
        </p:nvPicPr>
        <p:blipFill>
          <a:blip r:embed="rId2"/>
          <a:stretch>
            <a:fillRect/>
          </a:stretch>
        </p:blipFill>
        <p:spPr>
          <a:xfrm>
            <a:off x="35560" y="1628775"/>
            <a:ext cx="4536440" cy="4131310"/>
          </a:xfrm>
          <a:prstGeom prst="rect">
            <a:avLst/>
          </a:prstGeom>
        </p:spPr>
      </p:pic>
      <p:sp>
        <p:nvSpPr>
          <p:cNvPr id="4" name="页脚占位符 3"/>
          <p:cNvSpPr>
            <a:spLocks noGrp="1"/>
          </p:cNvSpPr>
          <p:nvPr>
            <p:ph type="ftr" sz="quarter" idx="11"/>
          </p:nvPr>
        </p:nvSpPr>
        <p:spPr/>
        <p:txBody>
          <a:bodyPr/>
          <a:lstStyle/>
          <a:p>
            <a:r>
              <a:rPr lang="en-US"/>
              <a:t>© Software Architecture</a:t>
            </a:r>
            <a:endParaRPr lang="en-AU" dirty="0"/>
          </a:p>
        </p:txBody>
      </p:sp>
      <p:pic>
        <p:nvPicPr>
          <p:cNvPr id="6" name="图片 5"/>
          <p:cNvPicPr>
            <a:picLocks noChangeAspect="1"/>
          </p:cNvPicPr>
          <p:nvPr/>
        </p:nvPicPr>
        <p:blipFill>
          <a:blip r:embed="rId3"/>
          <a:stretch>
            <a:fillRect/>
          </a:stretch>
        </p:blipFill>
        <p:spPr>
          <a:xfrm>
            <a:off x="4603750" y="908685"/>
            <a:ext cx="4559935" cy="5425440"/>
          </a:xfrm>
          <a:prstGeom prst="rect">
            <a:avLst/>
          </a:prstGeom>
        </p:spPr>
      </p:pic>
    </p:spTree>
    <p:extLst>
      <p:ext uri="{BB962C8B-B14F-4D97-AF65-F5344CB8AC3E}">
        <p14:creationId xmlns:p14="http://schemas.microsoft.com/office/powerpoint/2010/main" val="9661390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2"/>
          <a:stretch>
            <a:fillRect/>
          </a:stretch>
        </p:blipFill>
        <p:spPr>
          <a:xfrm>
            <a:off x="989965" y="2439670"/>
            <a:ext cx="7162800" cy="2514600"/>
          </a:xfrm>
          <a:prstGeom prst="rect">
            <a:avLst/>
          </a:prstGeom>
        </p:spPr>
      </p:pic>
      <p:sp>
        <p:nvSpPr>
          <p:cNvPr id="4" name="页脚占位符 3"/>
          <p:cNvSpPr>
            <a:spLocks noGrp="1"/>
          </p:cNvSpPr>
          <p:nvPr>
            <p:ph type="ftr" sz="quarter" idx="11"/>
          </p:nvPr>
        </p:nvSpPr>
        <p:spPr/>
        <p:txBody>
          <a:bodyPr/>
          <a:lstStyle/>
          <a:p>
            <a:r>
              <a:rPr lang="en-US"/>
              <a:t>© Software Architecture</a:t>
            </a:r>
            <a:endParaRPr lang="en-AU" dirty="0"/>
          </a:p>
        </p:txBody>
      </p:sp>
    </p:spTree>
    <p:extLst>
      <p:ext uri="{BB962C8B-B14F-4D97-AF65-F5344CB8AC3E}">
        <p14:creationId xmlns:p14="http://schemas.microsoft.com/office/powerpoint/2010/main" val="1321384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404664"/>
            <a:ext cx="7715200" cy="778098"/>
          </a:xfrm>
        </p:spPr>
        <p:txBody>
          <a:bodyPr>
            <a:normAutofit/>
          </a:bodyPr>
          <a:lstStyle/>
          <a:p>
            <a:r>
              <a:rPr lang="en-US" dirty="0"/>
              <a:t>Defer Binding</a:t>
            </a:r>
          </a:p>
        </p:txBody>
      </p:sp>
      <p:sp>
        <p:nvSpPr>
          <p:cNvPr id="3" name="Content Placeholder 2"/>
          <p:cNvSpPr>
            <a:spLocks noGrp="1"/>
          </p:cNvSpPr>
          <p:nvPr>
            <p:ph idx="1"/>
          </p:nvPr>
        </p:nvSpPr>
        <p:spPr/>
        <p:txBody>
          <a:bodyPr/>
          <a:lstStyle/>
          <a:p>
            <a:r>
              <a:rPr lang="en-US" dirty="0"/>
              <a:t>In general, the later in the life cycle we can bind values, the better.  </a:t>
            </a:r>
          </a:p>
          <a:p>
            <a:r>
              <a:rPr lang="en-US" dirty="0"/>
              <a:t>If we design artifacts with built-in flexibility, then exercising that flexibility is usually cheaper than hand-coding a specific change.</a:t>
            </a:r>
          </a:p>
          <a:p>
            <a:r>
              <a:rPr lang="en-US" dirty="0"/>
              <a:t>However, putting the mechanisms in place to facilitate that late binding tends to be more expensive.</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6789780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D245D0-A72D-2B7B-3B86-BC183B5204A1}"/>
              </a:ext>
            </a:extLst>
          </p:cNvPr>
          <p:cNvSpPr>
            <a:spLocks noGrp="1"/>
          </p:cNvSpPr>
          <p:nvPr>
            <p:ph type="title"/>
          </p:nvPr>
        </p:nvSpPr>
        <p:spPr/>
        <p:txBody>
          <a:bodyPr/>
          <a:lstStyle/>
          <a:p>
            <a:r>
              <a:rPr lang="en-US" altLang="zh-CN" dirty="0"/>
              <a:t>Defer Binding </a:t>
            </a:r>
            <a:endParaRPr lang="zh-CN" altLang="en-US" dirty="0"/>
          </a:p>
        </p:txBody>
      </p:sp>
      <p:pic>
        <p:nvPicPr>
          <p:cNvPr id="6" name="内容占位符 5">
            <a:extLst>
              <a:ext uri="{FF2B5EF4-FFF2-40B4-BE49-F238E27FC236}">
                <a16:creationId xmlns:a16="http://schemas.microsoft.com/office/drawing/2014/main" id="{5867319F-4081-70B4-2E00-7868D9ADFA6D}"/>
              </a:ext>
            </a:extLst>
          </p:cNvPr>
          <p:cNvPicPr>
            <a:picLocks noGrp="1" noChangeAspect="1"/>
          </p:cNvPicPr>
          <p:nvPr>
            <p:ph idx="1"/>
          </p:nvPr>
        </p:nvPicPr>
        <p:blipFill>
          <a:blip r:embed="rId2"/>
          <a:stretch>
            <a:fillRect/>
          </a:stretch>
        </p:blipFill>
        <p:spPr>
          <a:xfrm>
            <a:off x="457200" y="2204864"/>
            <a:ext cx="8229600" cy="2187930"/>
          </a:xfrm>
          <a:prstGeom prst="rect">
            <a:avLst/>
          </a:prstGeom>
        </p:spPr>
      </p:pic>
      <p:sp>
        <p:nvSpPr>
          <p:cNvPr id="4" name="页脚占位符 3">
            <a:extLst>
              <a:ext uri="{FF2B5EF4-FFF2-40B4-BE49-F238E27FC236}">
                <a16:creationId xmlns:a16="http://schemas.microsoft.com/office/drawing/2014/main" id="{2906B0AE-0CAC-63B4-652F-BDFB616DB19F}"/>
              </a:ext>
            </a:extLst>
          </p:cNvPr>
          <p:cNvSpPr>
            <a:spLocks noGrp="1"/>
          </p:cNvSpPr>
          <p:nvPr>
            <p:ph type="ftr" sz="quarter" idx="11"/>
          </p:nvPr>
        </p:nvSpPr>
        <p:spPr/>
        <p:txBody>
          <a:bodyPr/>
          <a:lstStyle/>
          <a:p>
            <a:r>
              <a:rPr lang="en-US"/>
              <a:t>© Software Architecture</a:t>
            </a:r>
            <a:endParaRPr lang="en-AU" dirty="0"/>
          </a:p>
        </p:txBody>
      </p:sp>
      <p:sp>
        <p:nvSpPr>
          <p:cNvPr id="7" name="矩形 6">
            <a:extLst>
              <a:ext uri="{FF2B5EF4-FFF2-40B4-BE49-F238E27FC236}">
                <a16:creationId xmlns:a16="http://schemas.microsoft.com/office/drawing/2014/main" id="{7A1D097A-4927-3504-8DF8-FA6BC49EB03B}"/>
              </a:ext>
            </a:extLst>
          </p:cNvPr>
          <p:cNvSpPr/>
          <p:nvPr/>
        </p:nvSpPr>
        <p:spPr>
          <a:xfrm>
            <a:off x="1907704" y="4725144"/>
            <a:ext cx="5328592" cy="7200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200" b="1" dirty="0"/>
              <a:t>不要写死</a:t>
            </a:r>
          </a:p>
        </p:txBody>
      </p:sp>
    </p:spTree>
    <p:extLst>
      <p:ext uri="{BB962C8B-B14F-4D97-AF65-F5344CB8AC3E}">
        <p14:creationId xmlns:p14="http://schemas.microsoft.com/office/powerpoint/2010/main" val="15756930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71600" y="2636912"/>
            <a:ext cx="7715200" cy="778098"/>
          </a:xfrm>
        </p:spPr>
        <p:txBody>
          <a:bodyPr/>
          <a:lstStyle/>
          <a:p>
            <a:r>
              <a:rPr lang="en-US" altLang="zh-CN" dirty="0"/>
              <a:t>Publish/Subscribe System </a:t>
            </a:r>
            <a:endParaRPr lang="zh-CN" altLang="en-US" dirty="0"/>
          </a:p>
        </p:txBody>
      </p:sp>
      <p:sp>
        <p:nvSpPr>
          <p:cNvPr id="4" name="页脚占位符 3"/>
          <p:cNvSpPr>
            <a:spLocks noGrp="1"/>
          </p:cNvSpPr>
          <p:nvPr>
            <p:ph type="ftr" sz="quarter" idx="11"/>
          </p:nvPr>
        </p:nvSpPr>
        <p:spPr/>
        <p:txBody>
          <a:bodyPr/>
          <a:lstStyle/>
          <a:p>
            <a:r>
              <a:rPr lang="en-US"/>
              <a:t>© Software Architecture</a:t>
            </a:r>
            <a:endParaRPr lang="en-AU"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714400" y="332656"/>
            <a:ext cx="7715200" cy="778098"/>
          </a:xfrm>
        </p:spPr>
        <p:txBody>
          <a:bodyPr>
            <a:noAutofit/>
          </a:bodyPr>
          <a:lstStyle/>
          <a:p>
            <a:r>
              <a:rPr lang="en-US" altLang="zh-TW" sz="4000" dirty="0"/>
              <a:t>Introduction: </a:t>
            </a:r>
            <a:br>
              <a:rPr lang="en-US" altLang="zh-TW" sz="4000" dirty="0"/>
            </a:br>
            <a:r>
              <a:rPr lang="en-US" altLang="zh-TW" sz="4000" dirty="0"/>
              <a:t>Motivations for Pub/Sub model</a:t>
            </a:r>
          </a:p>
        </p:txBody>
      </p:sp>
      <p:sp>
        <p:nvSpPr>
          <p:cNvPr id="23555" name="Rectangle 3"/>
          <p:cNvSpPr>
            <a:spLocks noGrp="1" noChangeArrowheads="1"/>
          </p:cNvSpPr>
          <p:nvPr>
            <p:ph type="body" idx="1"/>
          </p:nvPr>
        </p:nvSpPr>
        <p:spPr>
          <a:xfrm>
            <a:off x="457200" y="1556792"/>
            <a:ext cx="8363272" cy="4857403"/>
          </a:xfrm>
        </p:spPr>
        <p:txBody>
          <a:bodyPr>
            <a:normAutofit/>
          </a:bodyPr>
          <a:lstStyle/>
          <a:p>
            <a:pPr>
              <a:lnSpc>
                <a:spcPct val="90000"/>
              </a:lnSpc>
            </a:pPr>
            <a:r>
              <a:rPr lang="en-GB" altLang="zh-TW" sz="2800" dirty="0"/>
              <a:t>Traditional Client/Server communication model</a:t>
            </a:r>
          </a:p>
          <a:p>
            <a:pPr lvl="1">
              <a:lnSpc>
                <a:spcPct val="90000"/>
              </a:lnSpc>
              <a:buFont typeface="Wingdings" panose="05000000000000000000" pitchFamily="2" charset="2"/>
              <a:buNone/>
            </a:pPr>
            <a:r>
              <a:rPr lang="en-GB" altLang="zh-TW" sz="2400" dirty="0"/>
              <a:t>(Employs RPC, message queue etc..)</a:t>
            </a:r>
          </a:p>
          <a:p>
            <a:pPr lvl="1">
              <a:lnSpc>
                <a:spcPct val="90000"/>
              </a:lnSpc>
            </a:pPr>
            <a:r>
              <a:rPr lang="en-GB" altLang="zh-TW" sz="2400" dirty="0"/>
              <a:t>Synchronous, tightly-coupled request invocations.</a:t>
            </a:r>
          </a:p>
          <a:p>
            <a:pPr lvl="2">
              <a:lnSpc>
                <a:spcPct val="90000"/>
              </a:lnSpc>
            </a:pPr>
            <a:r>
              <a:rPr lang="zh-CN" altLang="en-GB" sz="2055" dirty="0"/>
              <a:t>两个都得一起改</a:t>
            </a:r>
            <a:endParaRPr lang="en-GB" altLang="zh-TW" sz="2055" dirty="0"/>
          </a:p>
          <a:p>
            <a:pPr lvl="1">
              <a:lnSpc>
                <a:spcPct val="90000"/>
              </a:lnSpc>
            </a:pPr>
            <a:r>
              <a:rPr lang="en-GB" altLang="zh-TW" sz="2400" dirty="0"/>
              <a:t>Very restrictive for distributed applications, especially for WAN and mobile environments. </a:t>
            </a:r>
          </a:p>
          <a:p>
            <a:pPr lvl="1">
              <a:lnSpc>
                <a:spcPct val="90000"/>
              </a:lnSpc>
            </a:pPr>
            <a:r>
              <a:rPr lang="en-GB" altLang="zh-TW" sz="2400" dirty="0"/>
              <a:t>When nodes/links fail, system is affected. Fault Tolerance must be built in to support this.</a:t>
            </a:r>
          </a:p>
          <a:p>
            <a:pPr lvl="1">
              <a:lnSpc>
                <a:spcPct val="90000"/>
              </a:lnSpc>
              <a:buFont typeface="Wingdings" panose="05000000000000000000" pitchFamily="2" charset="2"/>
              <a:buNone/>
            </a:pPr>
            <a:endParaRPr lang="en-GB" altLang="zh-TW" sz="2000" dirty="0"/>
          </a:p>
          <a:p>
            <a:pPr>
              <a:lnSpc>
                <a:spcPct val="90000"/>
              </a:lnSpc>
            </a:pPr>
            <a:r>
              <a:rPr lang="en-GB" altLang="zh-TW" sz="2400" dirty="0"/>
              <a:t>Re</a:t>
            </a:r>
            <a:r>
              <a:rPr lang="en-GB" altLang="zh-CN" sz="2400" dirty="0"/>
              <a:t>quire </a:t>
            </a:r>
            <a:r>
              <a:rPr lang="en-GB" altLang="zh-TW" sz="2400" dirty="0"/>
              <a:t>a </a:t>
            </a:r>
            <a:r>
              <a:rPr lang="en-GB" altLang="zh-CN" sz="2400" dirty="0"/>
              <a:t>more flexible and </a:t>
            </a:r>
            <a:r>
              <a:rPr lang="en-GB" altLang="zh-CN" sz="2400" b="1" dirty="0">
                <a:solidFill>
                  <a:schemeClr val="tx2"/>
                </a:solidFill>
              </a:rPr>
              <a:t>de-coupled</a:t>
            </a:r>
            <a:r>
              <a:rPr lang="en-GB" altLang="zh-CN" sz="2400" dirty="0"/>
              <a:t> communication style</a:t>
            </a:r>
            <a:r>
              <a:rPr lang="en-GB" altLang="zh-TW" sz="2400" dirty="0"/>
              <a:t> that offers asynchronous mechanisms. </a:t>
            </a:r>
          </a:p>
        </p:txBody>
      </p:sp>
      <p:sp>
        <p:nvSpPr>
          <p:cNvPr id="2" name="页脚占位符 1"/>
          <p:cNvSpPr>
            <a:spLocks noGrp="1"/>
          </p:cNvSpPr>
          <p:nvPr>
            <p:ph type="ftr" sz="quarter" idx="11"/>
          </p:nvPr>
        </p:nvSpPr>
        <p:spPr/>
        <p:txBody>
          <a:bodyPr/>
          <a:lstStyle/>
          <a:p>
            <a:r>
              <a:rPr lang="en-US"/>
              <a:t>© Software Architecture</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5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55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55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55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ltLang="zh-TW" sz="4000"/>
              <a:t>What is a Publish/Subscribe System?</a:t>
            </a:r>
          </a:p>
        </p:txBody>
      </p:sp>
      <p:sp>
        <p:nvSpPr>
          <p:cNvPr id="34819" name="Rectangle 3"/>
          <p:cNvSpPr>
            <a:spLocks noGrp="1" noChangeArrowheads="1"/>
          </p:cNvSpPr>
          <p:nvPr>
            <p:ph type="body" idx="1"/>
          </p:nvPr>
        </p:nvSpPr>
        <p:spPr/>
        <p:txBody>
          <a:bodyPr>
            <a:normAutofit fontScale="92500" lnSpcReduction="10000"/>
          </a:bodyPr>
          <a:lstStyle/>
          <a:p>
            <a:r>
              <a:rPr lang="en-US" altLang="zh-TW" sz="3000" b="1" dirty="0">
                <a:solidFill>
                  <a:schemeClr val="tx2"/>
                </a:solidFill>
              </a:rPr>
              <a:t>Pub/Sub System </a:t>
            </a:r>
            <a:r>
              <a:rPr lang="en-US" altLang="zh-TW" sz="3000" dirty="0"/>
              <a:t>is a communication paradigm that allows freedom in the (distributed) system by the decoupling of communication entities in terms of time, space and synchronization. </a:t>
            </a:r>
          </a:p>
          <a:p>
            <a:pPr lvl="1"/>
            <a:r>
              <a:rPr lang="zh-CN" altLang="en-US" sz="2625" dirty="0"/>
              <a:t>增删</a:t>
            </a:r>
            <a:r>
              <a:rPr lang="en-US" altLang="zh-TW" sz="2625" dirty="0"/>
              <a:t>订阅者</a:t>
            </a:r>
          </a:p>
          <a:p>
            <a:pPr lvl="1"/>
            <a:r>
              <a:rPr lang="zh-CN" altLang="en-US" sz="2625" dirty="0"/>
              <a:t>加删新功能</a:t>
            </a:r>
          </a:p>
          <a:p>
            <a:pPr lvl="1"/>
            <a:r>
              <a:rPr lang="en-US" altLang="zh-TW" sz="2625" dirty="0"/>
              <a:t>发布者/</a:t>
            </a:r>
            <a:r>
              <a:rPr lang="en-US" altLang="zh-TW" sz="2625" dirty="0">
                <a:sym typeface="+mn-ea"/>
              </a:rPr>
              <a:t>订阅者</a:t>
            </a:r>
            <a:r>
              <a:rPr lang="en-US" altLang="zh-TW" sz="2625" dirty="0"/>
              <a:t>只关注消息的生成/处理</a:t>
            </a:r>
          </a:p>
          <a:p>
            <a:pPr lvl="1"/>
            <a:r>
              <a:rPr lang="en-US" altLang="zh-TW" sz="2625" dirty="0"/>
              <a:t>e.g. 社交媒体/</a:t>
            </a:r>
            <a:r>
              <a:rPr lang="zh-CN" altLang="en-US" sz="2625" dirty="0"/>
              <a:t>公众号</a:t>
            </a:r>
            <a:r>
              <a:rPr lang="en-US" altLang="zh-CN" sz="2625" dirty="0"/>
              <a:t>/</a:t>
            </a:r>
            <a:r>
              <a:rPr lang="zh-CN" altLang="en-US" sz="2625" dirty="0"/>
              <a:t>天气</a:t>
            </a:r>
            <a:r>
              <a:rPr lang="en-US" altLang="zh-TW" sz="2625" dirty="0"/>
              <a:t>通知</a:t>
            </a:r>
          </a:p>
          <a:p>
            <a:r>
              <a:rPr lang="en-US" altLang="zh-TW" sz="3000" dirty="0"/>
              <a:t>An event service system that is asynchronous, anonymous and loosely-coupled. </a:t>
            </a:r>
          </a:p>
          <a:p>
            <a:r>
              <a:rPr lang="en-US" altLang="zh-TW" sz="3000" dirty="0"/>
              <a:t>Ability to quickly adapt in a dynamic environment. </a:t>
            </a:r>
          </a:p>
          <a:p>
            <a:endParaRPr lang="en-US" altLang="zh-TW" sz="2800" dirty="0"/>
          </a:p>
        </p:txBody>
      </p:sp>
      <p:sp>
        <p:nvSpPr>
          <p:cNvPr id="2" name="页脚占位符 1"/>
          <p:cNvSpPr>
            <a:spLocks noGrp="1"/>
          </p:cNvSpPr>
          <p:nvPr>
            <p:ph type="ftr" sz="quarter" idx="11"/>
          </p:nvPr>
        </p:nvSpPr>
        <p:spPr/>
        <p:txBody>
          <a:bodyPr/>
          <a:lstStyle/>
          <a:p>
            <a:r>
              <a:rPr lang="en-US"/>
              <a:t>© Software Architecture</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19">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81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TW" sz="4000"/>
              <a:t>Key components of Pub/Sub System</a:t>
            </a:r>
          </a:p>
        </p:txBody>
      </p:sp>
      <p:sp>
        <p:nvSpPr>
          <p:cNvPr id="24579" name="Rectangle 3"/>
          <p:cNvSpPr>
            <a:spLocks noGrp="1" noChangeArrowheads="1"/>
          </p:cNvSpPr>
          <p:nvPr>
            <p:ph type="body" idx="1"/>
          </p:nvPr>
        </p:nvSpPr>
        <p:spPr/>
        <p:txBody>
          <a:bodyPr/>
          <a:lstStyle/>
          <a:p>
            <a:pPr>
              <a:lnSpc>
                <a:spcPct val="90000"/>
              </a:lnSpc>
            </a:pPr>
            <a:r>
              <a:rPr lang="en-GB" altLang="zh-CN" b="1" dirty="0">
                <a:solidFill>
                  <a:schemeClr val="tx2"/>
                </a:solidFill>
              </a:rPr>
              <a:t>Publishers</a:t>
            </a:r>
            <a:r>
              <a:rPr lang="en-GB" altLang="zh-CN" dirty="0"/>
              <a:t> : Publishers generate event data and publishes them</a:t>
            </a:r>
            <a:r>
              <a:rPr lang="en-GB" altLang="zh-TW" dirty="0"/>
              <a:t>.</a:t>
            </a:r>
            <a:endParaRPr lang="en-GB" altLang="zh-CN" dirty="0"/>
          </a:p>
          <a:p>
            <a:pPr>
              <a:lnSpc>
                <a:spcPct val="90000"/>
              </a:lnSpc>
            </a:pPr>
            <a:r>
              <a:rPr lang="en-GB" altLang="zh-CN" b="1" dirty="0">
                <a:solidFill>
                  <a:schemeClr val="tx2"/>
                </a:solidFill>
              </a:rPr>
              <a:t>Subscribers</a:t>
            </a:r>
            <a:r>
              <a:rPr lang="en-GB" altLang="zh-CN" dirty="0"/>
              <a:t> : Subscribers submit their subscriptions and process the events received</a:t>
            </a:r>
          </a:p>
          <a:p>
            <a:pPr>
              <a:lnSpc>
                <a:spcPct val="90000"/>
              </a:lnSpc>
            </a:pPr>
            <a:r>
              <a:rPr lang="en-GB" altLang="zh-CN" b="1" dirty="0">
                <a:solidFill>
                  <a:schemeClr val="tx2"/>
                </a:solidFill>
              </a:rPr>
              <a:t>P/S service</a:t>
            </a:r>
            <a:r>
              <a:rPr lang="en-GB" altLang="zh-CN" dirty="0"/>
              <a:t>: It’s the mediator/broker that </a:t>
            </a:r>
            <a:r>
              <a:rPr lang="en-GB" altLang="zh-TW" dirty="0"/>
              <a:t>filters and </a:t>
            </a:r>
            <a:r>
              <a:rPr lang="en-GB" altLang="zh-CN" dirty="0"/>
              <a:t>routes events from publishers to interested subscribers</a:t>
            </a:r>
            <a:r>
              <a:rPr lang="en-GB" altLang="zh-TW" dirty="0"/>
              <a:t>. </a:t>
            </a:r>
            <a:endParaRPr lang="en-GB" altLang="zh-CN" dirty="0"/>
          </a:p>
          <a:p>
            <a:pPr>
              <a:lnSpc>
                <a:spcPct val="90000"/>
              </a:lnSpc>
            </a:pPr>
            <a:endParaRPr lang="en-US" altLang="zh-TW" dirty="0"/>
          </a:p>
        </p:txBody>
      </p:sp>
      <p:sp>
        <p:nvSpPr>
          <p:cNvPr id="2" name="页脚占位符 1"/>
          <p:cNvSpPr>
            <a:spLocks noGrp="1"/>
          </p:cNvSpPr>
          <p:nvPr>
            <p:ph type="ftr" sz="quarter" idx="11"/>
          </p:nvPr>
        </p:nvSpPr>
        <p:spPr/>
        <p:txBody>
          <a:bodyPr/>
          <a:lstStyle/>
          <a:p>
            <a:r>
              <a:rPr lang="en-US"/>
              <a:t>© Software Architecture</a:t>
            </a:r>
            <a:endParaRPr lang="en-AU" dirty="0"/>
          </a:p>
        </p:txBody>
      </p:sp>
      <p:pic>
        <p:nvPicPr>
          <p:cNvPr id="4" name="图片 3">
            <a:extLst>
              <a:ext uri="{FF2B5EF4-FFF2-40B4-BE49-F238E27FC236}">
                <a16:creationId xmlns:a16="http://schemas.microsoft.com/office/drawing/2014/main" id="{9381CC83-A62D-B53D-1364-A58A90E8F208}"/>
              </a:ext>
            </a:extLst>
          </p:cNvPr>
          <p:cNvPicPr>
            <a:picLocks noChangeAspect="1"/>
          </p:cNvPicPr>
          <p:nvPr/>
        </p:nvPicPr>
        <p:blipFill>
          <a:blip r:embed="rId3"/>
          <a:stretch>
            <a:fillRect/>
          </a:stretch>
        </p:blipFill>
        <p:spPr>
          <a:xfrm>
            <a:off x="333905" y="4725144"/>
            <a:ext cx="8476190" cy="131428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7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zh-TW"/>
              <a:t>Publish/Subscribe System </a:t>
            </a: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12" y="0"/>
            <a:ext cx="9197280" cy="6858000"/>
          </a:xfrm>
          <a:prstGeom prst="rect">
            <a:avLst/>
          </a:prstGeom>
        </p:spPr>
      </p:pic>
      <p:sp>
        <p:nvSpPr>
          <p:cNvPr id="2" name="页脚占位符 1"/>
          <p:cNvSpPr>
            <a:spLocks noGrp="1"/>
          </p:cNvSpPr>
          <p:nvPr>
            <p:ph type="ftr" sz="quarter" idx="11"/>
          </p:nvPr>
        </p:nvSpPr>
        <p:spPr/>
        <p:txBody>
          <a:bodyPr/>
          <a:lstStyle/>
          <a:p>
            <a:r>
              <a:rPr lang="en-US"/>
              <a:t>© Software Architecture</a:t>
            </a:r>
            <a:endParaRPr lang="en-AU"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777875"/>
          </a:xfrm>
        </p:spPr>
        <p:txBody>
          <a:bodyPr>
            <a:normAutofit fontScale="90000"/>
          </a:bodyPr>
          <a:lstStyle/>
          <a:p>
            <a:r>
              <a:rPr lang="en-US" altLang="zh-CN"/>
              <a:t>Example: Weather</a:t>
            </a:r>
            <a:br>
              <a:rPr lang="en-US" altLang="zh-CN"/>
            </a:br>
            <a:r>
              <a:rPr lang="en-US" altLang="zh-CN"/>
              <a:t> (</a:t>
            </a:r>
            <a:r>
              <a:rPr lang="zh-CN" altLang="en-US">
                <a:sym typeface="+mn-ea"/>
              </a:rPr>
              <a:t>Traditional Client/Server Model</a:t>
            </a:r>
            <a:r>
              <a:rPr lang="en-US" altLang="zh-CN"/>
              <a:t>)</a:t>
            </a:r>
          </a:p>
        </p:txBody>
      </p:sp>
      <p:sp>
        <p:nvSpPr>
          <p:cNvPr id="3" name="内容占位符 2"/>
          <p:cNvSpPr>
            <a:spLocks noGrp="1"/>
          </p:cNvSpPr>
          <p:nvPr>
            <p:ph idx="1"/>
          </p:nvPr>
        </p:nvSpPr>
        <p:spPr/>
        <p:txBody>
          <a:bodyPr>
            <a:noAutofit/>
          </a:bodyPr>
          <a:lstStyle/>
          <a:p>
            <a:pPr marL="0" indent="0">
              <a:buNone/>
            </a:pPr>
            <a:r>
              <a:rPr lang="zh-CN" altLang="en-US" sz="1600" b="1" dirty="0"/>
              <a:t>How It Works:</a:t>
            </a:r>
          </a:p>
          <a:p>
            <a:r>
              <a:rPr lang="zh-CN" altLang="en-US" sz="1600" dirty="0"/>
              <a:t>The user</a:t>
            </a:r>
            <a:r>
              <a:rPr lang="en-US" altLang="zh-CN" sz="1600" dirty="0"/>
              <a:t>’</a:t>
            </a:r>
            <a:r>
              <a:rPr lang="zh-CN" altLang="en-US" sz="1600" dirty="0"/>
              <a:t>s device (client) sends a request to the weather service’s server, usually using RPC (Remote Procedure Call).</a:t>
            </a:r>
          </a:p>
          <a:p>
            <a:r>
              <a:rPr lang="zh-CN" altLang="en-US" sz="1600" dirty="0"/>
              <a:t>The server processes the request and sends back the current weather information.</a:t>
            </a:r>
          </a:p>
          <a:p>
            <a:pPr marL="0" algn="l">
              <a:buClrTx/>
              <a:buSzTx/>
              <a:buNone/>
            </a:pPr>
            <a:r>
              <a:rPr lang="zh-CN" altLang="en-US" sz="1600" b="1" dirty="0"/>
              <a:t>Characteristics:</a:t>
            </a:r>
          </a:p>
          <a:p>
            <a:r>
              <a:rPr lang="zh-CN" altLang="en-US" sz="1600" dirty="0"/>
              <a:t>Tight Coupling: The client and server are directly dependent on each other. The client needs to know the server's interface to request weather data correctly.</a:t>
            </a:r>
          </a:p>
          <a:p>
            <a:r>
              <a:rPr lang="zh-CN" altLang="en-US" sz="1600" dirty="0"/>
              <a:t>Synchronous Requests: Every time the user wants an update, the client must manually request it from the server and wait for a response. If the server is slow, the user experience suffers.</a:t>
            </a:r>
          </a:p>
          <a:p>
            <a:pPr marL="0" algn="l">
              <a:buClrTx/>
              <a:buSzTx/>
              <a:buNone/>
            </a:pPr>
            <a:r>
              <a:rPr lang="zh-CN" altLang="en-US" sz="1600" b="1" dirty="0"/>
              <a:t>Problems:</a:t>
            </a:r>
          </a:p>
          <a:p>
            <a:r>
              <a:rPr lang="zh-CN" altLang="en-US" sz="1600" dirty="0"/>
              <a:t>Delayed Information: Users have to keep asking for updates, which might lead them to miss important information (like sudden weather changes).</a:t>
            </a:r>
          </a:p>
          <a:p>
            <a:r>
              <a:rPr lang="zh-CN" altLang="en-US" sz="1600" dirty="0"/>
              <a:t>Load Issues: During high demand, the server may face many requests, causing performance problems.</a:t>
            </a:r>
          </a:p>
          <a:p>
            <a:r>
              <a:rPr lang="zh-CN" altLang="en-US" sz="1600" dirty="0"/>
              <a:t>Poor Scalability: Adding new features (like personalized weather alerts) might require changes to both the client and server code, increasing maintenance costs.</a:t>
            </a:r>
          </a:p>
        </p:txBody>
      </p:sp>
      <p:sp>
        <p:nvSpPr>
          <p:cNvPr id="4" name="页脚占位符 3"/>
          <p:cNvSpPr>
            <a:spLocks noGrp="1"/>
          </p:cNvSpPr>
          <p:nvPr>
            <p:ph type="ftr" sz="quarter" idx="11"/>
          </p:nvPr>
        </p:nvSpPr>
        <p:spPr/>
        <p:txBody>
          <a:bodyPr/>
          <a:lstStyle/>
          <a:p>
            <a:r>
              <a:rPr lang="en-US"/>
              <a:t>© Software Architecture</a:t>
            </a:r>
            <a:endParaRPr lang="en-AU"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955"/>
            <a:ext cx="8229600" cy="777875"/>
          </a:xfrm>
        </p:spPr>
        <p:txBody>
          <a:bodyPr>
            <a:normAutofit fontScale="90000"/>
          </a:bodyPr>
          <a:lstStyle/>
          <a:p>
            <a:r>
              <a:rPr lang="en-US" altLang="zh-CN"/>
              <a:t>Example: Weather</a:t>
            </a:r>
            <a:br>
              <a:rPr lang="en-US" altLang="zh-CN"/>
            </a:br>
            <a:r>
              <a:rPr lang="en-US" altLang="zh-CN"/>
              <a:t> (</a:t>
            </a:r>
            <a:r>
              <a:rPr lang="en-US" altLang="zh-TW">
                <a:sym typeface="+mn-ea"/>
              </a:rPr>
              <a:t>Publish/Subscribe</a:t>
            </a:r>
            <a:r>
              <a:rPr lang="en-US" altLang="zh-CN"/>
              <a:t>)</a:t>
            </a:r>
          </a:p>
        </p:txBody>
      </p:sp>
      <p:sp>
        <p:nvSpPr>
          <p:cNvPr id="3" name="内容占位符 2"/>
          <p:cNvSpPr>
            <a:spLocks noGrp="1"/>
          </p:cNvSpPr>
          <p:nvPr>
            <p:ph idx="1"/>
          </p:nvPr>
        </p:nvSpPr>
        <p:spPr/>
        <p:txBody>
          <a:bodyPr>
            <a:noAutofit/>
          </a:bodyPr>
          <a:lstStyle/>
          <a:p>
            <a:pPr marL="0" algn="l">
              <a:buClrTx/>
              <a:buSzTx/>
              <a:buNone/>
            </a:pPr>
            <a:r>
              <a:rPr lang="zh-CN" altLang="en-US" sz="1600" b="1"/>
              <a:t>How It Works:</a:t>
            </a:r>
          </a:p>
          <a:p>
            <a:r>
              <a:rPr lang="zh-CN" altLang="en-US" sz="1600"/>
              <a:t>Users subscribe to weather updates for specific areas. When the weather changes, the service publishes the information to all subscribers.</a:t>
            </a:r>
          </a:p>
          <a:p>
            <a:r>
              <a:rPr lang="zh-CN" altLang="en-US" sz="1600"/>
              <a:t>Users receive new weather information without having to request it manually.</a:t>
            </a:r>
          </a:p>
          <a:p>
            <a:pPr marL="0" indent="0">
              <a:buNone/>
            </a:pPr>
            <a:r>
              <a:rPr lang="zh-CN" altLang="en-US" sz="1600" b="1"/>
              <a:t>Characteristics:</a:t>
            </a:r>
          </a:p>
          <a:p>
            <a:r>
              <a:rPr lang="zh-CN" altLang="en-US" sz="1600"/>
              <a:t>Loose Coupling: The publisher (weather service) and subscribers (user devices) are not directly dependent on each other. Users just need to subscribe to the information they want, and the weather service doesn’t need to know the details of each user.</a:t>
            </a:r>
          </a:p>
          <a:p>
            <a:r>
              <a:rPr lang="zh-CN" altLang="en-US" sz="1600"/>
              <a:t>Asynchronous Notifications: The weather service actively pushes notifications when information changes, allowing users to receive updates in real-time without waiting.</a:t>
            </a:r>
          </a:p>
          <a:p>
            <a:pPr marL="0" algn="l">
              <a:buClrTx/>
              <a:buSzTx/>
              <a:buNone/>
            </a:pPr>
            <a:r>
              <a:rPr lang="zh-CN" altLang="en-US" sz="1600" b="1"/>
              <a:t>Advantages:</a:t>
            </a:r>
          </a:p>
          <a:p>
            <a:r>
              <a:rPr lang="zh-CN" altLang="en-US" sz="1600"/>
              <a:t>Instant Updates: Users get timely alerts for sudden weather changes, improving their experience.</a:t>
            </a:r>
          </a:p>
          <a:p>
            <a:r>
              <a:rPr lang="zh-CN" altLang="en-US" sz="1600"/>
              <a:t>Balanced System Load: The server sends out information during weather changes, reducing the request burden on users.</a:t>
            </a:r>
          </a:p>
          <a:p>
            <a:r>
              <a:rPr lang="zh-CN" altLang="en-US" sz="1600"/>
              <a:t>Easy to Expand: New features, like multi-area subscriptions or personalized alerts, can be added easily without major changes to existing code.</a:t>
            </a:r>
          </a:p>
        </p:txBody>
      </p:sp>
      <p:sp>
        <p:nvSpPr>
          <p:cNvPr id="4" name="页脚占位符 3"/>
          <p:cNvSpPr>
            <a:spLocks noGrp="1"/>
          </p:cNvSpPr>
          <p:nvPr>
            <p:ph type="ftr" sz="quarter" idx="11"/>
          </p:nvPr>
        </p:nvSpPr>
        <p:spPr/>
        <p:txBody>
          <a:bodyPr/>
          <a:lstStyle/>
          <a:p>
            <a:r>
              <a:rPr lang="en-US"/>
              <a:t>© Software Architecture</a:t>
            </a:r>
            <a:endParaRPr lang="en-AU"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olidFill>
                  <a:srgbClr val="0F1115"/>
                </a:solidFill>
                <a:latin typeface="Times New Roman" panose="02020603050405020304" charset="0"/>
                <a:ea typeface="quote-cjk-patch"/>
                <a:cs typeface="Times New Roman" panose="02020603050405020304" charset="0"/>
                <a:sym typeface="+mn-ea"/>
              </a:rPr>
              <a:t>Publish-Subscribe </a:t>
            </a:r>
            <a:r>
              <a:rPr lang="en-US" altLang="zh-CN">
                <a:latin typeface="Times New Roman" panose="02020603050405020304" charset="0"/>
                <a:cs typeface="Times New Roman" panose="02020603050405020304" charset="0"/>
              </a:rPr>
              <a:t>vs UDDI</a:t>
            </a:r>
          </a:p>
        </p:txBody>
      </p:sp>
      <p:sp>
        <p:nvSpPr>
          <p:cNvPr id="4" name="页脚占位符 3"/>
          <p:cNvSpPr>
            <a:spLocks noGrp="1"/>
          </p:cNvSpPr>
          <p:nvPr>
            <p:ph type="ftr" sz="quarter" idx="11"/>
          </p:nvPr>
        </p:nvSpPr>
        <p:spPr/>
        <p:txBody>
          <a:bodyPr/>
          <a:lstStyle/>
          <a:p>
            <a:r>
              <a:rPr lang="en-US"/>
              <a:t>© Software Architecture</a:t>
            </a:r>
            <a:endParaRPr lang="en-AU" dirty="0"/>
          </a:p>
        </p:txBody>
      </p:sp>
      <p:graphicFrame>
        <p:nvGraphicFramePr>
          <p:cNvPr id="5" name="表格 4"/>
          <p:cNvGraphicFramePr/>
          <p:nvPr>
            <p:custDataLst>
              <p:tags r:id="rId1"/>
            </p:custDataLst>
            <p:extLst>
              <p:ext uri="{D42A27DB-BD31-4B8C-83A1-F6EECF244321}">
                <p14:modId xmlns:p14="http://schemas.microsoft.com/office/powerpoint/2010/main" val="2277999277"/>
              </p:ext>
            </p:extLst>
          </p:nvPr>
        </p:nvGraphicFramePr>
        <p:xfrm>
          <a:off x="179512" y="1052736"/>
          <a:ext cx="8856986" cy="5177790"/>
        </p:xfrm>
        <a:graphic>
          <a:graphicData uri="http://schemas.openxmlformats.org/drawingml/2006/table">
            <a:tbl>
              <a:tblPr/>
              <a:tblGrid>
                <a:gridCol w="1546458">
                  <a:extLst>
                    <a:ext uri="{9D8B030D-6E8A-4147-A177-3AD203B41FA5}">
                      <a16:colId xmlns:a16="http://schemas.microsoft.com/office/drawing/2014/main" val="20000"/>
                    </a:ext>
                  </a:extLst>
                </a:gridCol>
                <a:gridCol w="3964842">
                  <a:extLst>
                    <a:ext uri="{9D8B030D-6E8A-4147-A177-3AD203B41FA5}">
                      <a16:colId xmlns:a16="http://schemas.microsoft.com/office/drawing/2014/main" val="20001"/>
                    </a:ext>
                  </a:extLst>
                </a:gridCol>
                <a:gridCol w="3345686">
                  <a:extLst>
                    <a:ext uri="{9D8B030D-6E8A-4147-A177-3AD203B41FA5}">
                      <a16:colId xmlns:a16="http://schemas.microsoft.com/office/drawing/2014/main" val="20002"/>
                    </a:ext>
                  </a:extLst>
                </a:gridCol>
              </a:tblGrid>
              <a:tr h="476885">
                <a:tc>
                  <a:txBody>
                    <a:bodyPr/>
                    <a:lstStyle/>
                    <a:p>
                      <a:pPr algn="l">
                        <a:lnSpc>
                          <a:spcPts val="1250"/>
                        </a:lnSpc>
                      </a:pPr>
                      <a:r>
                        <a:rPr lang="zh-CN" altLang="en-US" sz="1400" b="0" i="0">
                          <a:solidFill>
                            <a:srgbClr val="0F1115"/>
                          </a:solidFill>
                          <a:latin typeface="Times New Roman" panose="02020603050405020304" charset="0"/>
                          <a:ea typeface="quote-cjk-patch"/>
                        </a:rPr>
                        <a:t>特性</a:t>
                      </a:r>
                    </a:p>
                  </a:txBody>
                  <a:tcPr marL="0" marR="101917" marT="63817" marB="63817" anchor="ctr">
                    <a:lnL>
                      <a:noFill/>
                    </a:lnL>
                    <a:lnR>
                      <a:noFill/>
                    </a:lnR>
                    <a:lnT>
                      <a:noFill/>
                    </a:lnT>
                    <a:lnB>
                      <a:noFill/>
                    </a:lnB>
                    <a:noFill/>
                  </a:tcPr>
                </a:tc>
                <a:tc>
                  <a:txBody>
                    <a:bodyPr/>
                    <a:lstStyle/>
                    <a:p>
                      <a:pPr algn="l">
                        <a:lnSpc>
                          <a:spcPts val="1250"/>
                        </a:lnSpc>
                      </a:pPr>
                      <a:r>
                        <a:rPr lang="zh-CN" altLang="en-US" sz="1400" b="0" i="0">
                          <a:solidFill>
                            <a:srgbClr val="0F1115"/>
                          </a:solidFill>
                          <a:latin typeface="Times New Roman" panose="02020603050405020304" charset="0"/>
                          <a:ea typeface="quote-cjk-patch"/>
                          <a:cs typeface="Times New Roman" panose="02020603050405020304" charset="0"/>
                        </a:rPr>
                        <a:t>发布</a:t>
                      </a:r>
                      <a:r>
                        <a:rPr lang="en-US" altLang="zh-CN" sz="1400" b="0" i="0">
                          <a:solidFill>
                            <a:srgbClr val="0F1115"/>
                          </a:solidFill>
                          <a:latin typeface="Times New Roman" panose="02020603050405020304" charset="0"/>
                          <a:ea typeface="quote-cjk-patch"/>
                          <a:cs typeface="Times New Roman" panose="02020603050405020304" charset="0"/>
                        </a:rPr>
                        <a:t>-</a:t>
                      </a:r>
                      <a:r>
                        <a:rPr lang="zh-CN" altLang="en-US" sz="1400" b="0" i="0">
                          <a:solidFill>
                            <a:srgbClr val="0F1115"/>
                          </a:solidFill>
                          <a:latin typeface="Times New Roman" panose="02020603050405020304" charset="0"/>
                          <a:ea typeface="quote-cjk-patch"/>
                          <a:cs typeface="Times New Roman" panose="02020603050405020304" charset="0"/>
                        </a:rPr>
                        <a:t>订阅模式 </a:t>
                      </a:r>
                      <a:r>
                        <a:rPr lang="en-US" altLang="zh-CN" sz="1400" b="0" i="0">
                          <a:solidFill>
                            <a:srgbClr val="0F1115"/>
                          </a:solidFill>
                          <a:latin typeface="Times New Roman" panose="02020603050405020304" charset="0"/>
                          <a:ea typeface="quote-cjk-patch"/>
                          <a:cs typeface="Times New Roman" panose="02020603050405020304" charset="0"/>
                        </a:rPr>
                        <a:t>(Publish-Subscribe)</a:t>
                      </a:r>
                    </a:p>
                  </a:txBody>
                  <a:tcPr marL="101917" marR="101917" marT="63817" marB="63817" anchor="ctr">
                    <a:lnL>
                      <a:noFill/>
                    </a:lnL>
                    <a:lnR>
                      <a:noFill/>
                    </a:lnR>
                    <a:lnT>
                      <a:noFill/>
                    </a:lnT>
                    <a:lnB>
                      <a:noFill/>
                    </a:lnB>
                    <a:noFill/>
                  </a:tcPr>
                </a:tc>
                <a:tc>
                  <a:txBody>
                    <a:bodyPr/>
                    <a:lstStyle/>
                    <a:p>
                      <a:pPr algn="l">
                        <a:lnSpc>
                          <a:spcPts val="1250"/>
                        </a:lnSpc>
                      </a:pPr>
                      <a:r>
                        <a:rPr lang="en-US" altLang="zh-CN" sz="1400" b="0" i="0">
                          <a:solidFill>
                            <a:srgbClr val="0F1115"/>
                          </a:solidFill>
                          <a:latin typeface="Times New Roman" panose="02020603050405020304" charset="0"/>
                          <a:ea typeface="quote-cjk-patch"/>
                          <a:cs typeface="Times New Roman" panose="02020603050405020304" charset="0"/>
                        </a:rPr>
                        <a:t>UDDI (Universal Description, Discovery, and Integration)</a:t>
                      </a:r>
                    </a:p>
                  </a:txBody>
                  <a:tcPr marL="101917" marR="101917" marT="63817" marB="63817" anchor="ctr">
                    <a:lnL>
                      <a:noFill/>
                    </a:lnL>
                    <a:lnR>
                      <a:noFill/>
                    </a:lnR>
                    <a:lnT>
                      <a:noFill/>
                    </a:lnT>
                    <a:lnB>
                      <a:noFill/>
                    </a:lnB>
                    <a:noFill/>
                  </a:tcPr>
                </a:tc>
                <a:extLst>
                  <a:ext uri="{0D108BD9-81ED-4DB2-BD59-A6C34878D82A}">
                    <a16:rowId xmlns:a16="http://schemas.microsoft.com/office/drawing/2014/main" val="10000"/>
                  </a:ext>
                </a:extLst>
              </a:tr>
              <a:tr h="647065">
                <a:tc>
                  <a:txBody>
                    <a:bodyPr/>
                    <a:lstStyle/>
                    <a:p>
                      <a:pPr>
                        <a:lnSpc>
                          <a:spcPts val="1250"/>
                        </a:lnSpc>
                      </a:pPr>
                      <a:r>
                        <a:rPr lang="zh-CN" altLang="en-US" sz="1400" b="0" i="0">
                          <a:solidFill>
                            <a:srgbClr val="0F1115"/>
                          </a:solidFill>
                          <a:latin typeface="Times New Roman" panose="02020603050405020304" charset="0"/>
                          <a:ea typeface="quote-cjk-patch"/>
                        </a:rPr>
                        <a:t>核心目的</a:t>
                      </a:r>
                    </a:p>
                  </a:txBody>
                  <a:tcPr marL="0" marR="101917" marT="63817" marB="63817" anchor="ctr">
                    <a:lnL>
                      <a:noFill/>
                    </a:lnL>
                    <a:lnR>
                      <a:noFill/>
                    </a:lnR>
                    <a:lnT>
                      <a:noFill/>
                    </a:lnT>
                    <a:lnB>
                      <a:noFill/>
                    </a:lnB>
                    <a:noFill/>
                  </a:tcPr>
                </a:tc>
                <a:tc>
                  <a:txBody>
                    <a:bodyPr/>
                    <a:lstStyle/>
                    <a:p>
                      <a:pPr>
                        <a:lnSpc>
                          <a:spcPts val="1250"/>
                        </a:lnSpc>
                      </a:pPr>
                      <a:r>
                        <a:rPr lang="zh-CN" altLang="en-US" sz="1400" b="0" i="0">
                          <a:solidFill>
                            <a:srgbClr val="0F1115"/>
                          </a:solidFill>
                          <a:latin typeface="Times New Roman" panose="02020603050405020304" charset="0"/>
                          <a:ea typeface="quote-cjk-patch"/>
                        </a:rPr>
                        <a:t>解耦消息的发送者（发布者）和接收者（订阅者），实现事件的实时、异步广播。</a:t>
                      </a:r>
                    </a:p>
                  </a:txBody>
                  <a:tcPr marL="101917" marR="101917" marT="63817" marB="63817" anchor="ctr">
                    <a:lnL>
                      <a:noFill/>
                    </a:lnL>
                    <a:lnR>
                      <a:noFill/>
                    </a:lnR>
                    <a:lnT>
                      <a:noFill/>
                    </a:lnT>
                    <a:lnB>
                      <a:noFill/>
                    </a:lnB>
                    <a:noFill/>
                  </a:tcPr>
                </a:tc>
                <a:tc>
                  <a:txBody>
                    <a:bodyPr/>
                    <a:lstStyle/>
                    <a:p>
                      <a:pPr>
                        <a:lnSpc>
                          <a:spcPts val="1250"/>
                        </a:lnSpc>
                      </a:pPr>
                      <a:r>
                        <a:rPr lang="zh-CN" altLang="en-US" sz="1400" b="0" i="0">
                          <a:solidFill>
                            <a:srgbClr val="0F1115"/>
                          </a:solidFill>
                          <a:latin typeface="Times New Roman" panose="02020603050405020304" charset="0"/>
                          <a:ea typeface="quote-cjk-patch"/>
                        </a:rPr>
                        <a:t>存储和发现可用的服务。让服务消费者能找到他们想调用的服务提供者。</a:t>
                      </a:r>
                    </a:p>
                  </a:txBody>
                  <a:tcPr marL="101917" marR="0" marT="63817" marB="63817" anchor="ctr">
                    <a:lnL>
                      <a:noFill/>
                    </a:lnL>
                    <a:lnR>
                      <a:noFill/>
                    </a:lnR>
                    <a:lnT>
                      <a:noFill/>
                    </a:lnT>
                    <a:lnB>
                      <a:noFill/>
                    </a:lnB>
                    <a:noFill/>
                  </a:tcPr>
                </a:tc>
                <a:extLst>
                  <a:ext uri="{0D108BD9-81ED-4DB2-BD59-A6C34878D82A}">
                    <a16:rowId xmlns:a16="http://schemas.microsoft.com/office/drawing/2014/main" val="10001"/>
                  </a:ext>
                </a:extLst>
              </a:tr>
              <a:tr h="647700">
                <a:tc>
                  <a:txBody>
                    <a:bodyPr/>
                    <a:lstStyle/>
                    <a:p>
                      <a:pPr>
                        <a:lnSpc>
                          <a:spcPts val="1250"/>
                        </a:lnSpc>
                      </a:pPr>
                      <a:r>
                        <a:rPr lang="zh-CN" altLang="en-US" sz="1400" b="0" i="0" dirty="0">
                          <a:solidFill>
                            <a:srgbClr val="0F1115"/>
                          </a:solidFill>
                          <a:latin typeface="Times New Roman" panose="02020603050405020304" charset="0"/>
                          <a:ea typeface="quote-cjk-patch"/>
                        </a:rPr>
                        <a:t>要解决的问题</a:t>
                      </a:r>
                    </a:p>
                  </a:txBody>
                  <a:tcPr marL="0" marR="101917" marT="63817" marB="63817" anchor="ctr">
                    <a:lnL>
                      <a:noFill/>
                    </a:lnL>
                    <a:lnR>
                      <a:noFill/>
                    </a:lnR>
                    <a:lnT>
                      <a:noFill/>
                    </a:lnT>
                    <a:lnB>
                      <a:noFill/>
                    </a:lnB>
                    <a:noFill/>
                  </a:tcPr>
                </a:tc>
                <a:tc>
                  <a:txBody>
                    <a:bodyPr/>
                    <a:lstStyle/>
                    <a:p>
                      <a:pPr>
                        <a:lnSpc>
                          <a:spcPts val="1250"/>
                        </a:lnSpc>
                      </a:pPr>
                      <a:r>
                        <a:rPr lang="zh-CN" altLang="en-US" sz="1400" b="0" i="0">
                          <a:solidFill>
                            <a:srgbClr val="0F1115"/>
                          </a:solidFill>
                          <a:latin typeface="Times New Roman" panose="02020603050405020304" charset="0"/>
                          <a:ea typeface="quote-cjk-patch"/>
                        </a:rPr>
                        <a:t>组件之间直接依赖、紧耦合。发布者不需要知道谁订阅了消息，订阅者也不需要知道消息来自哪里。</a:t>
                      </a:r>
                    </a:p>
                  </a:txBody>
                  <a:tcPr marL="101917" marR="101917" marT="63817" marB="63817" anchor="ctr">
                    <a:lnL>
                      <a:noFill/>
                    </a:lnL>
                    <a:lnR>
                      <a:noFill/>
                    </a:lnR>
                    <a:lnT>
                      <a:noFill/>
                    </a:lnT>
                    <a:lnB>
                      <a:noFill/>
                    </a:lnB>
                    <a:noFill/>
                  </a:tcPr>
                </a:tc>
                <a:tc>
                  <a:txBody>
                    <a:bodyPr/>
                    <a:lstStyle/>
                    <a:p>
                      <a:pPr>
                        <a:lnSpc>
                          <a:spcPts val="1250"/>
                        </a:lnSpc>
                      </a:pPr>
                      <a:r>
                        <a:rPr lang="zh-CN" altLang="en-US" sz="1400" b="0" i="0">
                          <a:solidFill>
                            <a:srgbClr val="0F1115"/>
                          </a:solidFill>
                          <a:latin typeface="Times New Roman" panose="02020603050405020304" charset="0"/>
                          <a:ea typeface="quote-cjk-patch"/>
                        </a:rPr>
                        <a:t>服务位置透明性。服务消费者不需要硬编码服务提供者的网络地址。</a:t>
                      </a:r>
                    </a:p>
                  </a:txBody>
                  <a:tcPr marL="101917" marR="0" marT="63817" marB="63817" anchor="ctr">
                    <a:lnL>
                      <a:noFill/>
                    </a:lnL>
                    <a:lnR>
                      <a:noFill/>
                    </a:lnR>
                    <a:lnT>
                      <a:noFill/>
                    </a:lnT>
                    <a:lnB>
                      <a:noFill/>
                    </a:lnB>
                    <a:noFill/>
                  </a:tcPr>
                </a:tc>
                <a:extLst>
                  <a:ext uri="{0D108BD9-81ED-4DB2-BD59-A6C34878D82A}">
                    <a16:rowId xmlns:a16="http://schemas.microsoft.com/office/drawing/2014/main" val="10002"/>
                  </a:ext>
                </a:extLst>
              </a:tr>
              <a:tr h="817245">
                <a:tc>
                  <a:txBody>
                    <a:bodyPr/>
                    <a:lstStyle/>
                    <a:p>
                      <a:pPr>
                        <a:lnSpc>
                          <a:spcPts val="1250"/>
                        </a:lnSpc>
                      </a:pPr>
                      <a:r>
                        <a:rPr lang="zh-CN" altLang="en-US" sz="1400" b="0" i="0" dirty="0">
                          <a:solidFill>
                            <a:srgbClr val="0F1115"/>
                          </a:solidFill>
                          <a:latin typeface="Times New Roman" panose="02020603050405020304" charset="0"/>
                          <a:ea typeface="quote-cjk-patch"/>
                        </a:rPr>
                        <a:t>交互模式</a:t>
                      </a:r>
                    </a:p>
                  </a:txBody>
                  <a:tcPr marL="0" marR="101917" marT="63817" marB="63817" anchor="ctr">
                    <a:lnL>
                      <a:noFill/>
                    </a:lnL>
                    <a:lnR>
                      <a:noFill/>
                    </a:lnR>
                    <a:lnT>
                      <a:noFill/>
                    </a:lnT>
                    <a:lnB>
                      <a:noFill/>
                    </a:lnB>
                    <a:noFill/>
                  </a:tcPr>
                </a:tc>
                <a:tc>
                  <a:txBody>
                    <a:bodyPr/>
                    <a:lstStyle/>
                    <a:p>
                      <a:pPr>
                        <a:lnSpc>
                          <a:spcPts val="1250"/>
                        </a:lnSpc>
                      </a:pPr>
                      <a:r>
                        <a:rPr lang="zh-CN" altLang="en-US" sz="1400" b="0" i="0">
                          <a:solidFill>
                            <a:srgbClr val="0F1115"/>
                          </a:solidFill>
                          <a:latin typeface="Times New Roman" panose="02020603050405020304" charset="0"/>
                          <a:ea typeface="quote-cjk-patch"/>
                          <a:cs typeface="Times New Roman" panose="02020603050405020304" charset="0"/>
                        </a:rPr>
                        <a:t>一对多 </a:t>
                      </a:r>
                      <a:r>
                        <a:rPr lang="en-US" altLang="zh-CN" sz="1400" b="0" i="0">
                          <a:solidFill>
                            <a:srgbClr val="0F1115"/>
                          </a:solidFill>
                          <a:latin typeface="Times New Roman" panose="02020603050405020304" charset="0"/>
                          <a:ea typeface="quote-cjk-patch"/>
                          <a:cs typeface="Times New Roman" panose="02020603050405020304" charset="0"/>
                        </a:rPr>
                        <a:t>(1:N) </a:t>
                      </a:r>
                      <a:r>
                        <a:rPr lang="zh-CN" altLang="en-US" sz="1400" b="0" i="0">
                          <a:solidFill>
                            <a:srgbClr val="0F1115"/>
                          </a:solidFill>
                          <a:latin typeface="Times New Roman" panose="02020603050405020304" charset="0"/>
                          <a:ea typeface="quote-cjk-patch"/>
                          <a:cs typeface="Times New Roman" panose="02020603050405020304" charset="0"/>
                        </a:rPr>
                        <a:t>或</a:t>
                      </a:r>
                      <a:r>
                        <a:rPr lang="en-US" altLang="zh-CN" sz="1400" b="0" i="0">
                          <a:solidFill>
                            <a:srgbClr val="0F1115"/>
                          </a:solidFill>
                          <a:latin typeface="Times New Roman" panose="02020603050405020304" charset="0"/>
                          <a:ea typeface="quote-cjk-patch"/>
                          <a:cs typeface="Times New Roman" panose="02020603050405020304" charset="0"/>
                        </a:rPr>
                        <a:t> </a:t>
                      </a:r>
                      <a:r>
                        <a:rPr lang="zh-CN" altLang="en-US" sz="1400" b="0" i="0">
                          <a:solidFill>
                            <a:srgbClr val="0F1115"/>
                          </a:solidFill>
                          <a:latin typeface="Times New Roman" panose="02020603050405020304" charset="0"/>
                          <a:ea typeface="quote-cjk-patch"/>
                          <a:cs typeface="Times New Roman" panose="02020603050405020304" charset="0"/>
                        </a:rPr>
                        <a:t>多对多 </a:t>
                      </a:r>
                      <a:r>
                        <a:rPr lang="en-US" altLang="zh-CN" sz="1400" b="0" i="0">
                          <a:solidFill>
                            <a:srgbClr val="0F1115"/>
                          </a:solidFill>
                          <a:latin typeface="Times New Roman" panose="02020603050405020304" charset="0"/>
                          <a:ea typeface="quote-cjk-patch"/>
                          <a:cs typeface="Times New Roman" panose="02020603050405020304" charset="0"/>
                        </a:rPr>
                        <a:t>(M:N)</a:t>
                      </a:r>
                      <a:r>
                        <a:rPr lang="zh-CN" altLang="en-US" sz="1400" b="0" i="0">
                          <a:solidFill>
                            <a:srgbClr val="0F1115"/>
                          </a:solidFill>
                          <a:latin typeface="Times New Roman" panose="02020603050405020304" charset="0"/>
                          <a:ea typeface="quote-cjk-patch"/>
                          <a:cs typeface="Times New Roman" panose="02020603050405020304" charset="0"/>
                        </a:rPr>
                        <a:t>。一个事件可以被多个订阅者接收。</a:t>
                      </a:r>
                    </a:p>
                  </a:txBody>
                  <a:tcPr marL="101917" marR="101917" marT="63817" marB="63817" anchor="ctr">
                    <a:lnL>
                      <a:noFill/>
                    </a:lnL>
                    <a:lnR>
                      <a:noFill/>
                    </a:lnR>
                    <a:lnT>
                      <a:noFill/>
                    </a:lnT>
                    <a:lnB>
                      <a:noFill/>
                    </a:lnB>
                    <a:noFill/>
                  </a:tcPr>
                </a:tc>
                <a:tc>
                  <a:txBody>
                    <a:bodyPr/>
                    <a:lstStyle/>
                    <a:p>
                      <a:pPr>
                        <a:lnSpc>
                          <a:spcPts val="1250"/>
                        </a:lnSpc>
                      </a:pPr>
                      <a:r>
                        <a:rPr lang="zh-CN" altLang="en-US" sz="1400" b="0" i="0" dirty="0">
                          <a:solidFill>
                            <a:srgbClr val="0F1115"/>
                          </a:solidFill>
                          <a:latin typeface="Times New Roman" panose="02020603050405020304" charset="0"/>
                          <a:ea typeface="quote-cjk-patch"/>
                          <a:cs typeface="Times New Roman" panose="02020603050405020304" charset="0"/>
                        </a:rPr>
                        <a:t>查询</a:t>
                      </a:r>
                      <a:r>
                        <a:rPr lang="en-US" altLang="zh-CN" sz="1400" b="0" i="0" dirty="0">
                          <a:solidFill>
                            <a:srgbClr val="0F1115"/>
                          </a:solidFill>
                          <a:latin typeface="Times New Roman" panose="02020603050405020304" charset="0"/>
                          <a:ea typeface="quote-cjk-patch"/>
                          <a:cs typeface="Times New Roman" panose="02020603050405020304" charset="0"/>
                        </a:rPr>
                        <a:t>-</a:t>
                      </a:r>
                      <a:r>
                        <a:rPr lang="zh-CN" altLang="en-US" sz="1400" b="0" i="0" dirty="0">
                          <a:solidFill>
                            <a:srgbClr val="0F1115"/>
                          </a:solidFill>
                          <a:latin typeface="Times New Roman" panose="02020603050405020304" charset="0"/>
                          <a:ea typeface="quote-cjk-patch"/>
                          <a:cs typeface="Times New Roman" panose="02020603050405020304" charset="0"/>
                        </a:rPr>
                        <a:t>响应 </a:t>
                      </a:r>
                      <a:r>
                        <a:rPr lang="en-US" altLang="zh-CN" sz="1400" b="0" i="0" dirty="0">
                          <a:solidFill>
                            <a:srgbClr val="0F1115"/>
                          </a:solidFill>
                          <a:latin typeface="Times New Roman" panose="02020603050405020304" charset="0"/>
                          <a:ea typeface="quote-cjk-patch"/>
                          <a:cs typeface="Times New Roman" panose="02020603050405020304" charset="0"/>
                        </a:rPr>
                        <a:t>(Query-Response) </a:t>
                      </a:r>
                      <a:r>
                        <a:rPr lang="zh-CN" altLang="en-US" sz="1400" b="0" i="0" dirty="0">
                          <a:solidFill>
                            <a:srgbClr val="0F1115"/>
                          </a:solidFill>
                          <a:latin typeface="Times New Roman" panose="02020603050405020304" charset="0"/>
                          <a:ea typeface="quote-cjk-patch"/>
                          <a:cs typeface="Times New Roman" panose="02020603050405020304" charset="0"/>
                        </a:rPr>
                        <a:t>或</a:t>
                      </a:r>
                      <a:r>
                        <a:rPr lang="en-US" altLang="zh-CN" sz="1400" b="0" i="0" dirty="0">
                          <a:solidFill>
                            <a:srgbClr val="0F1115"/>
                          </a:solidFill>
                          <a:latin typeface="Times New Roman" panose="02020603050405020304" charset="0"/>
                          <a:ea typeface="quote-cjk-patch"/>
                          <a:cs typeface="Times New Roman" panose="02020603050405020304" charset="0"/>
                        </a:rPr>
                        <a:t> </a:t>
                      </a:r>
                      <a:r>
                        <a:rPr lang="zh-CN" altLang="en-US" sz="1400" b="0" i="0" dirty="0">
                          <a:solidFill>
                            <a:srgbClr val="0F1115"/>
                          </a:solidFill>
                          <a:latin typeface="Times New Roman" panose="02020603050405020304" charset="0"/>
                          <a:ea typeface="quote-cjk-patch"/>
                          <a:cs typeface="Times New Roman" panose="02020603050405020304" charset="0"/>
                        </a:rPr>
                        <a:t>注册</a:t>
                      </a:r>
                      <a:r>
                        <a:rPr lang="en-US" altLang="zh-CN" sz="1400" b="0" i="0" dirty="0">
                          <a:solidFill>
                            <a:srgbClr val="0F1115"/>
                          </a:solidFill>
                          <a:latin typeface="Times New Roman" panose="02020603050405020304" charset="0"/>
                          <a:ea typeface="quote-cjk-patch"/>
                          <a:cs typeface="Times New Roman" panose="02020603050405020304" charset="0"/>
                        </a:rPr>
                        <a:t>-</a:t>
                      </a:r>
                      <a:r>
                        <a:rPr lang="zh-CN" altLang="en-US" sz="1400" b="0" i="0" dirty="0">
                          <a:solidFill>
                            <a:srgbClr val="0F1115"/>
                          </a:solidFill>
                          <a:latin typeface="Times New Roman" panose="02020603050405020304" charset="0"/>
                          <a:ea typeface="quote-cjk-patch"/>
                          <a:cs typeface="Times New Roman" panose="02020603050405020304" charset="0"/>
                        </a:rPr>
                        <a:t>查找 </a:t>
                      </a:r>
                      <a:r>
                        <a:rPr lang="en-US" altLang="zh-CN" sz="1400" b="0" i="0" dirty="0">
                          <a:solidFill>
                            <a:srgbClr val="0F1115"/>
                          </a:solidFill>
                          <a:latin typeface="Times New Roman" panose="02020603050405020304" charset="0"/>
                          <a:ea typeface="quote-cjk-patch"/>
                          <a:cs typeface="Times New Roman" panose="02020603050405020304" charset="0"/>
                        </a:rPr>
                        <a:t>(Register-Lookup)</a:t>
                      </a:r>
                      <a:r>
                        <a:rPr lang="zh-CN" altLang="en-US" sz="1400" b="0" i="0" dirty="0">
                          <a:solidFill>
                            <a:srgbClr val="0F1115"/>
                          </a:solidFill>
                          <a:latin typeface="Times New Roman" panose="02020603050405020304" charset="0"/>
                          <a:ea typeface="quote-cjk-patch"/>
                          <a:cs typeface="Times New Roman" panose="02020603050405020304" charset="0"/>
                        </a:rPr>
                        <a:t>。本质上是一对一的交互。</a:t>
                      </a:r>
                    </a:p>
                  </a:txBody>
                  <a:tcPr marL="101917" marR="0" marT="63817" marB="63817" anchor="ctr">
                    <a:lnL>
                      <a:noFill/>
                    </a:lnL>
                    <a:lnR>
                      <a:noFill/>
                    </a:lnR>
                    <a:lnT>
                      <a:noFill/>
                    </a:lnT>
                    <a:lnB>
                      <a:noFill/>
                    </a:lnB>
                    <a:noFill/>
                  </a:tcPr>
                </a:tc>
                <a:extLst>
                  <a:ext uri="{0D108BD9-81ED-4DB2-BD59-A6C34878D82A}">
                    <a16:rowId xmlns:a16="http://schemas.microsoft.com/office/drawing/2014/main" val="10003"/>
                  </a:ext>
                </a:extLst>
              </a:tr>
              <a:tr h="476885">
                <a:tc>
                  <a:txBody>
                    <a:bodyPr/>
                    <a:lstStyle/>
                    <a:p>
                      <a:pPr>
                        <a:lnSpc>
                          <a:spcPts val="1250"/>
                        </a:lnSpc>
                      </a:pPr>
                      <a:r>
                        <a:rPr lang="zh-CN" altLang="en-US" sz="1400" b="0" i="0">
                          <a:solidFill>
                            <a:srgbClr val="0F1115"/>
                          </a:solidFill>
                          <a:latin typeface="Times New Roman" panose="02020603050405020304" charset="0"/>
                          <a:ea typeface="quote-cjk-patch"/>
                        </a:rPr>
                        <a:t>数据流</a:t>
                      </a:r>
                    </a:p>
                  </a:txBody>
                  <a:tcPr marL="0" marR="101917" marT="63817" marB="63817" anchor="ctr">
                    <a:lnL>
                      <a:noFill/>
                    </a:lnL>
                    <a:lnR>
                      <a:noFill/>
                    </a:lnR>
                    <a:lnT>
                      <a:noFill/>
                    </a:lnT>
                    <a:lnB>
                      <a:noFill/>
                    </a:lnB>
                    <a:noFill/>
                  </a:tcPr>
                </a:tc>
                <a:tc>
                  <a:txBody>
                    <a:bodyPr/>
                    <a:lstStyle/>
                    <a:p>
                      <a:pPr>
                        <a:lnSpc>
                          <a:spcPts val="1250"/>
                        </a:lnSpc>
                      </a:pPr>
                      <a:r>
                        <a:rPr lang="zh-CN" altLang="en-US" sz="1400" b="0" i="0">
                          <a:solidFill>
                            <a:srgbClr val="0F1115"/>
                          </a:solidFill>
                          <a:latin typeface="Times New Roman" panose="02020603050405020304" charset="0"/>
                          <a:ea typeface="quote-cjk-patch"/>
                          <a:cs typeface="Times New Roman" panose="02020603050405020304" charset="0"/>
                        </a:rPr>
                        <a:t>持续的、流动的“事件流”或“消息流”。数据是动态的，与时间相关。</a:t>
                      </a:r>
                    </a:p>
                  </a:txBody>
                  <a:tcPr marL="101917" marR="101917" marT="63817" marB="63817" anchor="ctr">
                    <a:lnL>
                      <a:noFill/>
                    </a:lnL>
                    <a:lnR>
                      <a:noFill/>
                    </a:lnR>
                    <a:lnT>
                      <a:noFill/>
                    </a:lnT>
                    <a:lnB>
                      <a:noFill/>
                    </a:lnB>
                    <a:noFill/>
                  </a:tcPr>
                </a:tc>
                <a:tc>
                  <a:txBody>
                    <a:bodyPr/>
                    <a:lstStyle/>
                    <a:p>
                      <a:pPr>
                        <a:lnSpc>
                          <a:spcPts val="1250"/>
                        </a:lnSpc>
                      </a:pPr>
                      <a:r>
                        <a:rPr lang="zh-CN" altLang="en-US" sz="1400" b="0" i="0">
                          <a:solidFill>
                            <a:srgbClr val="0F1115"/>
                          </a:solidFill>
                          <a:latin typeface="Times New Roman" panose="02020603050405020304" charset="0"/>
                          <a:ea typeface="quote-cjk-patch"/>
                          <a:cs typeface="Times New Roman" panose="02020603050405020304" charset="0"/>
                        </a:rPr>
                        <a:t>相对静态的“服务描述信息”。数据是元数据，变化不频繁。</a:t>
                      </a:r>
                    </a:p>
                  </a:txBody>
                  <a:tcPr marL="101917" marR="0" marT="63817" marB="63817" anchor="ctr">
                    <a:lnL>
                      <a:noFill/>
                    </a:lnL>
                    <a:lnR>
                      <a:noFill/>
                    </a:lnR>
                    <a:lnT>
                      <a:noFill/>
                    </a:lnT>
                    <a:lnB>
                      <a:noFill/>
                    </a:lnB>
                    <a:noFill/>
                  </a:tcPr>
                </a:tc>
                <a:extLst>
                  <a:ext uri="{0D108BD9-81ED-4DB2-BD59-A6C34878D82A}">
                    <a16:rowId xmlns:a16="http://schemas.microsoft.com/office/drawing/2014/main" val="10004"/>
                  </a:ext>
                </a:extLst>
              </a:tr>
              <a:tr h="476885">
                <a:tc>
                  <a:txBody>
                    <a:bodyPr/>
                    <a:lstStyle/>
                    <a:p>
                      <a:pPr>
                        <a:lnSpc>
                          <a:spcPts val="1250"/>
                        </a:lnSpc>
                      </a:pPr>
                      <a:r>
                        <a:rPr lang="zh-CN" altLang="en-US" sz="1400" b="0" i="0">
                          <a:solidFill>
                            <a:srgbClr val="0F1115"/>
                          </a:solidFill>
                          <a:latin typeface="Times New Roman" panose="02020603050405020304" charset="0"/>
                          <a:ea typeface="quote-cjk-patch"/>
                        </a:rPr>
                        <a:t>生命周期</a:t>
                      </a:r>
                    </a:p>
                  </a:txBody>
                  <a:tcPr marL="0" marR="101917" marT="63817" marB="63817" anchor="ctr">
                    <a:lnL>
                      <a:noFill/>
                    </a:lnL>
                    <a:lnR>
                      <a:noFill/>
                    </a:lnR>
                    <a:lnT>
                      <a:noFill/>
                    </a:lnT>
                    <a:lnB>
                      <a:noFill/>
                    </a:lnB>
                    <a:noFill/>
                  </a:tcPr>
                </a:tc>
                <a:tc>
                  <a:txBody>
                    <a:bodyPr/>
                    <a:lstStyle/>
                    <a:p>
                      <a:pPr>
                        <a:lnSpc>
                          <a:spcPts val="1250"/>
                        </a:lnSpc>
                      </a:pPr>
                      <a:r>
                        <a:rPr lang="zh-CN" altLang="en-US" sz="1400" b="0" i="0">
                          <a:solidFill>
                            <a:srgbClr val="0F1115"/>
                          </a:solidFill>
                          <a:latin typeface="Times New Roman" panose="02020603050405020304" charset="0"/>
                          <a:ea typeface="quote-cjk-patch"/>
                        </a:rPr>
                        <a:t>短暂的。消息被消费后通常就不存在了（除非有持久化策略）。</a:t>
                      </a:r>
                    </a:p>
                  </a:txBody>
                  <a:tcPr marL="101917" marR="101917" marT="63817" marB="63817" anchor="ctr">
                    <a:lnL>
                      <a:noFill/>
                    </a:lnL>
                    <a:lnR>
                      <a:noFill/>
                    </a:lnR>
                    <a:lnT>
                      <a:noFill/>
                    </a:lnT>
                    <a:lnB>
                      <a:noFill/>
                    </a:lnB>
                    <a:noFill/>
                  </a:tcPr>
                </a:tc>
                <a:tc>
                  <a:txBody>
                    <a:bodyPr/>
                    <a:lstStyle/>
                    <a:p>
                      <a:pPr>
                        <a:lnSpc>
                          <a:spcPts val="1250"/>
                        </a:lnSpc>
                      </a:pPr>
                      <a:r>
                        <a:rPr lang="zh-CN" altLang="en-US" sz="1400" b="0" i="0">
                          <a:solidFill>
                            <a:srgbClr val="0F1115"/>
                          </a:solidFill>
                          <a:latin typeface="Times New Roman" panose="02020603050405020304" charset="0"/>
                          <a:ea typeface="quote-cjk-patch"/>
                        </a:rPr>
                        <a:t>长久的。服务注册信息会一直存在，直到服务被注销。</a:t>
                      </a:r>
                    </a:p>
                  </a:txBody>
                  <a:tcPr marL="101917" marR="0" marT="63817" marB="63817" anchor="ctr">
                    <a:lnL>
                      <a:noFill/>
                    </a:lnL>
                    <a:lnR>
                      <a:noFill/>
                    </a:lnR>
                    <a:lnT>
                      <a:noFill/>
                    </a:lnT>
                    <a:lnB>
                      <a:noFill/>
                    </a:lnB>
                    <a:noFill/>
                  </a:tcPr>
                </a:tc>
                <a:extLst>
                  <a:ext uri="{0D108BD9-81ED-4DB2-BD59-A6C34878D82A}">
                    <a16:rowId xmlns:a16="http://schemas.microsoft.com/office/drawing/2014/main" val="10005"/>
                  </a:ext>
                </a:extLst>
              </a:tr>
              <a:tr h="647065">
                <a:tc>
                  <a:txBody>
                    <a:bodyPr/>
                    <a:lstStyle/>
                    <a:p>
                      <a:pPr>
                        <a:lnSpc>
                          <a:spcPts val="1250"/>
                        </a:lnSpc>
                      </a:pPr>
                      <a:r>
                        <a:rPr lang="zh-CN" altLang="en-US" sz="1400" b="0" i="0">
                          <a:solidFill>
                            <a:srgbClr val="0F1115"/>
                          </a:solidFill>
                          <a:latin typeface="Times New Roman" panose="02020603050405020304" charset="0"/>
                          <a:ea typeface="quote-cjk-patch"/>
                        </a:rPr>
                        <a:t>典型中间件</a:t>
                      </a:r>
                    </a:p>
                  </a:txBody>
                  <a:tcPr marL="0" marR="101917" marT="63817" marB="63817" anchor="ctr">
                    <a:lnL>
                      <a:noFill/>
                    </a:lnL>
                    <a:lnR>
                      <a:noFill/>
                    </a:lnR>
                    <a:lnT>
                      <a:noFill/>
                    </a:lnT>
                    <a:lnB>
                      <a:noFill/>
                    </a:lnB>
                    <a:noFill/>
                  </a:tcPr>
                </a:tc>
                <a:tc>
                  <a:txBody>
                    <a:bodyPr/>
                    <a:lstStyle/>
                    <a:p>
                      <a:pPr>
                        <a:lnSpc>
                          <a:spcPts val="1250"/>
                        </a:lnSpc>
                      </a:pPr>
                      <a:r>
                        <a:rPr lang="zh-CN" altLang="en-US" sz="1400" b="0" i="0">
                          <a:solidFill>
                            <a:srgbClr val="0F1115"/>
                          </a:solidFill>
                          <a:latin typeface="Times New Roman" panose="02020603050405020304" charset="0"/>
                          <a:ea typeface="quote-cjk-patch"/>
                          <a:cs typeface="Times New Roman" panose="02020603050405020304" charset="0"/>
                        </a:rPr>
                        <a:t>消息队列</a:t>
                      </a:r>
                      <a:r>
                        <a:rPr lang="en-US" altLang="zh-CN" sz="1400" b="0" i="0">
                          <a:solidFill>
                            <a:srgbClr val="0F1115"/>
                          </a:solidFill>
                          <a:latin typeface="Times New Roman" panose="02020603050405020304" charset="0"/>
                          <a:ea typeface="quote-cjk-patch"/>
                          <a:cs typeface="Times New Roman" panose="02020603050405020304" charset="0"/>
                        </a:rPr>
                        <a:t>/</a:t>
                      </a:r>
                      <a:r>
                        <a:rPr lang="zh-CN" altLang="en-US" sz="1400" b="0" i="0">
                          <a:solidFill>
                            <a:srgbClr val="0F1115"/>
                          </a:solidFill>
                          <a:latin typeface="Times New Roman" panose="02020603050405020304" charset="0"/>
                          <a:ea typeface="quote-cjk-patch"/>
                          <a:cs typeface="Times New Roman" panose="02020603050405020304" charset="0"/>
                        </a:rPr>
                        <a:t>消息代理，如：</a:t>
                      </a:r>
                      <a:r>
                        <a:rPr lang="en-US" altLang="zh-CN" sz="1400" b="0" i="0">
                          <a:solidFill>
                            <a:srgbClr val="0F1115"/>
                          </a:solidFill>
                          <a:latin typeface="Times New Roman" panose="02020603050405020304" charset="0"/>
                          <a:ea typeface="quote-cjk-patch"/>
                          <a:cs typeface="Times New Roman" panose="02020603050405020304" charset="0"/>
                        </a:rPr>
                        <a:t>RabbitMQ, Apache Kafka, Redis Pub/Sub, MQTT Broker</a:t>
                      </a:r>
                      <a:r>
                        <a:rPr lang="zh-CN" altLang="en-US" sz="1400" b="0" i="0">
                          <a:solidFill>
                            <a:srgbClr val="0F1115"/>
                          </a:solidFill>
                          <a:latin typeface="Times New Roman" panose="02020603050405020304" charset="0"/>
                          <a:ea typeface="quote-cjk-patch"/>
                          <a:cs typeface="Times New Roman" panose="02020603050405020304" charset="0"/>
                        </a:rPr>
                        <a:t>。</a:t>
                      </a:r>
                    </a:p>
                  </a:txBody>
                  <a:tcPr marL="101917" marR="101917" marT="63817" marB="63817" anchor="ctr">
                    <a:lnL>
                      <a:noFill/>
                    </a:lnL>
                    <a:lnR>
                      <a:noFill/>
                    </a:lnR>
                    <a:lnT>
                      <a:noFill/>
                    </a:lnT>
                    <a:lnB>
                      <a:noFill/>
                    </a:lnB>
                    <a:noFill/>
                  </a:tcPr>
                </a:tc>
                <a:tc>
                  <a:txBody>
                    <a:bodyPr/>
                    <a:lstStyle/>
                    <a:p>
                      <a:pPr>
                        <a:lnSpc>
                          <a:spcPts val="1250"/>
                        </a:lnSpc>
                      </a:pPr>
                      <a:r>
                        <a:rPr lang="zh-CN" altLang="en-US" sz="1400" b="0" i="0">
                          <a:solidFill>
                            <a:srgbClr val="0F1115"/>
                          </a:solidFill>
                          <a:latin typeface="Times New Roman" panose="02020603050405020304" charset="0"/>
                          <a:ea typeface="quote-cjk-patch"/>
                          <a:cs typeface="Times New Roman" panose="02020603050405020304" charset="0"/>
                        </a:rPr>
                        <a:t>服务注册中心，如：</a:t>
                      </a:r>
                      <a:r>
                        <a:rPr lang="en-US" altLang="zh-CN" sz="1400" b="0" i="0">
                          <a:solidFill>
                            <a:srgbClr val="0F1115"/>
                          </a:solidFill>
                          <a:latin typeface="Times New Roman" panose="02020603050405020304" charset="0"/>
                          <a:ea typeface="quote-cjk-patch"/>
                          <a:cs typeface="Times New Roman" panose="02020603050405020304" charset="0"/>
                        </a:rPr>
                        <a:t>UDDI Registry, Consul, Nacos, Eureka</a:t>
                      </a:r>
                      <a:r>
                        <a:rPr lang="zh-CN" altLang="en-US" sz="1400" b="0" i="0">
                          <a:solidFill>
                            <a:srgbClr val="0F1115"/>
                          </a:solidFill>
                          <a:latin typeface="Times New Roman" panose="02020603050405020304" charset="0"/>
                          <a:ea typeface="quote-cjk-patch"/>
                          <a:cs typeface="Times New Roman" panose="02020603050405020304" charset="0"/>
                        </a:rPr>
                        <a:t>。</a:t>
                      </a:r>
                    </a:p>
                  </a:txBody>
                  <a:tcPr marL="101917" marR="0" marT="63817" marB="63817" anchor="ctr">
                    <a:lnL>
                      <a:noFill/>
                    </a:lnL>
                    <a:lnR>
                      <a:noFill/>
                    </a:lnR>
                    <a:lnT>
                      <a:noFill/>
                    </a:lnT>
                    <a:lnB>
                      <a:noFill/>
                    </a:lnB>
                    <a:noFill/>
                  </a:tcPr>
                </a:tc>
                <a:extLst>
                  <a:ext uri="{0D108BD9-81ED-4DB2-BD59-A6C34878D82A}">
                    <a16:rowId xmlns:a16="http://schemas.microsoft.com/office/drawing/2014/main" val="10006"/>
                  </a:ext>
                </a:extLst>
              </a:tr>
              <a:tr h="988060">
                <a:tc>
                  <a:txBody>
                    <a:bodyPr/>
                    <a:lstStyle/>
                    <a:p>
                      <a:pPr>
                        <a:lnSpc>
                          <a:spcPts val="1250"/>
                        </a:lnSpc>
                      </a:pPr>
                      <a:r>
                        <a:rPr lang="zh-CN" altLang="en-US" sz="1400" b="0" i="0">
                          <a:solidFill>
                            <a:srgbClr val="0F1115"/>
                          </a:solidFill>
                          <a:latin typeface="Times New Roman" panose="02020603050405020304" charset="0"/>
                          <a:ea typeface="quote-cjk-patch"/>
                        </a:rPr>
                        <a:t>一个经典的问与答</a:t>
                      </a:r>
                    </a:p>
                  </a:txBody>
                  <a:tcPr marL="0" marR="101917" marT="63817" marB="63817" anchor="ctr">
                    <a:lnL>
                      <a:noFill/>
                    </a:lnL>
                    <a:lnR>
                      <a:noFill/>
                    </a:lnR>
                    <a:lnT>
                      <a:noFill/>
                    </a:lnT>
                    <a:lnB>
                      <a:noFill/>
                    </a:lnB>
                    <a:noFill/>
                  </a:tcPr>
                </a:tc>
                <a:tc>
                  <a:txBody>
                    <a:bodyPr/>
                    <a:lstStyle/>
                    <a:p>
                      <a:pPr>
                        <a:lnSpc>
                          <a:spcPts val="1250"/>
                        </a:lnSpc>
                      </a:pPr>
                      <a:r>
                        <a:rPr lang="zh-CN" altLang="en-US" sz="1400" b="0" i="0">
                          <a:solidFill>
                            <a:srgbClr val="0F1115"/>
                          </a:solidFill>
                          <a:latin typeface="Times New Roman" panose="02020603050405020304" charset="0"/>
                          <a:ea typeface="quote-cjk-patch"/>
                          <a:cs typeface="Times New Roman" panose="02020603050405020304" charset="0"/>
                        </a:rPr>
                        <a:t>问：发生了什么事件？</a:t>
                      </a:r>
                      <a:br>
                        <a:rPr lang="zh-CN" altLang="en-US" sz="1400" b="0" i="0">
                          <a:solidFill>
                            <a:srgbClr val="0F1115"/>
                          </a:solidFill>
                          <a:latin typeface="Times New Roman" panose="02020603050405020304" charset="0"/>
                          <a:ea typeface="quote-cjk-patch"/>
                          <a:cs typeface="Times New Roman" panose="02020603050405020304" charset="0"/>
                        </a:rPr>
                      </a:br>
                      <a:r>
                        <a:rPr lang="zh-CN" altLang="en-US" sz="1400" b="0" i="0">
                          <a:solidFill>
                            <a:srgbClr val="0F1115"/>
                          </a:solidFill>
                          <a:latin typeface="Times New Roman" panose="02020603050405020304" charset="0"/>
                          <a:ea typeface="quote-cjk-patch"/>
                          <a:cs typeface="Times New Roman" panose="02020603050405020304" charset="0"/>
                        </a:rPr>
                        <a:t>答：</a:t>
                      </a:r>
                      <a:r>
                        <a:rPr lang="en-US" altLang="zh-CN" sz="1400" b="0" i="0">
                          <a:solidFill>
                            <a:srgbClr val="0F1115"/>
                          </a:solidFill>
                          <a:latin typeface="Times New Roman" panose="02020603050405020304" charset="0"/>
                          <a:ea typeface="quote-cjk-patch"/>
                          <a:cs typeface="Times New Roman" panose="02020603050405020304" charset="0"/>
                        </a:rPr>
                        <a:t> </a:t>
                      </a:r>
                      <a:r>
                        <a:rPr lang="zh-CN" altLang="en-US" sz="1400" b="0" i="0">
                          <a:solidFill>
                            <a:srgbClr val="0F1115"/>
                          </a:solidFill>
                          <a:latin typeface="Times New Roman" panose="02020603050405020304" charset="0"/>
                          <a:ea typeface="quote-cjk-patch"/>
                          <a:cs typeface="Times New Roman" panose="02020603050405020304" charset="0"/>
                        </a:rPr>
                        <a:t>有订单创建了！（这是一个事件消息）</a:t>
                      </a:r>
                    </a:p>
                  </a:txBody>
                  <a:tcPr marL="101917" marR="101917" marT="63817" marB="63817" anchor="ctr">
                    <a:lnL>
                      <a:noFill/>
                    </a:lnL>
                    <a:lnR>
                      <a:noFill/>
                    </a:lnR>
                    <a:lnT>
                      <a:noFill/>
                    </a:lnT>
                    <a:lnB>
                      <a:noFill/>
                    </a:lnB>
                    <a:noFill/>
                  </a:tcPr>
                </a:tc>
                <a:tc>
                  <a:txBody>
                    <a:bodyPr/>
                    <a:lstStyle/>
                    <a:p>
                      <a:pPr>
                        <a:lnSpc>
                          <a:spcPts val="1250"/>
                        </a:lnSpc>
                      </a:pPr>
                      <a:r>
                        <a:rPr lang="zh-CN" altLang="en-US" sz="1400" b="0" i="0" dirty="0">
                          <a:solidFill>
                            <a:srgbClr val="0F1115"/>
                          </a:solidFill>
                          <a:latin typeface="Times New Roman" panose="02020603050405020304" charset="0"/>
                          <a:ea typeface="quote-cjk-patch"/>
                          <a:cs typeface="Times New Roman" panose="02020603050405020304" charset="0"/>
                        </a:rPr>
                        <a:t>问：</a:t>
                      </a:r>
                      <a:r>
                        <a:rPr lang="en-US" altLang="zh-CN" sz="1400" b="0" i="0" dirty="0">
                          <a:solidFill>
                            <a:srgbClr val="0F1115"/>
                          </a:solidFill>
                          <a:latin typeface="Times New Roman" panose="02020603050405020304" charset="0"/>
                          <a:ea typeface="quote-cjk-patch"/>
                          <a:cs typeface="Times New Roman" panose="02020603050405020304" charset="0"/>
                        </a:rPr>
                        <a:t> </a:t>
                      </a:r>
                      <a:r>
                        <a:rPr lang="zh-CN" altLang="en-US" sz="1400" b="0" i="0" dirty="0">
                          <a:solidFill>
                            <a:srgbClr val="0F1115"/>
                          </a:solidFill>
                          <a:latin typeface="Times New Roman" panose="02020603050405020304" charset="0"/>
                          <a:ea typeface="quote-cjk-patch"/>
                          <a:cs typeface="Times New Roman" panose="02020603050405020304" charset="0"/>
                        </a:rPr>
                        <a:t>谁能处理‘创建订单’这个操作？</a:t>
                      </a:r>
                      <a:br>
                        <a:rPr lang="zh-CN" altLang="en-US" sz="1400" b="0" i="0" dirty="0">
                          <a:solidFill>
                            <a:srgbClr val="0F1115"/>
                          </a:solidFill>
                          <a:latin typeface="Times New Roman" panose="02020603050405020304" charset="0"/>
                          <a:ea typeface="quote-cjk-patch"/>
                          <a:cs typeface="Times New Roman" panose="02020603050405020304" charset="0"/>
                        </a:rPr>
                      </a:br>
                      <a:r>
                        <a:rPr lang="zh-CN" altLang="en-US" sz="1400" b="0" i="0" dirty="0">
                          <a:solidFill>
                            <a:srgbClr val="0F1115"/>
                          </a:solidFill>
                          <a:latin typeface="Times New Roman" panose="02020603050405020304" charset="0"/>
                          <a:ea typeface="quote-cjk-patch"/>
                          <a:cs typeface="Times New Roman" panose="02020603050405020304" charset="0"/>
                        </a:rPr>
                        <a:t>答：</a:t>
                      </a:r>
                      <a:r>
                        <a:rPr lang="en-US" altLang="zh-CN" sz="1400" b="0" i="0" dirty="0">
                          <a:solidFill>
                            <a:srgbClr val="0F1115"/>
                          </a:solidFill>
                          <a:latin typeface="Times New Roman" panose="02020603050405020304" charset="0"/>
                          <a:ea typeface="quote-cjk-patch"/>
                          <a:cs typeface="Times New Roman" panose="02020603050405020304" charset="0"/>
                        </a:rPr>
                        <a:t> </a:t>
                      </a:r>
                      <a:r>
                        <a:rPr lang="zh-CN" altLang="en-US" sz="1400" b="0" i="0" dirty="0">
                          <a:solidFill>
                            <a:srgbClr val="0F1115"/>
                          </a:solidFill>
                          <a:latin typeface="Times New Roman" panose="02020603050405020304" charset="0"/>
                          <a:ea typeface="quote-cjk-patch"/>
                          <a:cs typeface="Times New Roman" panose="02020603050405020304" charset="0"/>
                        </a:rPr>
                        <a:t>在</a:t>
                      </a:r>
                      <a:r>
                        <a:rPr lang="en-US" altLang="zh-CN" sz="1400" b="0" i="0" dirty="0">
                          <a:solidFill>
                            <a:srgbClr val="0F1115"/>
                          </a:solidFill>
                          <a:latin typeface="Times New Roman" panose="02020603050405020304" charset="0"/>
                          <a:ea typeface="quote-cjk-patch"/>
                          <a:cs typeface="Times New Roman" panose="02020603050405020304" charset="0"/>
                        </a:rPr>
                        <a:t> </a:t>
                      </a:r>
                      <a:r>
                        <a:rPr lang="en-US" altLang="zh-CN" sz="900" b="0" i="0" dirty="0">
                          <a:solidFill>
                            <a:srgbClr val="0F1115"/>
                          </a:solidFill>
                          <a:latin typeface="Times New Roman" panose="02020603050405020304" charset="0"/>
                          <a:ea typeface="quote-cjk-patch"/>
                          <a:cs typeface="Times New Roman" panose="02020603050405020304" charset="0"/>
                        </a:rPr>
                        <a:t>192.168.1.10:8080</a:t>
                      </a:r>
                      <a:r>
                        <a:rPr lang="en-US" altLang="zh-CN" sz="1400" b="0" i="0" dirty="0">
                          <a:solidFill>
                            <a:srgbClr val="0F1115"/>
                          </a:solidFill>
                          <a:latin typeface="Times New Roman" panose="02020603050405020304" charset="0"/>
                          <a:ea typeface="quote-cjk-patch"/>
                          <a:cs typeface="Times New Roman" panose="02020603050405020304" charset="0"/>
                        </a:rPr>
                        <a:t> </a:t>
                      </a:r>
                      <a:r>
                        <a:rPr lang="zh-CN" altLang="en-US" sz="1400" b="0" i="0" dirty="0">
                          <a:solidFill>
                            <a:srgbClr val="0F1115"/>
                          </a:solidFill>
                          <a:latin typeface="Times New Roman" panose="02020603050405020304" charset="0"/>
                          <a:ea typeface="quote-cjk-patch"/>
                          <a:cs typeface="Times New Roman" panose="02020603050405020304" charset="0"/>
                        </a:rPr>
                        <a:t>的‘订单服务’可以。（这是一个服务地址）</a:t>
                      </a:r>
                    </a:p>
                  </a:txBody>
                  <a:tcPr marL="101917" marR="0" marT="63817" marB="63817" anchor="ctr">
                    <a:lnL>
                      <a:noFill/>
                    </a:lnL>
                    <a:lnR>
                      <a:noFill/>
                    </a:lnR>
                    <a:lnT>
                      <a:noFill/>
                    </a:lnT>
                    <a:lnB>
                      <a:noFill/>
                    </a:lnB>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noAutofit/>
          </a:bodyPr>
          <a:lstStyle/>
          <a:p>
            <a:r>
              <a:rPr lang="en-US" altLang="zh-TW" sz="4000" dirty="0"/>
              <a:t>Decoupling in time, space and synchronization</a:t>
            </a:r>
          </a:p>
        </p:txBody>
      </p:sp>
      <p:sp>
        <p:nvSpPr>
          <p:cNvPr id="32771" name="Rectangle 3"/>
          <p:cNvSpPr>
            <a:spLocks noGrp="1" noChangeArrowheads="1"/>
          </p:cNvSpPr>
          <p:nvPr>
            <p:ph type="body" idx="1"/>
          </p:nvPr>
        </p:nvSpPr>
        <p:spPr/>
        <p:txBody>
          <a:bodyPr/>
          <a:lstStyle/>
          <a:p>
            <a:r>
              <a:rPr lang="en-US" altLang="zh-TW" dirty="0"/>
              <a:t>Provides decoupling in time, space and synchronization. </a:t>
            </a:r>
          </a:p>
          <a:p>
            <a:endParaRPr lang="en-US" altLang="zh-TW" dirty="0"/>
          </a:p>
        </p:txBody>
      </p:sp>
      <p:pic>
        <p:nvPicPr>
          <p:cNvPr id="327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72" y="2276866"/>
            <a:ext cx="9040954" cy="4313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页脚占位符 1"/>
          <p:cNvSpPr>
            <a:spLocks noGrp="1"/>
          </p:cNvSpPr>
          <p:nvPr>
            <p:ph type="ftr" sz="quarter" idx="11"/>
          </p:nvPr>
        </p:nvSpPr>
        <p:spPr/>
        <p:txBody>
          <a:bodyPr/>
          <a:lstStyle/>
          <a:p>
            <a:r>
              <a:rPr lang="en-US"/>
              <a:t>© Software Architecture</a:t>
            </a:r>
            <a:endParaRPr lang="en-AU"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TW" dirty="0">
                <a:sym typeface="+mn-ea"/>
              </a:rPr>
              <a:t>Decoupling in time, space and synchronization</a:t>
            </a:r>
            <a:endParaRPr lang="zh-CN" altLang="en-US"/>
          </a:p>
        </p:txBody>
      </p:sp>
      <p:sp>
        <p:nvSpPr>
          <p:cNvPr id="3" name="内容占位符 2"/>
          <p:cNvSpPr>
            <a:spLocks noGrp="1"/>
          </p:cNvSpPr>
          <p:nvPr>
            <p:ph idx="1"/>
          </p:nvPr>
        </p:nvSpPr>
        <p:spPr/>
        <p:txBody>
          <a:bodyPr>
            <a:normAutofit fontScale="67500" lnSpcReduction="20000"/>
          </a:bodyPr>
          <a:lstStyle/>
          <a:p>
            <a:pPr marL="0" algn="l">
              <a:buClrTx/>
              <a:buSzTx/>
              <a:buNone/>
            </a:pPr>
            <a:r>
              <a:rPr lang="zh-CN" altLang="en-US" b="1"/>
              <a:t>Spatial Decoupling</a:t>
            </a:r>
          </a:p>
          <a:p>
            <a:r>
              <a:rPr lang="zh-CN" altLang="en-US"/>
              <a:t>Spatial decoupling means that publishers and subscribers </a:t>
            </a:r>
            <a:r>
              <a:rPr lang="zh-CN" altLang="en-US" b="1">
                <a:solidFill>
                  <a:srgbClr val="FF0000"/>
                </a:solidFill>
              </a:rPr>
              <a:t>do not need to know about each other.</a:t>
            </a:r>
            <a:r>
              <a:rPr lang="zh-CN" altLang="en-US"/>
              <a:t> An intermediary service manages the communication between them, reducing direct dependencies.</a:t>
            </a:r>
          </a:p>
          <a:p>
            <a:pPr marL="0" indent="0">
              <a:buNone/>
            </a:pPr>
            <a:r>
              <a:rPr lang="zh-CN" altLang="en-US" b="1"/>
              <a:t>Temporal Decoupling</a:t>
            </a:r>
          </a:p>
          <a:p>
            <a:r>
              <a:rPr lang="zh-CN" altLang="en-US"/>
              <a:t>Temporal decoupling allows publishers and subscribers to </a:t>
            </a:r>
            <a:r>
              <a:rPr lang="zh-CN" altLang="en-US" b="1">
                <a:solidFill>
                  <a:srgbClr val="FF0000"/>
                </a:solidFill>
              </a:rPr>
              <a:t>not be active at the same time</a:t>
            </a:r>
            <a:r>
              <a:rPr lang="zh-CN" altLang="en-US"/>
              <a:t>. A publisher can stop running after sending a message, and the subscriber will still receive it, as long as the intermediary has received and forwarded the message. This increases flexibility in how components operate.</a:t>
            </a:r>
          </a:p>
          <a:p>
            <a:pPr marL="0" indent="0">
              <a:buNone/>
            </a:pPr>
            <a:r>
              <a:rPr lang="zh-CN" altLang="en-US" b="1"/>
              <a:t>Synchronization Decoupling</a:t>
            </a:r>
          </a:p>
          <a:p>
            <a:r>
              <a:rPr lang="zh-CN" altLang="en-US"/>
              <a:t>Synchronization decoupling ensures that publishers </a:t>
            </a:r>
            <a:r>
              <a:rPr lang="zh-CN" altLang="en-US" b="1">
                <a:solidFill>
                  <a:srgbClr val="FF0000"/>
                </a:solidFill>
              </a:rPr>
              <a:t>are not blocked while producing events</a:t>
            </a:r>
            <a:r>
              <a:rPr lang="zh-CN" altLang="en-US"/>
              <a:t>, and subscribers can be notified of events </a:t>
            </a:r>
            <a:r>
              <a:rPr lang="zh-CN" altLang="en-US" b="1">
                <a:solidFill>
                  <a:srgbClr val="FF0000"/>
                </a:solidFill>
              </a:rPr>
              <a:t>asynchronously while performing other tasks</a:t>
            </a:r>
            <a:r>
              <a:rPr lang="zh-CN" altLang="en-US"/>
              <a:t>. This enhances the system's concurrency and responsiveness.</a:t>
            </a:r>
          </a:p>
        </p:txBody>
      </p:sp>
      <p:sp>
        <p:nvSpPr>
          <p:cNvPr id="4" name="页脚占位符 3"/>
          <p:cNvSpPr>
            <a:spLocks noGrp="1"/>
          </p:cNvSpPr>
          <p:nvPr>
            <p:ph type="ftr" sz="quarter" idx="11"/>
          </p:nvPr>
        </p:nvSpPr>
        <p:spPr/>
        <p:txBody>
          <a:bodyPr/>
          <a:lstStyle/>
          <a:p>
            <a:r>
              <a:rPr lang="en-US"/>
              <a:t>© Software Architecture</a:t>
            </a:r>
            <a:endParaRPr lang="en-AU"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normAutofit/>
          </a:bodyPr>
          <a:lstStyle/>
          <a:p>
            <a:r>
              <a:rPr lang="en-US" altLang="zh-TW" sz="4000" dirty="0"/>
              <a:t>Classification of Pub/Sub Architectures </a:t>
            </a:r>
          </a:p>
        </p:txBody>
      </p:sp>
      <p:sp>
        <p:nvSpPr>
          <p:cNvPr id="26627" name="Rectangle 3"/>
          <p:cNvSpPr>
            <a:spLocks noGrp="1" noChangeArrowheads="1"/>
          </p:cNvSpPr>
          <p:nvPr>
            <p:ph type="body" idx="1"/>
          </p:nvPr>
        </p:nvSpPr>
        <p:spPr/>
        <p:txBody>
          <a:bodyPr/>
          <a:lstStyle/>
          <a:p>
            <a:r>
              <a:rPr lang="en-GB" altLang="zh-TW" b="1" dirty="0"/>
              <a:t>Centralized Broker model</a:t>
            </a:r>
          </a:p>
          <a:p>
            <a:pPr lvl="1"/>
            <a:r>
              <a:rPr lang="en-GB" altLang="zh-TW" dirty="0"/>
              <a:t>Consists of multiple publishers and multiple subscribers and centralized broker/brokers (an overlay network of brokers interacting with each other).</a:t>
            </a:r>
          </a:p>
          <a:p>
            <a:pPr lvl="1"/>
            <a:r>
              <a:rPr lang="en-GB" altLang="zh-TW" dirty="0"/>
              <a:t>Subscribers/Publishers will contact 1 broker, and does not need to have knowledge about others. </a:t>
            </a:r>
          </a:p>
          <a:p>
            <a:pPr lvl="1"/>
            <a:r>
              <a:rPr lang="en-GB" altLang="zh-TW" dirty="0">
                <a:solidFill>
                  <a:schemeClr val="tx1">
                    <a:lumMod val="50000"/>
                    <a:lumOff val="50000"/>
                  </a:schemeClr>
                </a:solidFill>
              </a:rPr>
              <a:t>E.g. CORBA</a:t>
            </a:r>
            <a:r>
              <a:rPr lang="en-US" altLang="en-GB" dirty="0">
                <a:solidFill>
                  <a:schemeClr val="tx1">
                    <a:lumMod val="50000"/>
                    <a:lumOff val="50000"/>
                  </a:schemeClr>
                </a:solidFill>
              </a:rPr>
              <a:t> (Common Object Request Broker Architecture)</a:t>
            </a:r>
            <a:r>
              <a:rPr lang="en-GB" altLang="zh-TW" dirty="0">
                <a:solidFill>
                  <a:schemeClr val="tx1">
                    <a:lumMod val="50000"/>
                    <a:lumOff val="50000"/>
                  </a:schemeClr>
                </a:solidFill>
              </a:rPr>
              <a:t> event services, JMS</a:t>
            </a:r>
            <a:r>
              <a:rPr lang="en-US" altLang="en-GB" dirty="0">
                <a:solidFill>
                  <a:schemeClr val="tx1">
                    <a:lumMod val="50000"/>
                    <a:lumOff val="50000"/>
                  </a:schemeClr>
                </a:solidFill>
              </a:rPr>
              <a:t> (Java Message Service)</a:t>
            </a:r>
            <a:r>
              <a:rPr lang="en-GB" altLang="zh-TW" dirty="0">
                <a:solidFill>
                  <a:schemeClr val="tx1">
                    <a:lumMod val="50000"/>
                    <a:lumOff val="50000"/>
                  </a:schemeClr>
                </a:solidFill>
              </a:rPr>
              <a:t> etc…</a:t>
            </a:r>
          </a:p>
          <a:p>
            <a:endParaRPr lang="en-GB" altLang="zh-CN" sz="2800" b="1" dirty="0"/>
          </a:p>
          <a:p>
            <a:endParaRPr lang="en-US" altLang="zh-TW" sz="2800" dirty="0"/>
          </a:p>
        </p:txBody>
      </p:sp>
      <p:sp>
        <p:nvSpPr>
          <p:cNvPr id="2" name="页脚占位符 1"/>
          <p:cNvSpPr>
            <a:spLocks noGrp="1"/>
          </p:cNvSpPr>
          <p:nvPr>
            <p:ph type="ftr" sz="quarter" idx="11"/>
          </p:nvPr>
        </p:nvSpPr>
        <p:spPr/>
        <p:txBody>
          <a:bodyPr/>
          <a:lstStyle/>
          <a:p>
            <a:r>
              <a:rPr lang="en-US"/>
              <a:t>© Software Architecture</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62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6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r>
              <a:rPr lang="en-US" altLang="zh-TW" sz="4000"/>
              <a:t>Classification of Pub/Sub Architectures</a:t>
            </a:r>
          </a:p>
        </p:txBody>
      </p:sp>
      <p:sp>
        <p:nvSpPr>
          <p:cNvPr id="35843" name="Rectangle 3"/>
          <p:cNvSpPr>
            <a:spLocks noGrp="1" noChangeArrowheads="1"/>
          </p:cNvSpPr>
          <p:nvPr>
            <p:ph type="body" idx="1"/>
          </p:nvPr>
        </p:nvSpPr>
        <p:spPr/>
        <p:txBody>
          <a:bodyPr>
            <a:normAutofit fontScale="97500" lnSpcReduction="10000"/>
          </a:bodyPr>
          <a:lstStyle/>
          <a:p>
            <a:r>
              <a:rPr lang="en-GB" altLang="zh-TW" b="1" dirty="0">
                <a:solidFill>
                  <a:schemeClr val="tx1">
                    <a:lumMod val="50000"/>
                    <a:lumOff val="50000"/>
                  </a:schemeClr>
                </a:solidFill>
              </a:rPr>
              <a:t>Peer-to-Peer model</a:t>
            </a:r>
          </a:p>
          <a:p>
            <a:pPr lvl="1"/>
            <a:r>
              <a:rPr lang="en-GB" altLang="zh-TW" dirty="0">
                <a:solidFill>
                  <a:schemeClr val="tx1">
                    <a:lumMod val="50000"/>
                    <a:lumOff val="50000"/>
                  </a:schemeClr>
                </a:solidFill>
              </a:rPr>
              <a:t>Each node can be publisher, subscriber or broker.</a:t>
            </a:r>
          </a:p>
          <a:p>
            <a:pPr lvl="1"/>
            <a:r>
              <a:rPr lang="en-GB" altLang="zh-TW" dirty="0">
                <a:solidFill>
                  <a:schemeClr val="tx1">
                    <a:lumMod val="50000"/>
                    <a:lumOff val="50000"/>
                  </a:schemeClr>
                </a:solidFill>
              </a:rPr>
              <a:t>Subscribers subscribe to publishers directly and publishers notify subscribers directly. Therefore they must maintain knowledge of each other. </a:t>
            </a:r>
          </a:p>
          <a:p>
            <a:pPr lvl="1"/>
            <a:r>
              <a:rPr lang="en-GB" altLang="zh-TW" dirty="0">
                <a:solidFill>
                  <a:schemeClr val="tx1">
                    <a:lumMod val="50000"/>
                    <a:lumOff val="50000"/>
                  </a:schemeClr>
                </a:solidFill>
              </a:rPr>
              <a:t>Complex in nature, mechanisms such as DHT and CHORD are employed to locate nodes in the network.</a:t>
            </a:r>
          </a:p>
          <a:p>
            <a:pPr lvl="1"/>
            <a:r>
              <a:rPr lang="en-GB" altLang="zh-TW" sz="2200" dirty="0">
                <a:solidFill>
                  <a:schemeClr val="bg1">
                    <a:lumMod val="50000"/>
                  </a:schemeClr>
                </a:solidFill>
              </a:rPr>
              <a:t>E.g. Java distributed event service</a:t>
            </a:r>
            <a:endParaRPr lang="en-US" altLang="en-GB" sz="2200" dirty="0">
              <a:solidFill>
                <a:schemeClr val="bg1">
                  <a:lumMod val="50000"/>
                </a:schemeClr>
              </a:solidFill>
            </a:endParaRPr>
          </a:p>
          <a:p>
            <a:pPr lvl="1"/>
            <a:r>
              <a:rPr lang="en-US" altLang="en-GB" sz="2200" dirty="0">
                <a:solidFill>
                  <a:schemeClr val="bg1">
                    <a:lumMod val="50000"/>
                  </a:schemeClr>
                </a:solidFill>
              </a:rPr>
              <a:t>E.g. </a:t>
            </a:r>
            <a:r>
              <a:rPr lang="en-US" altLang="en-GB" sz="2200" dirty="0">
                <a:solidFill>
                  <a:schemeClr val="bg1">
                    <a:lumMod val="50000"/>
                  </a:schemeClr>
                </a:solidFill>
                <a:sym typeface="+mn-ea"/>
              </a:rPr>
              <a:t>BitTorrent: </a:t>
            </a:r>
            <a:r>
              <a:rPr lang="en-US" altLang="en-GB" sz="2200" dirty="0">
                <a:solidFill>
                  <a:schemeClr val="bg1">
                    <a:lumMod val="50000"/>
                  </a:schemeClr>
                </a:solidFill>
              </a:rPr>
              <a:t>In file-sharing applications, peers share pieces of files with each other, acting as both publishers (uploading pieces) and subscribers (downloading pieces).</a:t>
            </a:r>
          </a:p>
        </p:txBody>
      </p:sp>
      <p:sp>
        <p:nvSpPr>
          <p:cNvPr id="2" name="页脚占位符 1"/>
          <p:cNvSpPr>
            <a:spLocks noGrp="1"/>
          </p:cNvSpPr>
          <p:nvPr>
            <p:ph type="ftr" sz="quarter" idx="11"/>
          </p:nvPr>
        </p:nvSpPr>
        <p:spPr/>
        <p:txBody>
          <a:bodyPr/>
          <a:lstStyle/>
          <a:p>
            <a:r>
              <a:rPr lang="en-US"/>
              <a:t>© Software Architecture</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84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84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8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AutoShape 2"/>
          <p:cNvSpPr>
            <a:spLocks noGrp="1" noChangeAspect="1" noChangeArrowheads="1"/>
          </p:cNvSpPr>
          <p:nvPr>
            <p:ph type="title"/>
          </p:nvPr>
        </p:nvSpPr>
        <p:spPr/>
        <p:txBody>
          <a:bodyPr>
            <a:normAutofit fontScale="90000"/>
          </a:bodyPr>
          <a:lstStyle/>
          <a:p>
            <a:r>
              <a:rPr lang="en-GB" altLang="zh-CN" sz="4000" dirty="0"/>
              <a:t>Key Functions Implemented by P/S</a:t>
            </a:r>
            <a:br>
              <a:rPr lang="en-GB" altLang="zh-CN" sz="4000" dirty="0"/>
            </a:br>
            <a:r>
              <a:rPr lang="en-GB" altLang="zh-CN" sz="4000" dirty="0"/>
              <a:t>Middleware Service</a:t>
            </a:r>
            <a:endParaRPr lang="en-US" altLang="zh-TW" sz="4000" dirty="0"/>
          </a:p>
        </p:txBody>
      </p:sp>
      <p:sp>
        <p:nvSpPr>
          <p:cNvPr id="22531" name="Rectangle 3"/>
          <p:cNvSpPr>
            <a:spLocks noGrp="1" noChangeArrowheads="1"/>
          </p:cNvSpPr>
          <p:nvPr>
            <p:ph type="body" idx="1"/>
          </p:nvPr>
        </p:nvSpPr>
        <p:spPr/>
        <p:txBody>
          <a:bodyPr>
            <a:normAutofit/>
          </a:bodyPr>
          <a:lstStyle/>
          <a:p>
            <a:r>
              <a:rPr lang="en-GB" altLang="zh-CN" dirty="0"/>
              <a:t>Event filtering (event selection)</a:t>
            </a:r>
            <a:endParaRPr lang="en-GB" altLang="zh-TW" dirty="0"/>
          </a:p>
          <a:p>
            <a:pPr lvl="1"/>
            <a:r>
              <a:rPr lang="en-GB" altLang="zh-CN" dirty="0"/>
              <a:t>The process of selecting the set of subscribers that have shown interest in a given event</a:t>
            </a:r>
            <a:r>
              <a:rPr lang="en-GB" altLang="zh-TW" dirty="0"/>
              <a:t>.</a:t>
            </a:r>
          </a:p>
          <a:p>
            <a:pPr lvl="1"/>
            <a:r>
              <a:rPr lang="en-GB" altLang="zh-TW" dirty="0"/>
              <a:t> Subscriptions are stored in memory and searched when a publisher publishes a new event. </a:t>
            </a:r>
            <a:endParaRPr lang="en-GB" altLang="zh-CN" dirty="0"/>
          </a:p>
          <a:p>
            <a:r>
              <a:rPr lang="en-GB" altLang="zh-CN" dirty="0"/>
              <a:t>Event routing (event delivery) </a:t>
            </a:r>
            <a:endParaRPr lang="en-GB" altLang="zh-TW" dirty="0"/>
          </a:p>
          <a:p>
            <a:pPr lvl="1"/>
            <a:r>
              <a:rPr lang="en-GB" altLang="zh-CN" dirty="0"/>
              <a:t>The process of routing the published events to all interested subscribers</a:t>
            </a:r>
          </a:p>
          <a:p>
            <a:endParaRPr lang="en-US" altLang="zh-TW" dirty="0"/>
          </a:p>
        </p:txBody>
      </p:sp>
      <p:sp>
        <p:nvSpPr>
          <p:cNvPr id="2" name="页脚占位符 1"/>
          <p:cNvSpPr>
            <a:spLocks noGrp="1"/>
          </p:cNvSpPr>
          <p:nvPr>
            <p:ph type="ftr" sz="quarter" idx="11"/>
          </p:nvPr>
        </p:nvSpPr>
        <p:spPr/>
        <p:txBody>
          <a:bodyPr/>
          <a:lstStyle/>
          <a:p>
            <a:r>
              <a:rPr lang="en-US"/>
              <a:t>© Software Architecture</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531">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53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normAutofit fontScale="90000"/>
          </a:bodyPr>
          <a:lstStyle/>
          <a:p>
            <a:r>
              <a:rPr lang="en-US" altLang="zh-TW" sz="4000"/>
              <a:t>Event Filtering (Subscription Model)</a:t>
            </a:r>
            <a:br>
              <a:rPr lang="en-US" altLang="zh-TW" sz="4000"/>
            </a:br>
            <a:r>
              <a:rPr lang="en-US" altLang="zh-TW" sz="4000"/>
              <a:t>Topic based VS Content based </a:t>
            </a:r>
          </a:p>
        </p:txBody>
      </p:sp>
      <p:sp>
        <p:nvSpPr>
          <p:cNvPr id="21507" name="Rectangle 3"/>
          <p:cNvSpPr>
            <a:spLocks noGrp="1" noChangeArrowheads="1"/>
          </p:cNvSpPr>
          <p:nvPr>
            <p:ph type="body" idx="1"/>
          </p:nvPr>
        </p:nvSpPr>
        <p:spPr/>
        <p:txBody>
          <a:bodyPr/>
          <a:lstStyle/>
          <a:p>
            <a:r>
              <a:rPr lang="en-US" altLang="zh-TW" dirty="0"/>
              <a:t>Topic based</a:t>
            </a:r>
          </a:p>
          <a:p>
            <a:pPr lvl="1"/>
            <a:r>
              <a:rPr lang="en-GB" altLang="zh-CN" dirty="0"/>
              <a:t>Generally also  known as topic based, group based or channel based event filtering.</a:t>
            </a:r>
          </a:p>
          <a:p>
            <a:pPr lvl="1"/>
            <a:r>
              <a:rPr lang="en-GB" altLang="zh-TW" dirty="0"/>
              <a:t>Each </a:t>
            </a:r>
            <a:r>
              <a:rPr lang="en-GB" altLang="zh-CN" dirty="0"/>
              <a:t>event is published to one of these channels  by its publisher</a:t>
            </a:r>
            <a:r>
              <a:rPr lang="en-GB" altLang="zh-TW" dirty="0"/>
              <a:t>. </a:t>
            </a:r>
          </a:p>
          <a:p>
            <a:pPr lvl="1"/>
            <a:r>
              <a:rPr lang="en-GB" altLang="zh-TW" dirty="0"/>
              <a:t>S</a:t>
            </a:r>
            <a:r>
              <a:rPr lang="en-GB" altLang="zh-CN" dirty="0"/>
              <a:t>ubscriber</a:t>
            </a:r>
            <a:r>
              <a:rPr lang="en-GB" altLang="zh-TW" dirty="0"/>
              <a:t>s</a:t>
            </a:r>
            <a:r>
              <a:rPr lang="en-GB" altLang="zh-CN" dirty="0"/>
              <a:t> subscribes to a particular channel and will receive </a:t>
            </a:r>
            <a:r>
              <a:rPr lang="en-GB" altLang="zh-TW" dirty="0"/>
              <a:t>ALL</a:t>
            </a:r>
            <a:r>
              <a:rPr lang="en-GB" altLang="zh-CN" dirty="0"/>
              <a:t> events published to the subscribed channel. </a:t>
            </a:r>
          </a:p>
          <a:p>
            <a:pPr>
              <a:buFont typeface="Wingdings" panose="05000000000000000000" pitchFamily="2" charset="2"/>
              <a:buNone/>
            </a:pPr>
            <a:endParaRPr lang="en-US" altLang="zh-TW" dirty="0"/>
          </a:p>
        </p:txBody>
      </p:sp>
      <p:sp>
        <p:nvSpPr>
          <p:cNvPr id="2" name="页脚占位符 1"/>
          <p:cNvSpPr>
            <a:spLocks noGrp="1"/>
          </p:cNvSpPr>
          <p:nvPr>
            <p:ph type="ftr" sz="quarter" idx="11"/>
          </p:nvPr>
        </p:nvSpPr>
        <p:spPr/>
        <p:txBody>
          <a:bodyPr/>
          <a:lstStyle/>
          <a:p>
            <a:r>
              <a:rPr lang="en-US"/>
              <a:t>© Software Architecture</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50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5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zh-TW"/>
              <a:t>Topic-based subscription </a:t>
            </a:r>
          </a:p>
        </p:txBody>
      </p:sp>
      <p:sp>
        <p:nvSpPr>
          <p:cNvPr id="38915" name="Rectangle 3"/>
          <p:cNvSpPr>
            <a:spLocks noGrp="1" noChangeArrowheads="1"/>
          </p:cNvSpPr>
          <p:nvPr>
            <p:ph type="body" idx="1"/>
          </p:nvPr>
        </p:nvSpPr>
        <p:spPr>
          <a:xfrm>
            <a:off x="457200" y="1005716"/>
            <a:ext cx="8229600" cy="2664295"/>
          </a:xfrm>
        </p:spPr>
        <p:txBody>
          <a:bodyPr>
            <a:normAutofit/>
          </a:bodyPr>
          <a:lstStyle/>
          <a:p>
            <a:pPr marL="457200" lvl="1" indent="0">
              <a:lnSpc>
                <a:spcPct val="90000"/>
              </a:lnSpc>
              <a:buNone/>
            </a:pPr>
            <a:endParaRPr lang="en-GB" altLang="zh-TW" sz="2000" dirty="0"/>
          </a:p>
          <a:p>
            <a:pPr>
              <a:lnSpc>
                <a:spcPct val="90000"/>
              </a:lnSpc>
            </a:pPr>
            <a:r>
              <a:rPr lang="en-US" altLang="zh-TW" dirty="0"/>
              <a:t>Event filtering is easy. </a:t>
            </a:r>
            <a:r>
              <a:rPr lang="en-GB" altLang="zh-CN" dirty="0"/>
              <a:t>Simple  process  for  matching an event to subscriptions</a:t>
            </a:r>
            <a:r>
              <a:rPr lang="en-GB" altLang="zh-TW" dirty="0"/>
              <a:t>.</a:t>
            </a:r>
          </a:p>
          <a:p>
            <a:pPr>
              <a:lnSpc>
                <a:spcPct val="90000"/>
              </a:lnSpc>
            </a:pPr>
            <a:r>
              <a:rPr lang="en-GB" altLang="zh-TW" dirty="0"/>
              <a:t>Limited expressiveness</a:t>
            </a:r>
          </a:p>
        </p:txBody>
      </p:sp>
      <p:sp>
        <p:nvSpPr>
          <p:cNvPr id="2" name="页脚占位符 1"/>
          <p:cNvSpPr>
            <a:spLocks noGrp="1"/>
          </p:cNvSpPr>
          <p:nvPr>
            <p:ph type="ftr" sz="quarter" idx="11"/>
          </p:nvPr>
        </p:nvSpPr>
        <p:spPr/>
        <p:txBody>
          <a:bodyPr/>
          <a:lstStyle/>
          <a:p>
            <a:r>
              <a:rPr lang="en-US"/>
              <a:t>© Software Architecture</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971600" y="476568"/>
            <a:ext cx="7715200" cy="778098"/>
          </a:xfrm>
        </p:spPr>
        <p:txBody>
          <a:bodyPr>
            <a:noAutofit/>
          </a:bodyPr>
          <a:lstStyle/>
          <a:p>
            <a:r>
              <a:rPr lang="en-US" altLang="zh-TW" sz="3600" dirty="0"/>
              <a:t>Event Filtering- Subscription Model</a:t>
            </a:r>
            <a:br>
              <a:rPr lang="en-US" altLang="zh-TW" sz="3600" dirty="0"/>
            </a:br>
            <a:r>
              <a:rPr lang="en-US" altLang="zh-TW" sz="3600" dirty="0"/>
              <a:t>Topic based VS Content based</a:t>
            </a:r>
          </a:p>
        </p:txBody>
      </p:sp>
      <p:sp>
        <p:nvSpPr>
          <p:cNvPr id="25603" name="Rectangle 3"/>
          <p:cNvSpPr>
            <a:spLocks noGrp="1" noChangeArrowheads="1"/>
          </p:cNvSpPr>
          <p:nvPr>
            <p:ph type="body" idx="1"/>
          </p:nvPr>
        </p:nvSpPr>
        <p:spPr>
          <a:xfrm>
            <a:off x="539115" y="1412905"/>
            <a:ext cx="8229600" cy="4857403"/>
          </a:xfrm>
        </p:spPr>
        <p:txBody>
          <a:bodyPr/>
          <a:lstStyle/>
          <a:p>
            <a:pPr>
              <a:lnSpc>
                <a:spcPct val="90000"/>
              </a:lnSpc>
            </a:pPr>
            <a:r>
              <a:rPr lang="en-US" altLang="zh-TW" dirty="0"/>
              <a:t>Content based</a:t>
            </a:r>
          </a:p>
          <a:p>
            <a:pPr lvl="1">
              <a:lnSpc>
                <a:spcPct val="90000"/>
              </a:lnSpc>
            </a:pPr>
            <a:r>
              <a:rPr lang="en-GB" altLang="zh-CN" dirty="0"/>
              <a:t>More flexibility and power to subscribers, by allowing </a:t>
            </a:r>
            <a:r>
              <a:rPr lang="en-GB" altLang="zh-TW" dirty="0"/>
              <a:t>more expression in</a:t>
            </a:r>
            <a:r>
              <a:rPr lang="en-GB" altLang="zh-CN" dirty="0"/>
              <a:t> arbitrary</a:t>
            </a:r>
            <a:r>
              <a:rPr lang="en-GB" altLang="zh-TW" dirty="0"/>
              <a:t>/customized</a:t>
            </a:r>
            <a:r>
              <a:rPr lang="en-GB" altLang="zh-CN" dirty="0"/>
              <a:t> query over the contents of the event.</a:t>
            </a:r>
            <a:endParaRPr lang="en-GB" altLang="zh-TW" dirty="0"/>
          </a:p>
          <a:p>
            <a:pPr lvl="1">
              <a:lnSpc>
                <a:spcPct val="90000"/>
              </a:lnSpc>
            </a:pPr>
            <a:r>
              <a:rPr lang="en-GB" altLang="zh-TW" dirty="0"/>
              <a:t>Event publication by a key/value attribute pair, and subscriptions specify filters using a explicit subscription language. </a:t>
            </a:r>
            <a:endParaRPr lang="en-GB" altLang="zh-CN" dirty="0"/>
          </a:p>
          <a:p>
            <a:pPr lvl="1">
              <a:lnSpc>
                <a:spcPct val="90000"/>
              </a:lnSpc>
              <a:buFont typeface="Wingdings" panose="05000000000000000000" pitchFamily="2" charset="2"/>
              <a:buNone/>
            </a:pPr>
            <a:r>
              <a:rPr lang="en-GB" altLang="zh-TW" sz="2400" dirty="0"/>
              <a:t>  </a:t>
            </a:r>
            <a:endParaRPr lang="en-GB" altLang="zh-CN" sz="2400" dirty="0"/>
          </a:p>
          <a:p>
            <a:pPr>
              <a:lnSpc>
                <a:spcPct val="90000"/>
              </a:lnSpc>
            </a:pPr>
            <a:endParaRPr lang="en-US" altLang="zh-TW" sz="2800" dirty="0"/>
          </a:p>
          <a:p>
            <a:pPr>
              <a:lnSpc>
                <a:spcPct val="90000"/>
              </a:lnSpc>
            </a:pPr>
            <a:endParaRPr lang="en-US" altLang="zh-TW" sz="2800" dirty="0"/>
          </a:p>
        </p:txBody>
      </p:sp>
      <p:sp>
        <p:nvSpPr>
          <p:cNvPr id="2" name="页脚占位符 1"/>
          <p:cNvSpPr>
            <a:spLocks noGrp="1"/>
          </p:cNvSpPr>
          <p:nvPr>
            <p:ph type="ftr" sz="quarter" idx="11"/>
          </p:nvPr>
        </p:nvSpPr>
        <p:spPr/>
        <p:txBody>
          <a:bodyPr/>
          <a:lstStyle/>
          <a:p>
            <a:r>
              <a:rPr lang="en-US"/>
              <a:t>© Software Architecture</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814120" y="476568"/>
            <a:ext cx="7715200" cy="778098"/>
          </a:xfrm>
        </p:spPr>
        <p:txBody>
          <a:bodyPr/>
          <a:lstStyle/>
          <a:p>
            <a:r>
              <a:rPr lang="en-US" altLang="zh-TW"/>
              <a:t>Content-based Subscription </a:t>
            </a:r>
          </a:p>
        </p:txBody>
      </p:sp>
      <p:sp>
        <p:nvSpPr>
          <p:cNvPr id="39939" name="Rectangle 3"/>
          <p:cNvSpPr>
            <a:spLocks noGrp="1" noChangeArrowheads="1"/>
          </p:cNvSpPr>
          <p:nvPr>
            <p:ph type="body" idx="1"/>
          </p:nvPr>
        </p:nvSpPr>
        <p:spPr>
          <a:xfrm>
            <a:off x="539750" y="1268730"/>
            <a:ext cx="8264525" cy="5264150"/>
          </a:xfrm>
        </p:spPr>
        <p:txBody>
          <a:bodyPr>
            <a:normAutofit/>
          </a:bodyPr>
          <a:lstStyle/>
          <a:p>
            <a:pPr lvl="1">
              <a:lnSpc>
                <a:spcPct val="90000"/>
              </a:lnSpc>
            </a:pPr>
            <a:endParaRPr lang="en-GB" altLang="zh-TW" sz="2000" dirty="0"/>
          </a:p>
          <a:p>
            <a:pPr>
              <a:lnSpc>
                <a:spcPct val="90000"/>
              </a:lnSpc>
            </a:pPr>
            <a:r>
              <a:rPr lang="en-GB" altLang="zh-CN" sz="3000" dirty="0"/>
              <a:t>Added complexity in matching an event to subscriptions</a:t>
            </a:r>
            <a:r>
              <a:rPr lang="en-GB" altLang="zh-TW" sz="3000" dirty="0"/>
              <a:t>. </a:t>
            </a:r>
          </a:p>
          <a:p>
            <a:pPr>
              <a:lnSpc>
                <a:spcPct val="90000"/>
              </a:lnSpc>
            </a:pPr>
            <a:r>
              <a:rPr lang="en-US" altLang="en-GB" sz="3000" dirty="0"/>
              <a:t>M</a:t>
            </a:r>
            <a:r>
              <a:rPr lang="en-GB" altLang="zh-TW" sz="3000" dirty="0"/>
              <a:t>ore precision is provided and event </a:t>
            </a:r>
            <a:r>
              <a:rPr lang="en-US" altLang="en-GB" sz="3000" dirty="0"/>
              <a:t>filtering/</a:t>
            </a:r>
            <a:r>
              <a:rPr lang="en-GB" altLang="zh-TW" sz="3000" dirty="0"/>
              <a:t>routing is easier</a:t>
            </a:r>
            <a:endParaRPr lang="en-US" altLang="zh-TW" sz="3000" dirty="0"/>
          </a:p>
        </p:txBody>
      </p:sp>
      <p:sp>
        <p:nvSpPr>
          <p:cNvPr id="2" name="页脚占位符 1"/>
          <p:cNvSpPr>
            <a:spLocks noGrp="1"/>
          </p:cNvSpPr>
          <p:nvPr>
            <p:ph type="ftr" sz="quarter" idx="11"/>
          </p:nvPr>
        </p:nvSpPr>
        <p:spPr/>
        <p:txBody>
          <a:bodyPr/>
          <a:lstStyle/>
          <a:p>
            <a:r>
              <a:rPr lang="en-US"/>
              <a:t>© Software Architecture</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3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9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zh-TW"/>
              <a:t>Advantages of Pub/Sub</a:t>
            </a:r>
          </a:p>
        </p:txBody>
      </p:sp>
      <p:sp>
        <p:nvSpPr>
          <p:cNvPr id="20483" name="Rectangle 3"/>
          <p:cNvSpPr>
            <a:spLocks noGrp="1" noChangeArrowheads="1"/>
          </p:cNvSpPr>
          <p:nvPr>
            <p:ph type="body" idx="1"/>
          </p:nvPr>
        </p:nvSpPr>
        <p:spPr>
          <a:xfrm>
            <a:off x="457200" y="1268760"/>
            <a:ext cx="8579296" cy="4857403"/>
          </a:xfrm>
        </p:spPr>
        <p:txBody>
          <a:bodyPr>
            <a:normAutofit/>
          </a:bodyPr>
          <a:lstStyle/>
          <a:p>
            <a:pPr>
              <a:lnSpc>
                <a:spcPct val="80000"/>
              </a:lnSpc>
            </a:pPr>
            <a:r>
              <a:rPr lang="en-GB" altLang="zh-CN" sz="2400" dirty="0"/>
              <a:t>Highly suited for mobile applications, ubiquitous computing and distributed embedded systems</a:t>
            </a:r>
            <a:endParaRPr lang="en-GB" altLang="zh-TW" sz="2400" dirty="0"/>
          </a:p>
          <a:p>
            <a:pPr>
              <a:lnSpc>
                <a:spcPct val="80000"/>
              </a:lnSpc>
            </a:pPr>
            <a:r>
              <a:rPr lang="en-GB" altLang="zh-CN" sz="2400" dirty="0"/>
              <a:t>Robust – Failure of publishers or subscribers does not bring down the entire system</a:t>
            </a:r>
          </a:p>
          <a:p>
            <a:pPr>
              <a:lnSpc>
                <a:spcPct val="80000"/>
              </a:lnSpc>
            </a:pPr>
            <a:r>
              <a:rPr lang="en-US" altLang="zh-TW" sz="2400" dirty="0"/>
              <a:t>Scalability- </a:t>
            </a:r>
            <a:r>
              <a:rPr lang="en-GB" altLang="zh-CN" sz="2400" dirty="0"/>
              <a:t>Suited to build distributed applications consisting a large number  of entities</a:t>
            </a:r>
          </a:p>
          <a:p>
            <a:pPr>
              <a:lnSpc>
                <a:spcPct val="80000"/>
              </a:lnSpc>
            </a:pPr>
            <a:r>
              <a:rPr lang="en-GB" altLang="zh-TW" sz="2400" dirty="0"/>
              <a:t>Adaptability- can be varied </a:t>
            </a:r>
            <a:r>
              <a:rPr lang="en-GB" altLang="zh-CN" sz="2400" dirty="0"/>
              <a:t>to suit different environments</a:t>
            </a:r>
            <a:r>
              <a:rPr lang="en-GB" altLang="zh-TW" sz="2400" dirty="0"/>
              <a:t> (mobile, internet game, embedded systems etc…)</a:t>
            </a:r>
            <a:endParaRPr lang="en-US" altLang="zh-TW" sz="2400" dirty="0"/>
          </a:p>
        </p:txBody>
      </p:sp>
      <p:sp>
        <p:nvSpPr>
          <p:cNvPr id="2" name="页脚占位符 1"/>
          <p:cNvSpPr>
            <a:spLocks noGrp="1"/>
          </p:cNvSpPr>
          <p:nvPr>
            <p:ph type="ftr" sz="quarter" idx="11"/>
          </p:nvPr>
        </p:nvSpPr>
        <p:spPr/>
        <p:txBody>
          <a:bodyPr/>
          <a:lstStyle/>
          <a:p>
            <a:r>
              <a:rPr lang="en-US"/>
              <a:t>© Software Architecture</a:t>
            </a:r>
            <a:endParaRPr lang="en-AU" dirty="0"/>
          </a:p>
        </p:txBody>
      </p:sp>
      <p:pic>
        <p:nvPicPr>
          <p:cNvPr id="4" name="图片 3">
            <a:extLst>
              <a:ext uri="{FF2B5EF4-FFF2-40B4-BE49-F238E27FC236}">
                <a16:creationId xmlns:a16="http://schemas.microsoft.com/office/drawing/2014/main" id="{7FAA1CCE-D2FD-385E-526E-8242B7157FE7}"/>
              </a:ext>
            </a:extLst>
          </p:cNvPr>
          <p:cNvPicPr>
            <a:picLocks noChangeAspect="1"/>
          </p:cNvPicPr>
          <p:nvPr/>
        </p:nvPicPr>
        <p:blipFill>
          <a:blip r:embed="rId3"/>
          <a:stretch>
            <a:fillRect/>
          </a:stretch>
        </p:blipFill>
        <p:spPr>
          <a:xfrm>
            <a:off x="0" y="3933056"/>
            <a:ext cx="9144000" cy="24852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8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zh-TW" dirty="0"/>
              <a:t>Disadvantages of Pub/Sub </a:t>
            </a:r>
          </a:p>
        </p:txBody>
      </p:sp>
      <p:sp>
        <p:nvSpPr>
          <p:cNvPr id="27651" name="Rectangle 3"/>
          <p:cNvSpPr>
            <a:spLocks noGrp="1" noChangeArrowheads="1"/>
          </p:cNvSpPr>
          <p:nvPr>
            <p:ph type="body" idx="1"/>
          </p:nvPr>
        </p:nvSpPr>
        <p:spPr>
          <a:xfrm>
            <a:off x="611560" y="1052736"/>
            <a:ext cx="8229600" cy="5112568"/>
          </a:xfrm>
        </p:spPr>
        <p:txBody>
          <a:bodyPr>
            <a:normAutofit/>
          </a:bodyPr>
          <a:lstStyle/>
          <a:p>
            <a:pPr>
              <a:lnSpc>
                <a:spcPct val="80000"/>
              </a:lnSpc>
            </a:pPr>
            <a:r>
              <a:rPr lang="en-US" altLang="zh-TW" sz="2400" kern="1500" dirty="0"/>
              <a:t>Reliability – no strong guarantee on broker to deliver content to subscriber. After a publisher publishes the event, it assumes that all corresponding subscribers would receive it.</a:t>
            </a:r>
          </a:p>
          <a:p>
            <a:pPr>
              <a:lnSpc>
                <a:spcPct val="80000"/>
              </a:lnSpc>
            </a:pPr>
            <a:r>
              <a:rPr lang="en-US" altLang="zh-TW" sz="2400" kern="1500" dirty="0"/>
              <a:t>Potential bottleneck in brokers when subscribers and publishers overload them. (Solve by load balancing techniques)</a:t>
            </a:r>
          </a:p>
          <a:p>
            <a:pPr>
              <a:lnSpc>
                <a:spcPct val="80000"/>
              </a:lnSpc>
            </a:pPr>
            <a:endParaRPr lang="en-US" altLang="zh-TW" sz="2400" dirty="0"/>
          </a:p>
        </p:txBody>
      </p:sp>
      <p:sp>
        <p:nvSpPr>
          <p:cNvPr id="2" name="页脚占位符 1"/>
          <p:cNvSpPr>
            <a:spLocks noGrp="1"/>
          </p:cNvSpPr>
          <p:nvPr>
            <p:ph type="ftr" sz="quarter" idx="11"/>
          </p:nvPr>
        </p:nvSpPr>
        <p:spPr/>
        <p:txBody>
          <a:bodyPr/>
          <a:lstStyle/>
          <a:p>
            <a:r>
              <a:rPr lang="en-US"/>
              <a:t>© Software Architecture</a:t>
            </a:r>
            <a:endParaRPr lang="en-AU" dirty="0"/>
          </a:p>
        </p:txBody>
      </p:sp>
      <p:pic>
        <p:nvPicPr>
          <p:cNvPr id="4" name="图片 3">
            <a:extLst>
              <a:ext uri="{FF2B5EF4-FFF2-40B4-BE49-F238E27FC236}">
                <a16:creationId xmlns:a16="http://schemas.microsoft.com/office/drawing/2014/main" id="{B94D66FD-B81D-3815-B95A-F93676F327F6}"/>
              </a:ext>
            </a:extLst>
          </p:cNvPr>
          <p:cNvPicPr>
            <a:picLocks noChangeAspect="1"/>
          </p:cNvPicPr>
          <p:nvPr/>
        </p:nvPicPr>
        <p:blipFill>
          <a:blip r:embed="rId3"/>
          <a:stretch>
            <a:fillRect/>
          </a:stretch>
        </p:blipFill>
        <p:spPr>
          <a:xfrm>
            <a:off x="827584" y="3029735"/>
            <a:ext cx="7596336" cy="36917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65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rmAutofit/>
          </a:bodyPr>
          <a:lstStyle/>
          <a:p>
            <a:r>
              <a:rPr lang="en-US" b="1" dirty="0">
                <a:solidFill>
                  <a:schemeClr val="tx2"/>
                </a:solidFill>
              </a:rPr>
              <a:t>Modifiability</a:t>
            </a:r>
            <a:r>
              <a:rPr lang="en-US" dirty="0"/>
              <a:t> deals with change and the cost in time or money of making a change, including the extent to which this modification affects other functions or quality attributes. </a:t>
            </a:r>
          </a:p>
          <a:p>
            <a:r>
              <a:rPr lang="en-US" dirty="0"/>
              <a:t>Tactics to reduce the cost of making a change include making modules smaller, increasing cohesion, and reducing coupling.</a:t>
            </a:r>
          </a:p>
        </p:txBody>
      </p:sp>
      <p:sp>
        <p:nvSpPr>
          <p:cNvPr id="4" name="Footer Placeholder 3"/>
          <p:cNvSpPr>
            <a:spLocks noGrp="1"/>
          </p:cNvSpPr>
          <p:nvPr>
            <p:ph type="ftr" sz="quarter" idx="11"/>
          </p:nvPr>
        </p:nvSpPr>
        <p:spPr/>
        <p:txBody>
          <a:bodyPr/>
          <a:lstStyle/>
          <a:p>
            <a:r>
              <a:rPr lang="en-AU"/>
              <a:t>© Software Architecture</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c5NWIxYzdjOTUxYjQ2ZjMyNzFmMjc2NjMyZjhmNjkifQ=="/>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9d8a0fd1-0e92-4e25-8904-b0600d31d325}"/>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619*407"/>
  <p:tag name="TABLE_ENDDRAG_RECT" val="50*71*619*40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512</TotalTime>
  <Words>5022</Words>
  <Application>Microsoft Office PowerPoint</Application>
  <PresentationFormat>全屏显示(4:3)</PresentationFormat>
  <Paragraphs>327</Paragraphs>
  <Slides>62</Slides>
  <Notes>17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62</vt:i4>
      </vt:variant>
    </vt:vector>
  </HeadingPairs>
  <TitlesOfParts>
    <vt:vector size="72" baseType="lpstr">
      <vt:lpstr>quote-cjk-patch</vt:lpstr>
      <vt:lpstr>等线</vt:lpstr>
      <vt:lpstr>黑体</vt:lpstr>
      <vt:lpstr>Arial</vt:lpstr>
      <vt:lpstr>Calibri</vt:lpstr>
      <vt:lpstr>Symbol</vt:lpstr>
      <vt:lpstr>Times</vt:lpstr>
      <vt:lpstr>Times New Roman</vt:lpstr>
      <vt:lpstr>Wingdings</vt:lpstr>
      <vt:lpstr>Office Theme</vt:lpstr>
      <vt:lpstr>Chapter 7: Modifiability</vt:lpstr>
      <vt:lpstr>PowerPoint 演示文稿</vt:lpstr>
      <vt:lpstr>PowerPoint 演示文稿</vt:lpstr>
      <vt:lpstr>PowerPoint 演示文稿</vt:lpstr>
      <vt:lpstr>PowerPoint 演示文稿</vt:lpstr>
      <vt:lpstr>PowerPoint 演示文稿</vt:lpstr>
      <vt:lpstr>PowerPoint 演示文稿</vt:lpstr>
      <vt:lpstr>What is Modifiability?</vt:lpstr>
      <vt:lpstr>What can change?</vt:lpstr>
      <vt:lpstr>Probability of Change</vt:lpstr>
      <vt:lpstr>When is the change made and who makes it?</vt:lpstr>
      <vt:lpstr>When is the change made and who makes it?</vt:lpstr>
      <vt:lpstr>What is the cost of the change?</vt:lpstr>
      <vt:lpstr>What is the cost of the change?</vt:lpstr>
      <vt:lpstr>What is the cost of the change?</vt:lpstr>
      <vt:lpstr>Specific Types of Changes</vt:lpstr>
      <vt:lpstr>Specific Types of Changes</vt:lpstr>
      <vt:lpstr>Specific Types of Changes</vt:lpstr>
      <vt:lpstr>Specific Types of Changes</vt:lpstr>
      <vt:lpstr>Modifiability General Scenario</vt:lpstr>
      <vt:lpstr>Modifiability General Scenario</vt:lpstr>
      <vt:lpstr>Sample Concrete Modifiability Scenario</vt:lpstr>
      <vt:lpstr>Sample Concrete Modifiability Scenario</vt:lpstr>
      <vt:lpstr>Goal of Modifiability Tactics</vt:lpstr>
      <vt:lpstr>Modifiability Tactics</vt:lpstr>
      <vt:lpstr>高内聚、低耦合</vt:lpstr>
      <vt:lpstr>增加内聚（Increase Cohesion）</vt:lpstr>
      <vt:lpstr>增加内聚（Increase Cohesion）</vt:lpstr>
      <vt:lpstr>减少耦合 (Reducing Coupling)</vt:lpstr>
      <vt:lpstr>减少耦合 (Reducing Coupling)</vt:lpstr>
      <vt:lpstr>减少耦合 (Reducing Coupling)</vt:lpstr>
      <vt:lpstr>减少耦合 (Reducing Coupling)</vt:lpstr>
      <vt:lpstr>减少耦合 (Reducing Coupling)</vt:lpstr>
      <vt:lpstr>减少耦合 (Reducing Coupling)</vt:lpstr>
      <vt:lpstr>减少耦合 (Reducing Coupling)</vt:lpstr>
      <vt:lpstr>抽象前</vt:lpstr>
      <vt:lpstr>抽象后</vt:lpstr>
      <vt:lpstr>负面例子</vt:lpstr>
      <vt:lpstr>正面例子</vt:lpstr>
      <vt:lpstr>PowerPoint 演示文稿</vt:lpstr>
      <vt:lpstr>Defer Binding</vt:lpstr>
      <vt:lpstr>Defer Binding </vt:lpstr>
      <vt:lpstr>Publish/Subscribe System </vt:lpstr>
      <vt:lpstr>Introduction:  Motivations for Pub/Sub model</vt:lpstr>
      <vt:lpstr>What is a Publish/Subscribe System?</vt:lpstr>
      <vt:lpstr>Key components of Pub/Sub System</vt:lpstr>
      <vt:lpstr>Publish/Subscribe System </vt:lpstr>
      <vt:lpstr>Example: Weather  (Traditional Client/Server Model)</vt:lpstr>
      <vt:lpstr>Example: Weather  (Publish/Subscribe)</vt:lpstr>
      <vt:lpstr>Publish-Subscribe vs UDDI</vt:lpstr>
      <vt:lpstr>Decoupling in time, space and synchronization</vt:lpstr>
      <vt:lpstr>Decoupling in time, space and synchronization</vt:lpstr>
      <vt:lpstr>Classification of Pub/Sub Architectures </vt:lpstr>
      <vt:lpstr>Classification of Pub/Sub Architectures</vt:lpstr>
      <vt:lpstr>Key Functions Implemented by P/S Middleware Service</vt:lpstr>
      <vt:lpstr>Event Filtering (Subscription Model) Topic based VS Content based </vt:lpstr>
      <vt:lpstr>Topic-based subscription </vt:lpstr>
      <vt:lpstr>Event Filtering- Subscription Model Topic based VS Content based</vt:lpstr>
      <vt:lpstr>Content-based Subscription </vt:lpstr>
      <vt:lpstr>Advantages of Pub/Sub</vt:lpstr>
      <vt:lpstr>Disadvantages of Pub/Sub </vt:lpstr>
      <vt:lpstr>Summary</vt:lpstr>
    </vt:vector>
  </TitlesOfParts>
  <Company>NICTA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 Bass</dc:creator>
  <cp:lastModifiedBy>祥博 孙</cp:lastModifiedBy>
  <cp:revision>389</cp:revision>
  <dcterms:created xsi:type="dcterms:W3CDTF">2023-09-18T02:34:00Z</dcterms:created>
  <dcterms:modified xsi:type="dcterms:W3CDTF">2026-10-24T12:43:43Z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181375587313C39307D1FE648731B93F</vt:lpwstr>
  </property>
  <property fmtid="{D5CDD505-2E9C-101B-9397-08002B2CF9AE}" pid="3" name="KSOProductBuildVer">
    <vt:lpwstr>2052-12.1.0.22529</vt:lpwstr>
  </property>
</Properties>
</file>