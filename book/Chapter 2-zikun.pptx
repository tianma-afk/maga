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28" r:id="rId2"/>
    <p:sldId id="439" r:id="rId3"/>
    <p:sldId id="436" r:id="rId4"/>
    <p:sldId id="330" r:id="rId5"/>
    <p:sldId id="441" r:id="rId6"/>
    <p:sldId id="331" r:id="rId7"/>
    <p:sldId id="345" r:id="rId8"/>
    <p:sldId id="332" r:id="rId9"/>
    <p:sldId id="333" r:id="rId10"/>
    <p:sldId id="442" r:id="rId11"/>
    <p:sldId id="334" r:id="rId12"/>
    <p:sldId id="440" r:id="rId13"/>
    <p:sldId id="335" r:id="rId14"/>
    <p:sldId id="336" r:id="rId15"/>
    <p:sldId id="443" r:id="rId16"/>
    <p:sldId id="337" r:id="rId17"/>
    <p:sldId id="338" r:id="rId18"/>
    <p:sldId id="339" r:id="rId19"/>
    <p:sldId id="340" r:id="rId20"/>
    <p:sldId id="342" r:id="rId21"/>
    <p:sldId id="343" r:id="rId22"/>
    <p:sldId id="344" r:id="rId23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07201-3A16-47A0-96EF-7BB2BF0E0BFB}" v="44" dt="2026-09-22T07:39:54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43" autoAdjust="0"/>
    <p:restoredTop sz="92207" autoAdjust="0"/>
  </p:normalViewPr>
  <p:slideViewPr>
    <p:cSldViewPr showGuides="1">
      <p:cViewPr varScale="1">
        <p:scale>
          <a:sx n="146" d="100"/>
          <a:sy n="146" d="100"/>
        </p:scale>
        <p:origin x="2224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3065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DDFBD-3A00-4189-8C8D-78071B1A5DE3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68E1B-F273-4987-A84E-DC035A03C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24/10/2026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16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©Software 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©Software  Architecture</a:t>
            </a:r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2:  Why is Software Architecture Important?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1</a:t>
            </a:fld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86784-D9E6-DFBF-9377-999D5342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82EDB0-308C-566C-0A1E-AE881700B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B8CD63-651C-89EA-B82E-A666B13C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16A534-E972-4855-4242-74A2C6162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4725"/>
            <a:ext cx="9144000" cy="48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0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996952"/>
            <a:ext cx="8229600" cy="778098"/>
          </a:xfrm>
        </p:spPr>
        <p:txBody>
          <a:bodyPr/>
          <a:lstStyle/>
          <a:p>
            <a:r>
              <a:rPr lang="en-US" altLang="zh-CN" dirty="0"/>
              <a:t>Who will use it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Inhibiting or Enabling a System’s Quality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516" y="1484784"/>
            <a:ext cx="8712968" cy="4628405"/>
          </a:xfrm>
        </p:spPr>
        <p:txBody>
          <a:bodyPr>
            <a:normAutofit/>
          </a:bodyPr>
          <a:lstStyle/>
          <a:p>
            <a:r>
              <a:rPr lang="en-US" sz="3500" dirty="0"/>
              <a:t>Whether a system will be able to exhibit its desired (or required) quality attributes is substantially determined by its architecture.</a:t>
            </a:r>
          </a:p>
          <a:p>
            <a:pPr lvl="1"/>
            <a:r>
              <a:rPr lang="en-US" sz="3200" dirty="0"/>
              <a:t>Performance</a:t>
            </a:r>
          </a:p>
          <a:p>
            <a:pPr lvl="1"/>
            <a:r>
              <a:rPr lang="en-US" sz="3200" dirty="0"/>
              <a:t>Modifiability</a:t>
            </a:r>
          </a:p>
          <a:p>
            <a:pPr lvl="1"/>
            <a:r>
              <a:rPr lang="en-US" sz="3200" dirty="0"/>
              <a:t>Security</a:t>
            </a:r>
          </a:p>
          <a:p>
            <a:pPr lvl="1"/>
            <a:r>
              <a:rPr lang="en-US" sz="3200" dirty="0"/>
              <a:t>Scalability</a:t>
            </a:r>
          </a:p>
          <a:p>
            <a:pPr lvl="1"/>
            <a:r>
              <a:rPr lang="en-US" sz="3200" dirty="0"/>
              <a:t>Reusability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©Software  Architecture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44208" y="5649994"/>
            <a:ext cx="2376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Architect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56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120EF-FFDC-B93F-0506-C38D5659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24DE9A-7584-C4B1-C337-1F4D57A3F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如果你的系统需要</a:t>
            </a:r>
            <a:r>
              <a:rPr lang="zh-CN" altLang="zh-CN" sz="2000" b="1" dirty="0">
                <a:solidFill>
                  <a:srgbClr val="0070C0"/>
                </a:solidFill>
              </a:rPr>
              <a:t>高性能</a:t>
            </a:r>
            <a:r>
              <a:rPr lang="zh-CN" altLang="zh-CN" sz="2000" dirty="0"/>
              <a:t>，那么你需要关注管理元素基于时间的行为、它们对共享资源的使用以及元素间通信的频率和数量。 </a:t>
            </a:r>
          </a:p>
          <a:p>
            <a:r>
              <a:rPr lang="zh-CN" altLang="zh-CN" sz="2000" dirty="0"/>
              <a:t>如果</a:t>
            </a:r>
            <a:r>
              <a:rPr lang="zh-CN" altLang="zh-CN" sz="2000" b="1" dirty="0">
                <a:solidFill>
                  <a:srgbClr val="0070C0"/>
                </a:solidFill>
              </a:rPr>
              <a:t>可修改性</a:t>
            </a:r>
            <a:r>
              <a:rPr lang="zh-CN" altLang="zh-CN" sz="2000" dirty="0"/>
              <a:t>很重要，那么你需要关注将责任分配给元素，并限制这些元素的交互（耦合），以便系统的大多数变更只影响到这些元素中的少数。理想情况下，每个变更将只影响单个元素。如果你想让系统中的元素在其他系统中可重用，那么你需要限制元素间的耦合，这样当你提取一个元素时，它不会带出太多与当前环境相关的内容。</a:t>
            </a:r>
          </a:p>
          <a:p>
            <a:r>
              <a:rPr lang="zh-CN" altLang="zh-CN" sz="2000" dirty="0"/>
              <a:t>如果你的系统必须是</a:t>
            </a:r>
            <a:r>
              <a:rPr lang="zh-CN" altLang="zh-CN" sz="2000" b="1" dirty="0">
                <a:solidFill>
                  <a:srgbClr val="0070C0"/>
                </a:solidFill>
              </a:rPr>
              <a:t>高度防护</a:t>
            </a:r>
            <a:r>
              <a:rPr lang="zh-CN" altLang="en-US" sz="2000" b="1" dirty="0">
                <a:solidFill>
                  <a:srgbClr val="0070C0"/>
                </a:solidFill>
              </a:rPr>
              <a:t>（安全）</a:t>
            </a:r>
            <a:r>
              <a:rPr lang="zh-CN" altLang="zh-CN" sz="2000" dirty="0"/>
              <a:t>的，那么你需要管理和保护组件间的通信，并控制哪 些组件可以访问哪些信息。你可能还需要在架构中引入专门的元素（例如授权机制） 来设置一个强大的“边界”以防止入侵。 </a:t>
            </a:r>
            <a:r>
              <a:rPr lang="zh-CN" altLang="en-US" sz="2000" dirty="0"/>
              <a:t>还</a:t>
            </a:r>
            <a:r>
              <a:rPr lang="zh-CN" altLang="zh-CN" sz="2000" dirty="0"/>
              <a:t>需要设计保障措施和恢复机制。 </a:t>
            </a:r>
          </a:p>
          <a:p>
            <a:r>
              <a:rPr lang="zh-CN" altLang="zh-CN" sz="2000" dirty="0"/>
              <a:t>如果你认为性能的</a:t>
            </a:r>
            <a:r>
              <a:rPr lang="zh-CN" altLang="zh-CN" sz="2000" b="1" dirty="0">
                <a:solidFill>
                  <a:srgbClr val="0070C0"/>
                </a:solidFill>
              </a:rPr>
              <a:t>可伸缩性</a:t>
            </a:r>
            <a:r>
              <a:rPr lang="zh-CN" altLang="en-US" sz="2000" b="1" dirty="0">
                <a:solidFill>
                  <a:srgbClr val="0070C0"/>
                </a:solidFill>
              </a:rPr>
              <a:t>（可扩展性）</a:t>
            </a:r>
            <a:r>
              <a:rPr lang="zh-CN" altLang="zh-CN" sz="2000" dirty="0"/>
              <a:t>对系统的成功非常重要，那么你需要将资源的使用本地 化，以便引入更高容量资源来替换，并且必须避免在资源假设或资源限制中进行硬 编码。 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FFC241-F75C-8447-6EBF-A2F1C2AC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131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60475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dirty="0"/>
              <a:t>Reasoning About and Managing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92883"/>
            <a:ext cx="8579296" cy="53285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About 80 percent of a typical software system’s total cost occurs after initial deployment</a:t>
            </a:r>
          </a:p>
          <a:p>
            <a:pPr lvl="1"/>
            <a:r>
              <a:rPr lang="en-US" dirty="0"/>
              <a:t>accommodate new features</a:t>
            </a:r>
          </a:p>
          <a:p>
            <a:pPr lvl="1"/>
            <a:r>
              <a:rPr lang="en-US" dirty="0"/>
              <a:t>adapt to new environments,</a:t>
            </a:r>
          </a:p>
          <a:p>
            <a:pPr lvl="1"/>
            <a:r>
              <a:rPr lang="en-US" dirty="0"/>
              <a:t>fix bugs, and so forth. </a:t>
            </a:r>
          </a:p>
          <a:p>
            <a:r>
              <a:rPr lang="en-US" dirty="0"/>
              <a:t>Every architecture partitions possible changes into three categories</a:t>
            </a:r>
          </a:p>
          <a:p>
            <a:pPr lvl="1"/>
            <a:r>
              <a:rPr lang="en-US" dirty="0"/>
              <a:t>A </a:t>
            </a:r>
            <a:r>
              <a:rPr lang="en-US" i="1" dirty="0"/>
              <a:t>local</a:t>
            </a:r>
            <a:r>
              <a:rPr lang="en-US" dirty="0"/>
              <a:t> change can be accomplished by modifying a single element. </a:t>
            </a:r>
          </a:p>
          <a:p>
            <a:pPr lvl="1"/>
            <a:r>
              <a:rPr lang="en-US" dirty="0"/>
              <a:t>A </a:t>
            </a:r>
            <a:r>
              <a:rPr lang="en-US" i="1" dirty="0"/>
              <a:t>nonlocal</a:t>
            </a:r>
            <a:r>
              <a:rPr lang="en-US" dirty="0"/>
              <a:t> change requires multiple element modifications but leaves the underlying architectural approach intact. </a:t>
            </a:r>
          </a:p>
          <a:p>
            <a:pPr lvl="1"/>
            <a:r>
              <a:rPr lang="en-US" dirty="0"/>
              <a:t>An </a:t>
            </a:r>
            <a:r>
              <a:rPr lang="en-US" i="1" dirty="0"/>
              <a:t>architectural</a:t>
            </a:r>
            <a:r>
              <a:rPr lang="en-US" dirty="0"/>
              <a:t> change affects the fundamental ways in which the elements interact with each other and will require changes all over the system.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9" name="文本框 8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Project manager</a:t>
            </a:r>
          </a:p>
        </p:txBody>
      </p:sp>
    </p:spTree>
    <p:extLst>
      <p:ext uri="{BB962C8B-B14F-4D97-AF65-F5344CB8AC3E}">
        <p14:creationId xmlns:p14="http://schemas.microsoft.com/office/powerpoint/2010/main" val="162955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60475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dirty="0"/>
              <a:t>Reasoning About and Managing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3168352"/>
          </a:xfrm>
        </p:spPr>
        <p:txBody>
          <a:bodyPr>
            <a:normAutofit/>
          </a:bodyPr>
          <a:lstStyle/>
          <a:p>
            <a:r>
              <a:rPr lang="pl-PL" dirty="0"/>
              <a:t>Obviously, local changes are the most desirable</a:t>
            </a:r>
          </a:p>
          <a:p>
            <a:r>
              <a:rPr lang="pl-PL" dirty="0"/>
              <a:t>A good architecture is one in which the most common changes are local, and hence easy to make.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Project manager</a:t>
            </a:r>
          </a:p>
        </p:txBody>
      </p:sp>
    </p:spTree>
    <p:extLst>
      <p:ext uri="{BB962C8B-B14F-4D97-AF65-F5344CB8AC3E}">
        <p14:creationId xmlns:p14="http://schemas.microsoft.com/office/powerpoint/2010/main" val="304254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System Qualities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we examine an architecture we can confidently predict that the architecture will exhibit the associated qualities.</a:t>
            </a:r>
          </a:p>
          <a:p>
            <a:r>
              <a:rPr lang="en-US" dirty="0"/>
              <a:t>The earlier you can find a problem in your design, the cheaper, easier, and less disruptive it will be to fix.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6444208" y="5649994"/>
            <a:ext cx="2376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Architect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523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Enhancing Communication Among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3"/>
            <a:ext cx="8640960" cy="4752529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/>
              <a:t>Stakeholders</a:t>
            </a:r>
            <a:r>
              <a:rPr lang="zh-CN" altLang="zh-CN" sz="2800" dirty="0"/>
              <a:t>（客户、用户、项目经理、编码人员、测试人员等）</a:t>
            </a:r>
            <a:endParaRPr lang="en-US" sz="2800" dirty="0"/>
          </a:p>
          <a:p>
            <a:r>
              <a:rPr lang="en-US" sz="2800" dirty="0"/>
              <a:t>The architecture—or at least parts of it—is sufficiently abstract that most nontechnical people can understand it.</a:t>
            </a:r>
          </a:p>
          <a:p>
            <a:r>
              <a:rPr lang="en-US" altLang="zh-CN" sz="2800" dirty="0"/>
              <a:t>Most of the system’s stakeholders can use as a basis for creating mutual understanding, negotiating, forming consensus, and communicating with each other.</a:t>
            </a:r>
          </a:p>
          <a:p>
            <a:r>
              <a:rPr lang="en-US" altLang="zh-CN" sz="2800" dirty="0"/>
              <a:t>Each stakeholder of a software system is concerned with different characteristics of the system</a:t>
            </a:r>
          </a:p>
          <a:p>
            <a:pPr lvl="1"/>
            <a:r>
              <a:rPr lang="en-US" altLang="zh-CN" sz="2400" dirty="0"/>
              <a:t>Users, client, manager, architect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30527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1556F-890D-D67E-4EBC-6AE4E3BC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967D00-A363-7C51-C82A-370C7E694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dirty="0">
                <a:solidFill>
                  <a:srgbClr val="0070C0"/>
                </a:solidFill>
              </a:rPr>
              <a:t>用户</a:t>
            </a:r>
            <a:r>
              <a:rPr lang="zh-CN" altLang="zh-CN" dirty="0"/>
              <a:t>关心系统是否快速、可靠且在需要时可用。 </a:t>
            </a:r>
          </a:p>
          <a:p>
            <a:r>
              <a:rPr lang="zh-CN" altLang="zh-CN" b="1" dirty="0">
                <a:solidFill>
                  <a:srgbClr val="0070C0"/>
                </a:solidFill>
              </a:rPr>
              <a:t>客户</a:t>
            </a:r>
            <a:r>
              <a:rPr lang="zh-CN" altLang="zh-CN" dirty="0"/>
              <a:t>（为系统付费的人）关心架构可以按计划和预算实施。 </a:t>
            </a:r>
          </a:p>
          <a:p>
            <a:r>
              <a:rPr lang="zh-CN" altLang="zh-CN" b="1" dirty="0">
                <a:solidFill>
                  <a:srgbClr val="0070C0"/>
                </a:solidFill>
              </a:rPr>
              <a:t>管理者</a:t>
            </a:r>
            <a:r>
              <a:rPr lang="zh-CN" altLang="zh-CN" dirty="0"/>
              <a:t>关心架构（除了成本和进度方面之外）是否最大限度允许团队独立工作，以 有纪律和受控的方式进行交互。 </a:t>
            </a:r>
          </a:p>
          <a:p>
            <a:r>
              <a:rPr lang="zh-CN" altLang="zh-CN" b="1" dirty="0">
                <a:solidFill>
                  <a:srgbClr val="0070C0"/>
                </a:solidFill>
              </a:rPr>
              <a:t>架构师</a:t>
            </a:r>
            <a:r>
              <a:rPr lang="zh-CN" altLang="zh-CN" dirty="0"/>
              <a:t>关心实现所有这些目标的策略。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02695A-57B5-83F1-02A4-B6B19922D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9690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Earliest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Software architecture is a manifestation of the earliest design decisions about a system.</a:t>
            </a:r>
          </a:p>
          <a:p>
            <a:r>
              <a:rPr lang="en-US" sz="2400" dirty="0"/>
              <a:t>These early decisions affect the system’s remaining development, its deployment, and its maintenance life. </a:t>
            </a:r>
          </a:p>
          <a:p>
            <a:r>
              <a:rPr lang="en-US" sz="2400" dirty="0"/>
              <a:t>What are these early design decisions?</a:t>
            </a:r>
          </a:p>
          <a:p>
            <a:pPr lvl="1"/>
            <a:r>
              <a:rPr lang="en-US" sz="1900" dirty="0"/>
              <a:t>W</a:t>
            </a:r>
            <a:r>
              <a:rPr lang="pl-PL" sz="1900" dirty="0" err="1"/>
              <a:t>ill</a:t>
            </a:r>
            <a:r>
              <a:rPr lang="pl-PL" sz="1900" dirty="0"/>
              <a:t> the system run on one </a:t>
            </a:r>
            <a:r>
              <a:rPr lang="pl-PL" sz="1900" dirty="0" err="1"/>
              <a:t>processor</a:t>
            </a:r>
            <a:r>
              <a:rPr lang="pl-PL" sz="1900" dirty="0"/>
              <a:t> </a:t>
            </a:r>
            <a:r>
              <a:rPr lang="pl-PL" sz="1900" dirty="0" err="1"/>
              <a:t>or</a:t>
            </a:r>
            <a:r>
              <a:rPr lang="pl-PL" sz="1900" dirty="0"/>
              <a:t> be </a:t>
            </a:r>
            <a:r>
              <a:rPr lang="pl-PL" sz="1900" dirty="0" err="1"/>
              <a:t>distributed</a:t>
            </a:r>
            <a:r>
              <a:rPr lang="pl-PL" sz="1900" dirty="0"/>
              <a:t> </a:t>
            </a:r>
            <a:r>
              <a:rPr lang="pl-PL" sz="1900" dirty="0" err="1"/>
              <a:t>across</a:t>
            </a:r>
            <a:r>
              <a:rPr lang="pl-PL" sz="1900" dirty="0"/>
              <a:t> </a:t>
            </a:r>
            <a:r>
              <a:rPr lang="pl-PL" sz="1900" dirty="0" err="1"/>
              <a:t>multiple</a:t>
            </a:r>
            <a:r>
              <a:rPr lang="pl-PL" sz="1900" dirty="0"/>
              <a:t> </a:t>
            </a:r>
            <a:r>
              <a:rPr lang="pl-PL" sz="1900" dirty="0" err="1"/>
              <a:t>processors</a:t>
            </a:r>
            <a:r>
              <a:rPr lang="pl-PL" sz="1900" dirty="0"/>
              <a:t>?</a:t>
            </a:r>
          </a:p>
          <a:p>
            <a:pPr lvl="1"/>
            <a:r>
              <a:rPr lang="pl-PL" sz="1900" dirty="0" err="1"/>
              <a:t>Will</a:t>
            </a:r>
            <a:r>
              <a:rPr lang="pl-PL" sz="1900" dirty="0"/>
              <a:t> the software be </a:t>
            </a:r>
            <a:r>
              <a:rPr lang="pl-PL" sz="1900" dirty="0" err="1"/>
              <a:t>layered</a:t>
            </a:r>
            <a:r>
              <a:rPr lang="pl-PL" sz="1900" dirty="0"/>
              <a:t>? </a:t>
            </a:r>
            <a:r>
              <a:rPr lang="pl-PL" sz="1900" dirty="0" err="1"/>
              <a:t>If</a:t>
            </a:r>
            <a:r>
              <a:rPr lang="pl-PL" sz="1900" dirty="0"/>
              <a:t> </a:t>
            </a:r>
            <a:r>
              <a:rPr lang="pl-PL" sz="1900" dirty="0" err="1"/>
              <a:t>so</a:t>
            </a:r>
            <a:r>
              <a:rPr lang="pl-PL" sz="1900" dirty="0"/>
              <a:t>, </a:t>
            </a:r>
            <a:r>
              <a:rPr lang="pl-PL" sz="1900" dirty="0" err="1"/>
              <a:t>how</a:t>
            </a:r>
            <a:r>
              <a:rPr lang="pl-PL" sz="1900" dirty="0"/>
              <a:t> </a:t>
            </a:r>
            <a:r>
              <a:rPr lang="pl-PL" sz="1900" dirty="0" err="1"/>
              <a:t>many</a:t>
            </a:r>
            <a:r>
              <a:rPr lang="pl-PL" sz="1900" dirty="0"/>
              <a:t> </a:t>
            </a:r>
            <a:r>
              <a:rPr lang="pl-PL" sz="1900" dirty="0" err="1"/>
              <a:t>layers</a:t>
            </a:r>
            <a:r>
              <a:rPr lang="pl-PL" sz="1900" dirty="0"/>
              <a:t> </a:t>
            </a:r>
            <a:r>
              <a:rPr lang="pl-PL" sz="1900" dirty="0" err="1"/>
              <a:t>will</a:t>
            </a:r>
            <a:r>
              <a:rPr lang="pl-PL" sz="1900" dirty="0"/>
              <a:t> </a:t>
            </a:r>
            <a:r>
              <a:rPr lang="pl-PL" sz="1900" dirty="0" err="1"/>
              <a:t>there</a:t>
            </a:r>
            <a:r>
              <a:rPr lang="pl-PL" sz="1900" dirty="0"/>
              <a:t> be? </a:t>
            </a:r>
            <a:r>
              <a:rPr lang="pl-PL" sz="1900" dirty="0" err="1"/>
              <a:t>What</a:t>
            </a:r>
            <a:r>
              <a:rPr lang="pl-PL" sz="1900" dirty="0"/>
              <a:t> </a:t>
            </a:r>
            <a:r>
              <a:rPr lang="pl-PL" sz="1900" dirty="0" err="1"/>
              <a:t>will</a:t>
            </a:r>
            <a:r>
              <a:rPr lang="pl-PL" sz="1900" dirty="0"/>
              <a:t> </a:t>
            </a:r>
            <a:r>
              <a:rPr lang="pl-PL" sz="1900" dirty="0" err="1"/>
              <a:t>each</a:t>
            </a:r>
            <a:r>
              <a:rPr lang="pl-PL" sz="1900" dirty="0"/>
              <a:t> one do?</a:t>
            </a:r>
          </a:p>
          <a:p>
            <a:pPr lvl="1"/>
            <a:r>
              <a:rPr lang="pl-PL" sz="1900" dirty="0"/>
              <a:t>Will components communicate synchronously or asynchronously?</a:t>
            </a:r>
            <a:r>
              <a:rPr lang="en-US" sz="1900" dirty="0"/>
              <a:t> </a:t>
            </a:r>
          </a:p>
          <a:p>
            <a:pPr lvl="1"/>
            <a:r>
              <a:rPr lang="pl-PL" altLang="zh-CN" sz="1900" dirty="0"/>
              <a:t>What communication protocol will we choose?</a:t>
            </a:r>
          </a:p>
          <a:p>
            <a:pPr lvl="1"/>
            <a:r>
              <a:rPr lang="pl-PL" sz="1900" dirty="0"/>
              <a:t>Will the system depend on specific features of the operating system or hardware?</a:t>
            </a:r>
          </a:p>
          <a:p>
            <a:pPr lvl="1"/>
            <a:r>
              <a:rPr lang="pl-PL" sz="1900" dirty="0"/>
              <a:t>Will the information that flows through the system be encrypted or not?</a:t>
            </a:r>
            <a:endParaRPr lang="pl-PL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6444208" y="5649994"/>
            <a:ext cx="2376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Architect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7DB04-1C32-8B0C-C0EE-DFF9507E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早期设计决策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613FA4-7378-7CA5-04E4-ECD5A4664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在作画时，甚至在开始作画之前， 艺术家就开始决定画布和材料—油彩、水彩还是蜡笔。一旦开始作画，就会相应做出其 他的决定：第一条线在哪里，它的宽度是多少，它的形状是什么？所有这些早期的决策都对最终画面的外观有很大的影响，并且每个决策都限制了接下来的许多决策。每一个单独的决策可能看起来都是无关紧要的，但早期的决策尤其具有不成比例的重要性，因为它们影响和限制了接下来的许多事情。 </a:t>
            </a:r>
          </a:p>
          <a:p>
            <a:r>
              <a:rPr lang="zh-CN" altLang="zh-CN" sz="2400" dirty="0"/>
              <a:t>架构设计也是如此。架构设计也可以看作一系列的决策。就现在必须改变的额外决策而言，改变这些早期的决策将会引起连锁反应。是的，有时架构必须重构或重新设计，但 这不是一项轻松的任务，因为一片雪花就可能引发雪崩。</a:t>
            </a:r>
            <a:endParaRPr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177EA7-26E6-7AEF-EEEF-FF4FB253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6709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Defining Constraints on an Implementation*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implementation exhibits an architecture if it conforms to the design decisions prescribed by the architecture. </a:t>
            </a:r>
          </a:p>
          <a:p>
            <a:pPr lvl="1"/>
            <a:r>
              <a:rPr lang="en-US" dirty="0"/>
              <a:t>The implementation must be implemented as the set of prescribed elements</a:t>
            </a:r>
          </a:p>
          <a:p>
            <a:pPr lvl="1"/>
            <a:r>
              <a:rPr lang="en-US" dirty="0"/>
              <a:t>These elements must interact with each other in the prescribed fashion</a:t>
            </a:r>
          </a:p>
          <a:p>
            <a:r>
              <a:rPr lang="en-US" dirty="0"/>
              <a:t>Each of these prescriptions is a constraint on the implementer.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©Software  Architecture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Developer</a:t>
            </a:r>
          </a:p>
        </p:txBody>
      </p:sp>
    </p:spTree>
    <p:extLst>
      <p:ext uri="{BB962C8B-B14F-4D97-AF65-F5344CB8AC3E}">
        <p14:creationId xmlns:p14="http://schemas.microsoft.com/office/powerpoint/2010/main" val="290112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400" y="251702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dirty="0"/>
              <a:t>Influencing the Organizational Structure*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prescribes the structure of the system being developed.</a:t>
            </a:r>
          </a:p>
          <a:p>
            <a:r>
              <a:rPr lang="en-US" dirty="0"/>
              <a:t>The architecture is typically used as the basis for the work-breakdown structure.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Project manager</a:t>
            </a:r>
          </a:p>
        </p:txBody>
      </p:sp>
    </p:spTree>
    <p:extLst>
      <p:ext uri="{BB962C8B-B14F-4D97-AF65-F5344CB8AC3E}">
        <p14:creationId xmlns:p14="http://schemas.microsoft.com/office/powerpoint/2010/main" val="6783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DC65F-811D-D20D-9E73-2B2F5E5E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F7EBC5-2D8F-E560-51BF-8544A4926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sz="2800" dirty="0"/>
              <a:t>工作分解结构反过来决定了计划、调度和预算的单位，团队间的沟通渠道，配置控制和文件系统结构，集成和测试计划及程序，甚至项目的细节。当组建运维团队时，也将依据软件结构中的特定元素—数据库、业务规则、用户界面、设备驱动程序等进行相应分工。 </a:t>
            </a:r>
          </a:p>
          <a:p>
            <a:r>
              <a:rPr lang="zh-CN" altLang="zh-CN" sz="2800" dirty="0"/>
              <a:t>建立工作分解结构的一个副作用是冻结了软件架构的某些方面。负责其中一个子系统的组可能会拒绝将其职责分到其他组。如果这些职责已经在合同中确认，改变职责可能会变得昂贵，甚至会引起诉讼。</a:t>
            </a:r>
            <a:endParaRPr lang="zh-CN" altLang="en-US" sz="28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0EDE6E-A226-C611-470E-88C46E3B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2239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Enabling Evolutionary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4857403"/>
          </a:xfrm>
        </p:spPr>
        <p:txBody>
          <a:bodyPr/>
          <a:lstStyle/>
          <a:p>
            <a:r>
              <a:rPr lang="en-US" sz="2400" dirty="0"/>
              <a:t>Once an architecture has been defined, it can be prototyped as a skeletal system. </a:t>
            </a:r>
          </a:p>
          <a:p>
            <a:pPr lvl="1"/>
            <a:r>
              <a:rPr lang="en-US" sz="2000" dirty="0"/>
              <a:t>A skeletal system is one in which at least some of the infrastructure is built before much of the system’s functionality has been created. </a:t>
            </a:r>
          </a:p>
          <a:p>
            <a:r>
              <a:rPr lang="en-US" sz="2400" dirty="0"/>
              <a:t>The fidelity of the system increases as prototype parts are replaced with complete versions of these parts. </a:t>
            </a:r>
          </a:p>
          <a:p>
            <a:r>
              <a:rPr lang="en-US" altLang="zh-CN" sz="2400" dirty="0"/>
              <a:t>This approach aids the development process because the system is executable early in the product’s life cycle. </a:t>
            </a:r>
          </a:p>
          <a:p>
            <a:r>
              <a:rPr lang="pl-PL" sz="2400" dirty="0"/>
              <a:t>This approach allows potential performance problems to be identified early in the product’s life cycle.</a:t>
            </a:r>
          </a:p>
          <a:p>
            <a:r>
              <a:rPr lang="pl-PL" sz="2400" dirty="0" err="1"/>
              <a:t>These</a:t>
            </a:r>
            <a:r>
              <a:rPr lang="pl-PL" sz="2400" dirty="0"/>
              <a:t> </a:t>
            </a:r>
            <a:r>
              <a:rPr lang="pl-PL" sz="2400" dirty="0" err="1"/>
              <a:t>benefits</a:t>
            </a:r>
            <a:r>
              <a:rPr lang="pl-PL" sz="2400" dirty="0"/>
              <a:t> </a:t>
            </a:r>
            <a:r>
              <a:rPr lang="pl-PL" sz="2400" dirty="0" err="1"/>
              <a:t>reduce</a:t>
            </a:r>
            <a:r>
              <a:rPr lang="pl-PL" sz="2400" dirty="0"/>
              <a:t> the </a:t>
            </a:r>
            <a:r>
              <a:rPr lang="pl-PL" sz="2400" dirty="0" err="1"/>
              <a:t>potential</a:t>
            </a:r>
            <a:r>
              <a:rPr lang="pl-PL" sz="2400" dirty="0"/>
              <a:t> </a:t>
            </a:r>
            <a:r>
              <a:rPr lang="pl-PL" sz="2400" dirty="0" err="1"/>
              <a:t>risk</a:t>
            </a:r>
            <a:r>
              <a:rPr lang="pl-PL" sz="2400" dirty="0"/>
              <a:t> in the </a:t>
            </a:r>
            <a:r>
              <a:rPr lang="pl-PL" sz="2400" dirty="0" err="1"/>
              <a:t>project</a:t>
            </a:r>
            <a:r>
              <a:rPr lang="pl-PL" sz="2400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3491880" y="5816901"/>
            <a:ext cx="5328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Architect</a:t>
            </a:r>
            <a:r>
              <a:rPr lang="en-US" altLang="zh-CN" sz="2400" dirty="0">
                <a:solidFill>
                  <a:schemeClr val="accent1"/>
                </a:solidFill>
              </a:rPr>
              <a:t> </a:t>
            </a:r>
            <a:r>
              <a:rPr lang="en-US" altLang="zh-CN" sz="3200" dirty="0">
                <a:solidFill>
                  <a:schemeClr val="accent1"/>
                </a:solidFill>
              </a:rPr>
              <a:t>&amp; Project manager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355115"/>
            <a:ext cx="7715200" cy="778098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Cost and Schedule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1498947"/>
            <a:ext cx="8435280" cy="485740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Architecture is used to help the project manager create cost and schedule estimates early in the project life cycle. </a:t>
            </a:r>
          </a:p>
          <a:p>
            <a:r>
              <a:rPr lang="en-US" dirty="0"/>
              <a:t>Top-down estimates are useful for setting goals and apportioning budgets.</a:t>
            </a:r>
          </a:p>
          <a:p>
            <a:r>
              <a:rPr lang="en-US" dirty="0"/>
              <a:t>Bottom-up understanding of the system’s pieces are typically more accurate than those that are based purely on top-down system knowledge.</a:t>
            </a:r>
          </a:p>
          <a:p>
            <a:r>
              <a:rPr lang="en-US" dirty="0"/>
              <a:t>The best cost and schedule estimates will typically emerge from a consensus between the top-down estimates (created by the architect and project manager) and the bottom-up estimates (created by the developers).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Project manager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Transferable, Reusable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484" y="1340768"/>
            <a:ext cx="8367988" cy="4536504"/>
          </a:xfrm>
        </p:spPr>
        <p:txBody>
          <a:bodyPr>
            <a:normAutofit/>
          </a:bodyPr>
          <a:lstStyle/>
          <a:p>
            <a:r>
              <a:rPr lang="en-US" dirty="0"/>
              <a:t>Reuse of architectures provides tremendous benefits for systems with similar requirements. </a:t>
            </a:r>
          </a:p>
          <a:p>
            <a:pPr lvl="1"/>
            <a:r>
              <a:rPr lang="en-US" dirty="0"/>
              <a:t>Not only can code be reused, but </a:t>
            </a:r>
            <a:r>
              <a:rPr lang="en-US" altLang="zh-CN" dirty="0"/>
              <a:t>al</a:t>
            </a:r>
            <a:r>
              <a:rPr lang="en-US" dirty="0"/>
              <a:t>so can the requirements that led to the architecture in the first place</a:t>
            </a:r>
          </a:p>
          <a:p>
            <a:pPr lvl="1"/>
            <a:r>
              <a:rPr lang="pl-PL" dirty="0"/>
              <a:t>When architectural decisions can be reused across multiple systems, all of the early-decision consequences are also transferred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Project manager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Independently Developed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4056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Architecture-based development often focuses on components that are likely to have been developed separately, even independently</a:t>
            </a:r>
          </a:p>
          <a:p>
            <a:r>
              <a:rPr lang="en-US" sz="2800" dirty="0"/>
              <a:t>Commercial off-the-shelf components, open source software, publicly available apps, and networked services are example of interchangeable software components.</a:t>
            </a:r>
          </a:p>
          <a:p>
            <a:r>
              <a:rPr lang="en-US" sz="2800" dirty="0"/>
              <a:t>The payoff can be</a:t>
            </a:r>
          </a:p>
          <a:p>
            <a:pPr lvl="1"/>
            <a:r>
              <a:rPr lang="en-US" sz="2200" dirty="0"/>
              <a:t>Decreased time to market</a:t>
            </a:r>
          </a:p>
          <a:p>
            <a:pPr lvl="1"/>
            <a:r>
              <a:rPr lang="pl-PL" sz="2200" dirty="0"/>
              <a:t>Increased reliability</a:t>
            </a:r>
          </a:p>
          <a:p>
            <a:pPr lvl="1"/>
            <a:r>
              <a:rPr lang="pl-PL" sz="2200" dirty="0"/>
              <a:t>Lower cost </a:t>
            </a:r>
            <a:endParaRPr lang="en-US" sz="2200" dirty="0"/>
          </a:p>
          <a:p>
            <a:pPr lvl="1"/>
            <a:r>
              <a:rPr lang="pl-PL" sz="2200" dirty="0"/>
              <a:t>Flexibility</a:t>
            </a:r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Developer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for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architecture can serve as the first introduction to the system for new project members. </a:t>
            </a:r>
          </a:p>
          <a:p>
            <a:r>
              <a:rPr lang="en-US" dirty="0"/>
              <a:t>Module views show someone the structure of a project</a:t>
            </a:r>
          </a:p>
          <a:p>
            <a:pPr lvl="1"/>
            <a:r>
              <a:rPr lang="en-US" dirty="0"/>
              <a:t>Who does what, which teams are assigned to which parts of the system, and so </a:t>
            </a:r>
            <a:r>
              <a:rPr lang="pl-PL" dirty="0" err="1"/>
              <a:t>forth</a:t>
            </a:r>
            <a:r>
              <a:rPr lang="pl-PL" dirty="0"/>
              <a:t>. </a:t>
            </a:r>
          </a:p>
          <a:p>
            <a:r>
              <a:rPr lang="pl-PL" dirty="0"/>
              <a:t>Component-and-connector explain</a:t>
            </a:r>
            <a:r>
              <a:rPr lang="en-US" dirty="0"/>
              <a:t>s</a:t>
            </a:r>
            <a:r>
              <a:rPr lang="pl-PL" dirty="0"/>
              <a:t> how the system is expected to work and accomplish its job.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文本框 4"/>
          <p:cNvSpPr txBox="1"/>
          <p:nvPr/>
        </p:nvSpPr>
        <p:spPr>
          <a:xfrm>
            <a:off x="5292080" y="5816901"/>
            <a:ext cx="3528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3200" dirty="0">
                <a:solidFill>
                  <a:schemeClr val="accent1"/>
                </a:solidFill>
              </a:rPr>
              <a:t>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An architecture will inhibit or enable a system’s driving quality attributes.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decisions made in an architecture allow you to reason about and manage change as the system evolves.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analysis of an architecture enables early prediction of a system’s qualities.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documented architecture enhances communication among stakeholders.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architecture is a carrier of the earliest and hence most fundamental, hardest-to-change design decisions.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architecture defines a set of constraints on subsequent implementation.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architecture dictates the structure of an organization, or vice versa.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An architecture can provide the basis for evolutionary prototyping.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An architecture allows the architect and project manager to reason about cost and schedule.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An architecture can be created as a transferable, reusable model that form the heart of a product line.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Architecture-based development focuses attention on the assembly of components, rather than simply on their creation.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By restricting design alternatives, architecture channels the creativity of developers, reducing design and system complexity.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An architecture can be the foundation for training a new team member.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c5NWIxYzdjOTUxYjQ2ZjMyNzFmMjc2NjMyZjhmNjk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2178</Words>
  <Application>Microsoft Office PowerPoint</Application>
  <PresentationFormat>全屏显示(4:3)</PresentationFormat>
  <Paragraphs>145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Arial</vt:lpstr>
      <vt:lpstr>Calibri</vt:lpstr>
      <vt:lpstr>Office Theme</vt:lpstr>
      <vt:lpstr>Chapter 2:  Why is Software Architecture Important?</vt:lpstr>
      <vt:lpstr>PowerPoint 演示文稿</vt:lpstr>
      <vt:lpstr>Who will use it</vt:lpstr>
      <vt:lpstr>Inhibiting or Enabling a System’s Quality Attributes</vt:lpstr>
      <vt:lpstr>例子</vt:lpstr>
      <vt:lpstr>Reasoning About and Managing Change</vt:lpstr>
      <vt:lpstr>Reasoning About and Managing Change</vt:lpstr>
      <vt:lpstr>Predicting System Qualities</vt:lpstr>
      <vt:lpstr>Enhancing Communication Among Stakeholders</vt:lpstr>
      <vt:lpstr>例子</vt:lpstr>
      <vt:lpstr>Earliest Design Decisions</vt:lpstr>
      <vt:lpstr>早期设计决策</vt:lpstr>
      <vt:lpstr>Defining Constraints on an Implementation*</vt:lpstr>
      <vt:lpstr>Influencing the Organizational Structure*</vt:lpstr>
      <vt:lpstr>例子</vt:lpstr>
      <vt:lpstr>Enabling Evolutionary Prototyping</vt:lpstr>
      <vt:lpstr>Improving Cost and Schedule Estimates</vt:lpstr>
      <vt:lpstr>Transferable, Reusable Model</vt:lpstr>
      <vt:lpstr>Using Independently Developed Components</vt:lpstr>
      <vt:lpstr>Basis for Training</vt:lpstr>
      <vt:lpstr>Summary</vt:lpstr>
      <vt:lpstr>Summary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祥博 孙</cp:lastModifiedBy>
  <cp:revision>229</cp:revision>
  <dcterms:created xsi:type="dcterms:W3CDTF">2023-09-06T02:41:00Z</dcterms:created>
  <dcterms:modified xsi:type="dcterms:W3CDTF">2026-10-24T12:41:49Z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3C6FB7B5A14E4330C8E2EE645F4D4B55</vt:lpwstr>
  </property>
  <property fmtid="{D5CDD505-2E9C-101B-9397-08002B2CF9AE}" pid="3" name="KSOProductBuildVer">
    <vt:lpwstr>2052-12.1.0.18276</vt:lpwstr>
  </property>
</Properties>
</file>