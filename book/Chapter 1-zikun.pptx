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7"/>
  </p:notesMasterIdLst>
  <p:handoutMasterIdLst>
    <p:handoutMasterId r:id="rId88"/>
  </p:handoutMasterIdLst>
  <p:sldIdLst>
    <p:sldId id="299" r:id="rId2"/>
    <p:sldId id="408" r:id="rId3"/>
    <p:sldId id="304" r:id="rId4"/>
    <p:sldId id="306" r:id="rId5"/>
    <p:sldId id="307" r:id="rId6"/>
    <p:sldId id="305" r:id="rId7"/>
    <p:sldId id="358" r:id="rId8"/>
    <p:sldId id="303" r:id="rId9"/>
    <p:sldId id="476" r:id="rId10"/>
    <p:sldId id="480" r:id="rId11"/>
    <p:sldId id="481" r:id="rId12"/>
    <p:sldId id="477" r:id="rId13"/>
    <p:sldId id="475" r:id="rId14"/>
    <p:sldId id="478" r:id="rId15"/>
    <p:sldId id="479" r:id="rId16"/>
    <p:sldId id="482" r:id="rId17"/>
    <p:sldId id="260" r:id="rId18"/>
    <p:sldId id="262" r:id="rId19"/>
    <p:sldId id="263" r:id="rId20"/>
    <p:sldId id="483" r:id="rId21"/>
    <p:sldId id="484" r:id="rId22"/>
    <p:sldId id="264" r:id="rId23"/>
    <p:sldId id="308" r:id="rId24"/>
    <p:sldId id="485" r:id="rId25"/>
    <p:sldId id="265" r:id="rId26"/>
    <p:sldId id="490" r:id="rId27"/>
    <p:sldId id="491" r:id="rId28"/>
    <p:sldId id="492" r:id="rId29"/>
    <p:sldId id="493" r:id="rId30"/>
    <p:sldId id="266" r:id="rId31"/>
    <p:sldId id="486" r:id="rId32"/>
    <p:sldId id="488" r:id="rId33"/>
    <p:sldId id="267" r:id="rId34"/>
    <p:sldId id="268" r:id="rId35"/>
    <p:sldId id="269" r:id="rId36"/>
    <p:sldId id="318" r:id="rId37"/>
    <p:sldId id="273" r:id="rId38"/>
    <p:sldId id="274" r:id="rId39"/>
    <p:sldId id="297" r:id="rId40"/>
    <p:sldId id="311" r:id="rId41"/>
    <p:sldId id="275" r:id="rId42"/>
    <p:sldId id="276" r:id="rId43"/>
    <p:sldId id="312" r:id="rId44"/>
    <p:sldId id="293" r:id="rId45"/>
    <p:sldId id="313" r:id="rId46"/>
    <p:sldId id="464" r:id="rId47"/>
    <p:sldId id="487" r:id="rId48"/>
    <p:sldId id="277" r:id="rId49"/>
    <p:sldId id="314" r:id="rId50"/>
    <p:sldId id="290" r:id="rId51"/>
    <p:sldId id="467" r:id="rId52"/>
    <p:sldId id="291" r:id="rId53"/>
    <p:sldId id="465" r:id="rId54"/>
    <p:sldId id="292" r:id="rId55"/>
    <p:sldId id="466" r:id="rId56"/>
    <p:sldId id="278" r:id="rId57"/>
    <p:sldId id="473" r:id="rId58"/>
    <p:sldId id="316" r:id="rId59"/>
    <p:sldId id="325" r:id="rId60"/>
    <p:sldId id="279" r:id="rId61"/>
    <p:sldId id="317" r:id="rId62"/>
    <p:sldId id="294" r:id="rId63"/>
    <p:sldId id="326" r:id="rId64"/>
    <p:sldId id="327" r:id="rId65"/>
    <p:sldId id="469" r:id="rId66"/>
    <p:sldId id="468" r:id="rId67"/>
    <p:sldId id="280" r:id="rId68"/>
    <p:sldId id="281" r:id="rId69"/>
    <p:sldId id="282" r:id="rId70"/>
    <p:sldId id="295" r:id="rId71"/>
    <p:sldId id="321" r:id="rId72"/>
    <p:sldId id="322" r:id="rId73"/>
    <p:sldId id="471" r:id="rId74"/>
    <p:sldId id="472" r:id="rId75"/>
    <p:sldId id="296" r:id="rId76"/>
    <p:sldId id="474" r:id="rId77"/>
    <p:sldId id="323" r:id="rId78"/>
    <p:sldId id="283" r:id="rId79"/>
    <p:sldId id="286" r:id="rId80"/>
    <p:sldId id="287" r:id="rId81"/>
    <p:sldId id="288" r:id="rId82"/>
    <p:sldId id="284" r:id="rId83"/>
    <p:sldId id="324" r:id="rId84"/>
    <p:sldId id="285" r:id="rId85"/>
    <p:sldId id="489" r:id="rId86"/>
  </p:sldIdLst>
  <p:sldSz cx="9144000" cy="6858000" type="screen4x3"/>
  <p:notesSz cx="6858000" cy="9144000"/>
  <p:custDataLst>
    <p:tags r:id="rId8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5112E-0CDD-4772-A157-CE2085021C89}" v="86" dt="2026-09-16T02:03:33.7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4" autoAdjust="0"/>
    <p:restoredTop sz="86446" autoAdjust="0"/>
  </p:normalViewPr>
  <p:slideViewPr>
    <p:cSldViewPr showGuides="1">
      <p:cViewPr varScale="1">
        <p:scale>
          <a:sx n="137" d="100"/>
          <a:sy n="137" d="100"/>
        </p:scale>
        <p:origin x="2628" y="76"/>
      </p:cViewPr>
      <p:guideLst>
        <p:guide orient="horz" pos="2176"/>
        <p:guide pos="2880"/>
      </p:guideLst>
    </p:cSldViewPr>
  </p:slideViewPr>
  <p:outlineViewPr>
    <p:cViewPr>
      <p:scale>
        <a:sx n="33" d="100"/>
        <a:sy n="33" d="100"/>
      </p:scale>
      <p:origin x="0" y="69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1" d="100"/>
        <a:sy n="141" d="100"/>
      </p:scale>
      <p:origin x="0" y="12256"/>
    </p:cViewPr>
  </p:sorterViewPr>
  <p:notesViewPr>
    <p:cSldViewPr>
      <p:cViewPr varScale="1">
        <p:scale>
          <a:sx n="59" d="100"/>
          <a:sy n="59" d="100"/>
        </p:scale>
        <p:origin x="3065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gs" Target="tags/tag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commentAuthors" Target="commentAuthors.xml"/><Relationship Id="rId95" Type="http://schemas.microsoft.com/office/2016/11/relationships/changesInfo" Target="changesInfos/changesInfo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kun Deng" userId="dcc036e5f12f698e" providerId="LiveId" clId="{9449A438-DB97-4F53-9B9E-E34C27A4D34A}"/>
    <pc:docChg chg="custSel addSld modSld">
      <pc:chgData name="Zikun Deng" userId="dcc036e5f12f698e" providerId="LiveId" clId="{9449A438-DB97-4F53-9B9E-E34C27A4D34A}" dt="2026-09-16T14:13:19.900" v="336" actId="1076"/>
      <pc:docMkLst>
        <pc:docMk/>
      </pc:docMkLst>
      <pc:sldChg chg="addSp delSp modSp mod">
        <pc:chgData name="Zikun Deng" userId="dcc036e5f12f698e" providerId="LiveId" clId="{9449A438-DB97-4F53-9B9E-E34C27A4D34A}" dt="2026-09-16T14:13:19.900" v="336" actId="1076"/>
        <pc:sldMkLst>
          <pc:docMk/>
          <pc:sldMk cId="0" sldId="281"/>
        </pc:sldMkLst>
        <pc:picChg chg="del mod">
          <ac:chgData name="Zikun Deng" userId="dcc036e5f12f698e" providerId="LiveId" clId="{9449A438-DB97-4F53-9B9E-E34C27A4D34A}" dt="2026-09-16T14:13:17.974" v="335" actId="478"/>
          <ac:picMkLst>
            <pc:docMk/>
            <pc:sldMk cId="0" sldId="281"/>
            <ac:picMk id="5" creationId="{00000000-0000-0000-0000-000000000000}"/>
          </ac:picMkLst>
        </pc:picChg>
        <pc:picChg chg="add mod">
          <ac:chgData name="Zikun Deng" userId="dcc036e5f12f698e" providerId="LiveId" clId="{9449A438-DB97-4F53-9B9E-E34C27A4D34A}" dt="2026-09-16T14:13:19.900" v="336" actId="1076"/>
          <ac:picMkLst>
            <pc:docMk/>
            <pc:sldMk cId="0" sldId="281"/>
            <ac:picMk id="6" creationId="{7CAFB10B-C0C1-3C14-60B3-72B5591731EA}"/>
          </ac:picMkLst>
        </pc:picChg>
      </pc:sldChg>
      <pc:sldChg chg="modSp mod">
        <pc:chgData name="Zikun Deng" userId="dcc036e5f12f698e" providerId="LiveId" clId="{9449A438-DB97-4F53-9B9E-E34C27A4D34A}" dt="2026-09-15T05:24:31.346" v="17" actId="20577"/>
        <pc:sldMkLst>
          <pc:docMk/>
          <pc:sldMk cId="0" sldId="306"/>
        </pc:sldMkLst>
        <pc:spChg chg="mod">
          <ac:chgData name="Zikun Deng" userId="dcc036e5f12f698e" providerId="LiveId" clId="{9449A438-DB97-4F53-9B9E-E34C27A4D34A}" dt="2026-09-15T05:24:31.346" v="17" actId="20577"/>
          <ac:spMkLst>
            <pc:docMk/>
            <pc:sldMk cId="0" sldId="306"/>
            <ac:spMk id="7171" creationId="{00000000-0000-0000-0000-000000000000}"/>
          </ac:spMkLst>
        </pc:spChg>
      </pc:sldChg>
      <pc:sldChg chg="addSp modSp mod">
        <pc:chgData name="Zikun Deng" userId="dcc036e5f12f698e" providerId="LiveId" clId="{9449A438-DB97-4F53-9B9E-E34C27A4D34A}" dt="2026-09-15T05:29:06.161" v="25" actId="732"/>
        <pc:sldMkLst>
          <pc:docMk/>
          <pc:sldMk cId="0" sldId="358"/>
        </pc:sldMkLst>
        <pc:picChg chg="mod modCrop">
          <ac:chgData name="Zikun Deng" userId="dcc036e5f12f698e" providerId="LiveId" clId="{9449A438-DB97-4F53-9B9E-E34C27A4D34A}" dt="2026-09-15T05:29:06.161" v="25" actId="732"/>
          <ac:picMkLst>
            <pc:docMk/>
            <pc:sldMk cId="0" sldId="358"/>
            <ac:picMk id="6" creationId="{882DC58B-C1D2-2F0F-CCC1-B13F980AF5B0}"/>
          </ac:picMkLst>
        </pc:picChg>
        <pc:cxnChg chg="add mod">
          <ac:chgData name="Zikun Deng" userId="dcc036e5f12f698e" providerId="LiveId" clId="{9449A438-DB97-4F53-9B9E-E34C27A4D34A}" dt="2026-09-15T05:28:32.460" v="24" actId="1036"/>
          <ac:cxnSpMkLst>
            <pc:docMk/>
            <pc:sldMk cId="0" sldId="358"/>
            <ac:cxnSpMk id="5" creationId="{00D90155-4C40-AB4E-C4DF-B0239C1C8803}"/>
          </ac:cxnSpMkLst>
        </pc:cxnChg>
      </pc:sldChg>
      <pc:sldChg chg="delSp modSp mod">
        <pc:chgData name="Zikun Deng" userId="dcc036e5f12f698e" providerId="LiveId" clId="{9449A438-DB97-4F53-9B9E-E34C27A4D34A}" dt="2026-09-15T05:24:05.474" v="6" actId="1076"/>
        <pc:sldMkLst>
          <pc:docMk/>
          <pc:sldMk cId="0" sldId="408"/>
        </pc:sldMkLst>
        <pc:picChg chg="mod">
          <ac:chgData name="Zikun Deng" userId="dcc036e5f12f698e" providerId="LiveId" clId="{9449A438-DB97-4F53-9B9E-E34C27A4D34A}" dt="2026-09-15T05:24:05.474" v="6" actId="1076"/>
          <ac:picMkLst>
            <pc:docMk/>
            <pc:sldMk cId="0" sldId="408"/>
            <ac:picMk id="5" creationId="{00000000-0000-0000-0000-000000000000}"/>
          </ac:picMkLst>
        </pc:picChg>
        <pc:picChg chg="del">
          <ac:chgData name="Zikun Deng" userId="dcc036e5f12f698e" providerId="LiveId" clId="{9449A438-DB97-4F53-9B9E-E34C27A4D34A}" dt="2026-09-15T05:24:03.238" v="5" actId="478"/>
          <ac:picMkLst>
            <pc:docMk/>
            <pc:sldMk cId="0" sldId="408"/>
            <ac:picMk id="6" creationId="{00000000-0000-0000-0000-000000000000}"/>
          </ac:picMkLst>
        </pc:picChg>
        <pc:picChg chg="del">
          <ac:chgData name="Zikun Deng" userId="dcc036e5f12f698e" providerId="LiveId" clId="{9449A438-DB97-4F53-9B9E-E34C27A4D34A}" dt="2026-09-15T05:24:03.238" v="5" actId="478"/>
          <ac:picMkLst>
            <pc:docMk/>
            <pc:sldMk cId="0" sldId="408"/>
            <ac:picMk id="7" creationId="{00000000-0000-0000-0000-000000000000}"/>
          </ac:picMkLst>
        </pc:picChg>
        <pc:picChg chg="del">
          <ac:chgData name="Zikun Deng" userId="dcc036e5f12f698e" providerId="LiveId" clId="{9449A438-DB97-4F53-9B9E-E34C27A4D34A}" dt="2026-09-15T05:24:03.238" v="5" actId="478"/>
          <ac:picMkLst>
            <pc:docMk/>
            <pc:sldMk cId="0" sldId="408"/>
            <ac:picMk id="8" creationId="{00000000-0000-0000-0000-000000000000}"/>
          </ac:picMkLst>
        </pc:picChg>
        <pc:picChg chg="del">
          <ac:chgData name="Zikun Deng" userId="dcc036e5f12f698e" providerId="LiveId" clId="{9449A438-DB97-4F53-9B9E-E34C27A4D34A}" dt="2026-09-15T05:24:03.238" v="5" actId="478"/>
          <ac:picMkLst>
            <pc:docMk/>
            <pc:sldMk cId="0" sldId="408"/>
            <ac:picMk id="9" creationId="{00000000-0000-0000-0000-000000000000}"/>
          </ac:picMkLst>
        </pc:picChg>
        <pc:picChg chg="del">
          <ac:chgData name="Zikun Deng" userId="dcc036e5f12f698e" providerId="LiveId" clId="{9449A438-DB97-4F53-9B9E-E34C27A4D34A}" dt="2026-09-15T05:24:03.238" v="5" actId="478"/>
          <ac:picMkLst>
            <pc:docMk/>
            <pc:sldMk cId="0" sldId="408"/>
            <ac:picMk id="10" creationId="{00000000-0000-0000-0000-000000000000}"/>
          </ac:picMkLst>
        </pc:picChg>
        <pc:picChg chg="del">
          <ac:chgData name="Zikun Deng" userId="dcc036e5f12f698e" providerId="LiveId" clId="{9449A438-DB97-4F53-9B9E-E34C27A4D34A}" dt="2026-09-15T05:24:03.238" v="5" actId="478"/>
          <ac:picMkLst>
            <pc:docMk/>
            <pc:sldMk cId="0" sldId="408"/>
            <ac:picMk id="11" creationId="{00000000-0000-0000-0000-000000000000}"/>
          </ac:picMkLst>
        </pc:picChg>
      </pc:sldChg>
      <pc:sldChg chg="modSp mod">
        <pc:chgData name="Zikun Deng" userId="dcc036e5f12f698e" providerId="LiveId" clId="{9449A438-DB97-4F53-9B9E-E34C27A4D34A}" dt="2026-09-16T02:03:58.814" v="289" actId="404"/>
        <pc:sldMkLst>
          <pc:docMk/>
          <pc:sldMk cId="3782038669" sldId="475"/>
        </pc:sldMkLst>
        <pc:spChg chg="mod">
          <ac:chgData name="Zikun Deng" userId="dcc036e5f12f698e" providerId="LiveId" clId="{9449A438-DB97-4F53-9B9E-E34C27A4D34A}" dt="2026-09-16T02:03:58.814" v="289" actId="404"/>
          <ac:spMkLst>
            <pc:docMk/>
            <pc:sldMk cId="3782038669" sldId="475"/>
            <ac:spMk id="2" creationId="{2A516588-08D8-D09E-17EF-95F28A2768F3}"/>
          </ac:spMkLst>
        </pc:spChg>
      </pc:sldChg>
      <pc:sldChg chg="modSp mod">
        <pc:chgData name="Zikun Deng" userId="dcc036e5f12f698e" providerId="LiveId" clId="{9449A438-DB97-4F53-9B9E-E34C27A4D34A}" dt="2026-09-16T02:03:42.027" v="284" actId="404"/>
        <pc:sldMkLst>
          <pc:docMk/>
          <pc:sldMk cId="258852622" sldId="479"/>
        </pc:sldMkLst>
        <pc:spChg chg="mod">
          <ac:chgData name="Zikun Deng" userId="dcc036e5f12f698e" providerId="LiveId" clId="{9449A438-DB97-4F53-9B9E-E34C27A4D34A}" dt="2026-09-16T02:03:42.027" v="284" actId="404"/>
          <ac:spMkLst>
            <pc:docMk/>
            <pc:sldMk cId="258852622" sldId="479"/>
            <ac:spMk id="2" creationId="{09C9A6E3-1788-80F8-E99E-E8ED74A66FD8}"/>
          </ac:spMkLst>
        </pc:spChg>
      </pc:sldChg>
      <pc:sldChg chg="modSp new mod">
        <pc:chgData name="Zikun Deng" userId="dcc036e5f12f698e" providerId="LiveId" clId="{9449A438-DB97-4F53-9B9E-E34C27A4D34A}" dt="2026-09-15T06:23:02.979" v="269" actId="108"/>
        <pc:sldMkLst>
          <pc:docMk/>
          <pc:sldMk cId="96474476" sldId="489"/>
        </pc:sldMkLst>
        <pc:spChg chg="mod">
          <ac:chgData name="Zikun Deng" userId="dcc036e5f12f698e" providerId="LiveId" clId="{9449A438-DB97-4F53-9B9E-E34C27A4D34A}" dt="2026-09-15T06:17:45.422" v="28"/>
          <ac:spMkLst>
            <pc:docMk/>
            <pc:sldMk cId="96474476" sldId="489"/>
            <ac:spMk id="2" creationId="{38FEC141-C481-992B-6248-50A010E455D3}"/>
          </ac:spMkLst>
        </pc:spChg>
        <pc:spChg chg="mod">
          <ac:chgData name="Zikun Deng" userId="dcc036e5f12f698e" providerId="LiveId" clId="{9449A438-DB97-4F53-9B9E-E34C27A4D34A}" dt="2026-09-15T06:23:02.979" v="269" actId="108"/>
          <ac:spMkLst>
            <pc:docMk/>
            <pc:sldMk cId="96474476" sldId="489"/>
            <ac:spMk id="3" creationId="{B7823718-9313-7D2D-41D6-64F7C65E0BF0}"/>
          </ac:spMkLst>
        </pc:spChg>
      </pc:sldChg>
      <pc:sldChg chg="addSp delSp modSp new mod">
        <pc:chgData name="Zikun Deng" userId="dcc036e5f12f698e" providerId="LiveId" clId="{9449A438-DB97-4F53-9B9E-E34C27A4D34A}" dt="2026-09-16T13:50:51.312" v="294" actId="1076"/>
        <pc:sldMkLst>
          <pc:docMk/>
          <pc:sldMk cId="254925120" sldId="490"/>
        </pc:sldMkLst>
        <pc:spChg chg="del">
          <ac:chgData name="Zikun Deng" userId="dcc036e5f12f698e" providerId="LiveId" clId="{9449A438-DB97-4F53-9B9E-E34C27A4D34A}" dt="2026-09-16T13:50:21.956" v="291" actId="22"/>
          <ac:spMkLst>
            <pc:docMk/>
            <pc:sldMk cId="254925120" sldId="490"/>
            <ac:spMk id="3" creationId="{B7ADB29A-8819-5D6B-2CD7-2AF8FDCBEB08}"/>
          </ac:spMkLst>
        </pc:spChg>
        <pc:picChg chg="add mod ord">
          <ac:chgData name="Zikun Deng" userId="dcc036e5f12f698e" providerId="LiveId" clId="{9449A438-DB97-4F53-9B9E-E34C27A4D34A}" dt="2026-09-16T13:50:51.312" v="294" actId="1076"/>
          <ac:picMkLst>
            <pc:docMk/>
            <pc:sldMk cId="254925120" sldId="490"/>
            <ac:picMk id="6" creationId="{64D7978B-821D-F733-EF75-725D067ACEEB}"/>
          </ac:picMkLst>
        </pc:picChg>
      </pc:sldChg>
      <pc:sldChg chg="addSp delSp modSp new mod">
        <pc:chgData name="Zikun Deng" userId="dcc036e5f12f698e" providerId="LiveId" clId="{9449A438-DB97-4F53-9B9E-E34C27A4D34A}" dt="2026-09-16T13:51:02.003" v="298" actId="1076"/>
        <pc:sldMkLst>
          <pc:docMk/>
          <pc:sldMk cId="3922259105" sldId="491"/>
        </pc:sldMkLst>
        <pc:spChg chg="del">
          <ac:chgData name="Zikun Deng" userId="dcc036e5f12f698e" providerId="LiveId" clId="{9449A438-DB97-4F53-9B9E-E34C27A4D34A}" dt="2026-09-16T13:50:56.732" v="296" actId="22"/>
          <ac:spMkLst>
            <pc:docMk/>
            <pc:sldMk cId="3922259105" sldId="491"/>
            <ac:spMk id="3" creationId="{02E1B0E6-38FD-1126-B13E-0B94AB1A8395}"/>
          </ac:spMkLst>
        </pc:spChg>
        <pc:picChg chg="add mod ord">
          <ac:chgData name="Zikun Deng" userId="dcc036e5f12f698e" providerId="LiveId" clId="{9449A438-DB97-4F53-9B9E-E34C27A4D34A}" dt="2026-09-16T13:51:02.003" v="298" actId="1076"/>
          <ac:picMkLst>
            <pc:docMk/>
            <pc:sldMk cId="3922259105" sldId="491"/>
            <ac:picMk id="6" creationId="{F0BB5D77-30D5-B303-289E-F51C7C5E7BA3}"/>
          </ac:picMkLst>
        </pc:picChg>
      </pc:sldChg>
      <pc:sldChg chg="addSp modSp new mod">
        <pc:chgData name="Zikun Deng" userId="dcc036e5f12f698e" providerId="LiveId" clId="{9449A438-DB97-4F53-9B9E-E34C27A4D34A}" dt="2026-09-16T14:11:10.781" v="326" actId="1076"/>
        <pc:sldMkLst>
          <pc:docMk/>
          <pc:sldMk cId="3975252251" sldId="492"/>
        </pc:sldMkLst>
        <pc:picChg chg="add mod">
          <ac:chgData name="Zikun Deng" userId="dcc036e5f12f698e" providerId="LiveId" clId="{9449A438-DB97-4F53-9B9E-E34C27A4D34A}" dt="2026-09-16T14:11:10.781" v="326" actId="1076"/>
          <ac:picMkLst>
            <pc:docMk/>
            <pc:sldMk cId="3975252251" sldId="492"/>
            <ac:picMk id="6" creationId="{3A7AD336-8613-855A-08C3-42144E0F79A0}"/>
          </ac:picMkLst>
        </pc:picChg>
        <pc:picChg chg="add mod modCrop">
          <ac:chgData name="Zikun Deng" userId="dcc036e5f12f698e" providerId="LiveId" clId="{9449A438-DB97-4F53-9B9E-E34C27A4D34A}" dt="2026-09-16T14:11:10.781" v="326" actId="1076"/>
          <ac:picMkLst>
            <pc:docMk/>
            <pc:sldMk cId="3975252251" sldId="492"/>
            <ac:picMk id="8" creationId="{2375A92F-83DF-192B-96EC-62A6497BD6A7}"/>
          </ac:picMkLst>
        </pc:picChg>
      </pc:sldChg>
      <pc:sldChg chg="addSp delSp modSp new mod">
        <pc:chgData name="Zikun Deng" userId="dcc036e5f12f698e" providerId="LiveId" clId="{9449A438-DB97-4F53-9B9E-E34C27A4D34A}" dt="2026-09-16T14:11:03.895" v="325" actId="22"/>
        <pc:sldMkLst>
          <pc:docMk/>
          <pc:sldMk cId="235464458" sldId="493"/>
        </pc:sldMkLst>
        <pc:spChg chg="del">
          <ac:chgData name="Zikun Deng" userId="dcc036e5f12f698e" providerId="LiveId" clId="{9449A438-DB97-4F53-9B9E-E34C27A4D34A}" dt="2026-09-16T14:10:38.154" v="319" actId="22"/>
          <ac:spMkLst>
            <pc:docMk/>
            <pc:sldMk cId="235464458" sldId="493"/>
            <ac:spMk id="3" creationId="{2C8E1216-0224-3A39-306B-03482FA64FA9}"/>
          </ac:spMkLst>
        </pc:spChg>
        <pc:spChg chg="add del mod">
          <ac:chgData name="Zikun Deng" userId="dcc036e5f12f698e" providerId="LiveId" clId="{9449A438-DB97-4F53-9B9E-E34C27A4D34A}" dt="2026-09-16T14:11:03.895" v="325" actId="22"/>
          <ac:spMkLst>
            <pc:docMk/>
            <pc:sldMk cId="235464458" sldId="493"/>
            <ac:spMk id="8" creationId="{388240E9-3818-70F6-BD2E-347EB4CE4BCB}"/>
          </ac:spMkLst>
        </pc:spChg>
        <pc:picChg chg="add del mod ord">
          <ac:chgData name="Zikun Deng" userId="dcc036e5f12f698e" providerId="LiveId" clId="{9449A438-DB97-4F53-9B9E-E34C27A4D34A}" dt="2026-09-16T14:10:53.866" v="324" actId="478"/>
          <ac:picMkLst>
            <pc:docMk/>
            <pc:sldMk cId="235464458" sldId="493"/>
            <ac:picMk id="6" creationId="{074F0D85-7879-CE6D-5E2A-192FEED945AF}"/>
          </ac:picMkLst>
        </pc:picChg>
        <pc:picChg chg="add mod ord">
          <ac:chgData name="Zikun Deng" userId="dcc036e5f12f698e" providerId="LiveId" clId="{9449A438-DB97-4F53-9B9E-E34C27A4D34A}" dt="2026-09-16T14:11:03.895" v="325" actId="22"/>
          <ac:picMkLst>
            <pc:docMk/>
            <pc:sldMk cId="235464458" sldId="493"/>
            <ac:picMk id="10" creationId="{A42883C3-EA70-04A1-ABC6-5FD8B43728B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DDFBD-3A00-4189-8C8D-78071B1A5DE3}" type="datetimeFigureOut">
              <a:rPr lang="zh-CN" altLang="en-US" smtClean="0"/>
              <a:t>2026-09-16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68E1B-F273-4987-A84E-DC035A03C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B1F14-2969-4234-94C2-84FB01E3AC7A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5789E-32BF-4BCD-9509-3BAE69BCF054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110336584?share_code=Bw43P5b9Ho7g&amp;utm_psn=1945564919421469867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1</a:t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hlinkClick r:id="rId3"/>
              </a:rPr>
              <a:t>淘宝千万级并发架构的十四次演进 </a:t>
            </a:r>
            <a:r>
              <a:rPr lang="en-US" altLang="zh-CN" dirty="0">
                <a:hlinkClick r:id="rId3"/>
              </a:rPr>
              <a:t>- </a:t>
            </a:r>
            <a:r>
              <a:rPr lang="zh-CN" altLang="en-US" dirty="0">
                <a:hlinkClick r:id="rId3"/>
              </a:rPr>
              <a:t>知乎 </a:t>
            </a:r>
            <a:r>
              <a:rPr lang="en-US" altLang="zh-CN" dirty="0">
                <a:hlinkClick r:id="rId3"/>
              </a:rPr>
              <a:t>(zhihu.com)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018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中国高精度位置网及其在交通领域的重大应用 国家科技进步一等奖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7213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科技进步二等奖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6200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好比我们开发一个软件。如果我们只考虑了“理想情况”下的用户访问量（三个舱室进水），而没有为“突发流量”、“恶意攻击”或“数据爆炸”（六个舱室进水）设计一个健壮的系统架构（比如微服务隔离、负载均衡、容灾备份），那么我们的“软件巨轮”也可能在首次上线时就遭遇“冰山”而崩溃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软件体系结构，就是要在造船之前，就规划好舱室如何隔离、管道如何铺设、救生艇放在哪里。它不是为了增加麻烦，而是为了在风暴和冰山面前，保住整条船的价值。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5119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的终极体现！很多软件项目也是如此。我们为了赶工期（业务需求），选择了最快的实现方式，忽略了代码结构和系统设计（没有架构）。一年又一年，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patch on patch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，最终系统变成了一个“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黑盒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”：没人敢动，动一动就出问题，新功能加不进去，维护成本高到惊人。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软件体系结构课程，就是要教大家如何避免建造这样一个“地下迷宫”。它教我们如何用清晰的“蓝图”（架构图）和“规范”（设计原则）来构建系统，让系统不仅满足当前需求，更能优雅地应对未来的变化，降低长期的“维护成本”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1492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Syn. vs. </a:t>
            </a:r>
            <a:r>
              <a:rPr lang="en-US" altLang="zh-CN" dirty="0" err="1"/>
              <a:t>asyn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35</a:t>
            </a:fld>
            <a:endParaRPr lang="en-A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42</a:t>
            </a:fld>
            <a:endParaRPr lang="en-A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33BF56-D022-498D-B1DC-BC786366BC5E}" type="slidenum">
              <a:rPr lang="en-US" altLang="zh-CN" sz="1300" smtClean="0">
                <a:latin typeface="Arial" panose="020B0604020202020204" pitchFamily="34" charset="0"/>
              </a:rPr>
              <a:t>43</a:t>
            </a:fld>
            <a:endParaRPr lang="en-US" altLang="zh-CN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标准化接口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：对应我们课程要讲的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模块化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接口设计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服务契约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 API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）。定义了清晰的接口，不同的团队可以并行开发不同的模块，最后像乐高一样轻松组合。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可重用模式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：对应我们将要学习的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架构模式和风格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，比如分层架构、微服务、事件驱动等。这些是前人总结的、经过验证的“最佳实践”和“搭建模式”，直接采用这些模式可以避免重复造轮子，大大提高开发效率和系统质量。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7778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u="none" strike="noStrike" baseline="0" dirty="0">
                <a:latin typeface="FZSSK--GBK1-0"/>
              </a:rPr>
              <a:t>并圈出了如果</a:t>
            </a:r>
            <a:r>
              <a:rPr lang="en-US" altLang="zh-CN" sz="1800" b="0" i="0" u="none" strike="noStrike" baseline="0" dirty="0" err="1">
                <a:latin typeface="Times New Roman" panose="02020603050405020304" pitchFamily="18" charset="0"/>
              </a:rPr>
              <a:t>admin.client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zh-CN" altLang="en-US" sz="1800" b="0" i="0" u="none" strike="noStrike" baseline="0" dirty="0">
                <a:latin typeface="FZSSK--GBK1-0"/>
              </a:rPr>
              <a:t>模块存在，则必须在增量中出现的模块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4971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52</a:t>
            </a:fld>
            <a:endParaRPr lang="en-A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Example of web service: soap, xml and </a:t>
            </a:r>
            <a:r>
              <a:rPr lang="en-US" altLang="zh-CN" dirty="0" err="1"/>
              <a:t>json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56</a:t>
            </a:fld>
            <a:endParaRPr lang="en-A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62</a:t>
            </a:fld>
            <a:endParaRPr lang="en-A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BitTorrent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这是目前最主流的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文件共享协议。用户通过一个小的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.torrent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文件来定位资源，并从多个同时拥有该文件的用户那里下载不同的片段，极大地提高了下载速度。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比特币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(Bitcoin)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整个比特币网络是一个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网络，每个节点都保存着完整的区块链账本副本，并共同参与交易的验证和新区块的创建（挖矿）。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74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901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Difference between tier and layer</a:t>
            </a:r>
          </a:p>
          <a:p>
            <a:r>
              <a:rPr lang="en-US" altLang="zh-CN" dirty="0"/>
              <a:t>Example of web application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75</a:t>
            </a:fld>
            <a:endParaRPr lang="en-A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平台模式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是一种强大的软件架构工作分配策略，它通过建立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核心资产（平台）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应用开发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的分离与协作，实现了大规模的系统性复用。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77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9185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79</a:t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403648" y="6356350"/>
            <a:ext cx="6336704" cy="365125"/>
          </a:xfrm>
        </p:spPr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Software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Software Architecture</a:t>
            </a:r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10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zkdeng@scut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de_reus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2392" y="1869802"/>
            <a:ext cx="7859216" cy="1584176"/>
          </a:xfrm>
        </p:spPr>
        <p:txBody>
          <a:bodyPr/>
          <a:lstStyle/>
          <a:p>
            <a:r>
              <a:rPr lang="en-US" altLang="zh-CN" dirty="0"/>
              <a:t>Software Architecture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7448" y="3861048"/>
            <a:ext cx="6089104" cy="1296144"/>
          </a:xfrm>
        </p:spPr>
        <p:txBody>
          <a:bodyPr/>
          <a:lstStyle/>
          <a:p>
            <a:r>
              <a:rPr lang="en-US" altLang="zh-CN" sz="2000" dirty="0"/>
              <a:t>Zikun Deng</a:t>
            </a:r>
            <a:r>
              <a:rPr lang="zh-CN" altLang="en-US" sz="2000" dirty="0"/>
              <a:t>  </a:t>
            </a:r>
            <a:endParaRPr lang="en-US" altLang="zh-CN" sz="2000" dirty="0"/>
          </a:p>
          <a:p>
            <a:r>
              <a:rPr lang="en-US" altLang="zh-CN" sz="2000" dirty="0">
                <a:hlinkClick r:id="rId3"/>
              </a:rPr>
              <a:t>zkdeng@scut.edu.cn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accent1"/>
                </a:solidFill>
              </a:rPr>
              <a:t>zkdeng.org</a:t>
            </a:r>
          </a:p>
          <a:p>
            <a:endParaRPr lang="en-US" altLang="zh-CN" sz="2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" y="1844824"/>
            <a:ext cx="8710295" cy="31413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375569"/>
            <a:ext cx="7715200" cy="778098"/>
          </a:xfrm>
        </p:spPr>
        <p:txBody>
          <a:bodyPr>
            <a:noAutofit/>
          </a:bodyPr>
          <a:lstStyle/>
          <a:p>
            <a:r>
              <a:rPr lang="en-US" altLang="zh-CN" dirty="0"/>
              <a:t>Motivation of this course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799558"/>
          </a:xfrm>
        </p:spPr>
        <p:txBody>
          <a:bodyPr>
            <a:normAutofit/>
          </a:bodyPr>
          <a:lstStyle/>
          <a:p>
            <a:r>
              <a:rPr lang="en-US" altLang="zh-CN" dirty="0"/>
              <a:t>Be able to think on the level of </a:t>
            </a:r>
            <a:r>
              <a:rPr lang="en-US" altLang="zh-CN" b="1" i="1" dirty="0"/>
              <a:t>software architecture</a:t>
            </a:r>
            <a:r>
              <a:rPr lang="en-US" altLang="zh-CN" dirty="0"/>
              <a:t> in all the phases of software engineering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Algorithm level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Programming (language) level</a:t>
            </a:r>
          </a:p>
          <a:p>
            <a:pPr lvl="1"/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364976"/>
            <a:ext cx="7715200" cy="778098"/>
          </a:xfrm>
        </p:spPr>
        <p:txBody>
          <a:bodyPr/>
          <a:lstStyle/>
          <a:p>
            <a:r>
              <a:rPr lang="zh-CN" altLang="en-US" dirty="0"/>
              <a:t>教科书和参考书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5627688" cy="5329237"/>
          </a:xfrm>
        </p:spPr>
        <p:txBody>
          <a:bodyPr/>
          <a:lstStyle/>
          <a:p>
            <a:r>
              <a:rPr lang="zh-CN" altLang="en-US" sz="2600" dirty="0"/>
              <a:t>教科书</a:t>
            </a:r>
            <a:r>
              <a:rPr lang="en-US" altLang="zh-CN" sz="2600" dirty="0"/>
              <a:t>:</a:t>
            </a:r>
          </a:p>
          <a:p>
            <a:pPr lvl="1"/>
            <a:r>
              <a:rPr lang="zh-CN" altLang="en-US" sz="2200" dirty="0"/>
              <a:t>软件架构实践（第</a:t>
            </a:r>
            <a:r>
              <a:rPr lang="en-US" altLang="zh-CN" sz="2200" dirty="0"/>
              <a:t>4</a:t>
            </a:r>
            <a:r>
              <a:rPr lang="zh-CN" altLang="en-US" sz="2200" dirty="0"/>
              <a:t>版），</a:t>
            </a:r>
            <a:r>
              <a:rPr lang="en-US" altLang="zh-CN" sz="2200" dirty="0">
                <a:sym typeface="+mn-ea"/>
              </a:rPr>
              <a:t>L. Bass, P. Clements, and R. </a:t>
            </a:r>
            <a:r>
              <a:rPr lang="en-US" altLang="zh-CN" sz="2200" dirty="0" err="1">
                <a:sym typeface="+mn-ea"/>
              </a:rPr>
              <a:t>Kazman</a:t>
            </a:r>
            <a:r>
              <a:rPr lang="zh-CN" altLang="en-US" sz="2200" dirty="0">
                <a:sym typeface="+mn-ea"/>
              </a:rPr>
              <a:t>，机械工业出版社，</a:t>
            </a:r>
            <a:r>
              <a:rPr lang="en-US" altLang="zh-CN" sz="2200" dirty="0">
                <a:sym typeface="+mn-ea"/>
              </a:rPr>
              <a:t>2025</a:t>
            </a:r>
            <a:r>
              <a:rPr lang="zh-CN" altLang="en-US" sz="2200" dirty="0">
                <a:sym typeface="+mn-ea"/>
              </a:rPr>
              <a:t>年</a:t>
            </a:r>
          </a:p>
          <a:p>
            <a:r>
              <a:rPr lang="zh-CN" altLang="en-US" sz="2600" dirty="0"/>
              <a:t>参考书</a:t>
            </a:r>
            <a:r>
              <a:rPr lang="en-US" altLang="zh-CN" sz="2600" dirty="0"/>
              <a:t>:</a:t>
            </a:r>
          </a:p>
          <a:p>
            <a:pPr lvl="1"/>
            <a:r>
              <a:rPr lang="zh-CN" altLang="en-US" sz="2200" dirty="0"/>
              <a:t>软件构架实践（第</a:t>
            </a:r>
            <a:r>
              <a:rPr lang="en-US" altLang="zh-CN" sz="2200" dirty="0"/>
              <a:t>3</a:t>
            </a:r>
            <a:r>
              <a:rPr lang="zh-CN" altLang="en-US" sz="2200" dirty="0"/>
              <a:t>版），</a:t>
            </a:r>
            <a:r>
              <a:rPr lang="en-US" altLang="zh-CN" sz="2200" dirty="0"/>
              <a:t>L. Bass, P. Clements, and R. </a:t>
            </a:r>
            <a:r>
              <a:rPr lang="en-US" altLang="zh-CN" sz="2200" dirty="0" err="1"/>
              <a:t>Kazman</a:t>
            </a:r>
            <a:r>
              <a:rPr lang="zh-CN" altLang="en-US" sz="2200" dirty="0"/>
              <a:t>，清华大学出版社</a:t>
            </a:r>
            <a:r>
              <a:rPr lang="en-US" altLang="zh-CN" sz="2200" dirty="0"/>
              <a:t>(2013)</a:t>
            </a:r>
          </a:p>
          <a:p>
            <a:pPr lvl="1"/>
            <a:r>
              <a:rPr lang="zh-CN" altLang="en-US" sz="2200" dirty="0">
                <a:sym typeface="+mn-ea"/>
              </a:rPr>
              <a:t>软件体系结构，林荣恒</a:t>
            </a:r>
            <a:r>
              <a:rPr lang="en-US" altLang="zh-CN" sz="2200" dirty="0" err="1">
                <a:sym typeface="+mn-ea"/>
              </a:rPr>
              <a:t> </a:t>
            </a:r>
            <a:r>
              <a:rPr lang="zh-CN" altLang="en-US" sz="2200" dirty="0" err="1">
                <a:sym typeface="+mn-ea"/>
              </a:rPr>
              <a:t>吴步丹</a:t>
            </a:r>
            <a:r>
              <a:rPr lang="en-US" altLang="zh-CN" sz="2200" dirty="0" err="1">
                <a:sym typeface="+mn-ea"/>
              </a:rPr>
              <a:t> </a:t>
            </a:r>
            <a:r>
              <a:rPr lang="zh-CN" altLang="en-US" sz="2200" dirty="0" err="1">
                <a:sym typeface="+mn-ea"/>
              </a:rPr>
              <a:t>金芝，中国工信出版集团，人民邮电出版社</a:t>
            </a:r>
            <a:r>
              <a:rPr lang="en-US" altLang="zh-CN" sz="2200" dirty="0" err="1">
                <a:sym typeface="+mn-ea"/>
              </a:rPr>
              <a:t>2016</a:t>
            </a:r>
            <a:r>
              <a:rPr lang="zh-CN" altLang="en-US" sz="2200" dirty="0" err="1">
                <a:sym typeface="+mn-ea"/>
              </a:rPr>
              <a:t>年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  <a:endParaRPr lang="en-AU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268413"/>
            <a:ext cx="2703276" cy="41376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考试与成绩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期末考试 </a:t>
            </a:r>
            <a:r>
              <a:rPr lang="en-US" altLang="zh-CN" dirty="0"/>
              <a:t>70%</a:t>
            </a:r>
          </a:p>
          <a:p>
            <a:r>
              <a:rPr lang="zh-CN" altLang="en-US" dirty="0"/>
              <a:t>平时成绩 </a:t>
            </a:r>
            <a:r>
              <a:rPr lang="en-US" altLang="zh-CN" dirty="0"/>
              <a:t>30%</a:t>
            </a:r>
          </a:p>
          <a:p>
            <a:pPr lvl="1"/>
            <a:r>
              <a:rPr lang="zh-CN" altLang="en-US" dirty="0"/>
              <a:t>大作业</a:t>
            </a:r>
            <a:endParaRPr lang="en-US" altLang="zh-CN" dirty="0"/>
          </a:p>
          <a:p>
            <a:pPr lvl="1"/>
            <a:r>
              <a:rPr lang="zh-CN" altLang="en-US" dirty="0"/>
              <a:t>课堂考勤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210" y="404813"/>
            <a:ext cx="7715200" cy="778098"/>
          </a:xfrm>
        </p:spPr>
        <p:txBody>
          <a:bodyPr/>
          <a:lstStyle/>
          <a:p>
            <a:r>
              <a:rPr lang="en-US" altLang="zh-CN" dirty="0"/>
              <a:t>Major Contents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1120"/>
            <a:ext cx="8229600" cy="435102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Introduction of software architecture</a:t>
            </a:r>
          </a:p>
          <a:p>
            <a:pPr lvl="1"/>
            <a:r>
              <a:rPr lang="en-US" altLang="zh-CN" dirty="0"/>
              <a:t>what, why, contexts of software architecture</a:t>
            </a:r>
          </a:p>
          <a:p>
            <a:r>
              <a:rPr lang="en-US" altLang="zh-CN" dirty="0"/>
              <a:t>Quality attributes</a:t>
            </a:r>
          </a:p>
          <a:p>
            <a:pPr lvl="1"/>
            <a:r>
              <a:rPr lang="en-US" altLang="zh-CN" dirty="0"/>
              <a:t>Availability, modifiability, performance, security, testability, and usability</a:t>
            </a:r>
          </a:p>
          <a:p>
            <a:pPr lvl="1"/>
            <a:r>
              <a:rPr lang="en-US" altLang="zh-CN" dirty="0"/>
              <a:t>Architecture pattern &amp; tactics</a:t>
            </a:r>
          </a:p>
          <a:p>
            <a:pPr lvl="1"/>
            <a:r>
              <a:rPr lang="en-US" altLang="zh-CN" dirty="0"/>
              <a:t>QA analysis and case study</a:t>
            </a:r>
          </a:p>
          <a:p>
            <a:r>
              <a:rPr lang="en-US" altLang="zh-CN" dirty="0"/>
              <a:t>Architecture in the life cycle</a:t>
            </a:r>
          </a:p>
          <a:p>
            <a:pPr lvl="1"/>
            <a:r>
              <a:rPr lang="en-US" altLang="zh-CN" dirty="0"/>
              <a:t>Requirement, design, implementation, test, and evaluation</a:t>
            </a:r>
          </a:p>
          <a:p>
            <a:pPr marL="0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160" y="186055"/>
            <a:ext cx="7715250" cy="492760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Major Contents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6" name="图片 5" descr="手机屏幕截图&#10;&#10;AI 生成的内容可能不正确。">
            <a:extLst>
              <a:ext uri="{FF2B5EF4-FFF2-40B4-BE49-F238E27FC236}">
                <a16:creationId xmlns:a16="http://schemas.microsoft.com/office/drawing/2014/main" id="{882DC58B-C1D2-2F0F-CCC1-B13F980AF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92"/>
          <a:stretch>
            <a:fillRect/>
          </a:stretch>
        </p:blipFill>
        <p:spPr>
          <a:xfrm>
            <a:off x="413792" y="768239"/>
            <a:ext cx="8316416" cy="5325057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0D90155-4C40-AB4E-C4DF-B0239C1C8803}"/>
              </a:ext>
            </a:extLst>
          </p:cNvPr>
          <p:cNvCxnSpPr/>
          <p:nvPr/>
        </p:nvCxnSpPr>
        <p:spPr>
          <a:xfrm>
            <a:off x="2051720" y="2132856"/>
            <a:ext cx="5760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172" y="2277254"/>
            <a:ext cx="7715200" cy="778098"/>
          </a:xfrm>
        </p:spPr>
        <p:txBody>
          <a:bodyPr/>
          <a:lstStyle/>
          <a:p>
            <a:r>
              <a:rPr lang="en-US" altLang="zh-CN" dirty="0"/>
              <a:t>Chapter 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550" y="3141345"/>
            <a:ext cx="7597140" cy="2141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dirty="0"/>
              <a:t>What is Software Architecture?</a:t>
            </a:r>
            <a:endParaRPr lang="zh-CN" altLang="en-US" sz="4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E2C17-4473-3534-1D6F-3C24D920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阿里双十一</a:t>
            </a:r>
            <a:r>
              <a:rPr lang="en-US" altLang="zh-CN" b="1" dirty="0"/>
              <a:t>——</a:t>
            </a:r>
            <a:r>
              <a:rPr lang="zh-CN" altLang="en-US" b="1" dirty="0"/>
              <a:t>超大规模电商系统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766A70-AF62-7E35-FA9D-5E58BAD07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sz="2400" b="1" dirty="0"/>
              <a:t>国家需求背景</a:t>
            </a:r>
            <a:r>
              <a:rPr lang="zh-CN" altLang="en-US" sz="2400" dirty="0"/>
              <a:t>：支撑数字经济的发展，构建世界领先的电子商务基础设施，应对全球罕见的瞬时高并发挑战。</a:t>
            </a:r>
          </a:p>
          <a:p>
            <a:r>
              <a:rPr lang="zh-CN" altLang="en-US" sz="2400" b="1" dirty="0"/>
              <a:t>架构挑战</a:t>
            </a:r>
            <a:r>
              <a:rPr lang="zh-CN" altLang="en-US" sz="2400" dirty="0"/>
              <a:t>：</a:t>
            </a:r>
          </a:p>
          <a:p>
            <a:pPr lvl="1"/>
            <a:r>
              <a:rPr lang="zh-CN" altLang="en-US" sz="1800" b="1" dirty="0"/>
              <a:t>极高的并发量</a:t>
            </a:r>
            <a:r>
              <a:rPr lang="zh-CN" altLang="en-US" sz="1800" dirty="0"/>
              <a:t>：峰值流量可达每秒数十万甚至上百万笔订单。</a:t>
            </a:r>
          </a:p>
          <a:p>
            <a:pPr lvl="1"/>
            <a:r>
              <a:rPr lang="zh-CN" altLang="en-US" sz="1800" b="1" dirty="0"/>
              <a:t>系统的稳定性与高可用</a:t>
            </a:r>
            <a:r>
              <a:rPr lang="zh-CN" altLang="en-US" sz="1800" dirty="0"/>
              <a:t>：必须保证</a:t>
            </a:r>
            <a:r>
              <a:rPr lang="en-US" altLang="zh-CN" sz="1800" dirty="0"/>
              <a:t>7x24</a:t>
            </a:r>
            <a:r>
              <a:rPr lang="zh-CN" altLang="en-US" sz="1800" dirty="0"/>
              <a:t>小时不间断服务，任何宕机都是不可接受的。</a:t>
            </a:r>
          </a:p>
          <a:p>
            <a:pPr lvl="1"/>
            <a:r>
              <a:rPr lang="zh-CN" altLang="en-US" sz="1800" b="1" dirty="0"/>
              <a:t>快速扩容与弹性伸缩</a:t>
            </a:r>
            <a:r>
              <a:rPr lang="zh-CN" altLang="en-US" sz="1800" dirty="0"/>
              <a:t>：流量在一天内波动巨大，需要系统能自动“呼吸”。</a:t>
            </a:r>
          </a:p>
          <a:p>
            <a:r>
              <a:rPr lang="zh-CN" altLang="en-US" sz="2400" b="1" dirty="0"/>
              <a:t>核心架构思想与风格</a:t>
            </a:r>
            <a:r>
              <a:rPr lang="zh-CN" altLang="en-US" sz="2400" dirty="0"/>
              <a:t>：</a:t>
            </a:r>
          </a:p>
          <a:p>
            <a:pPr lvl="1"/>
            <a:r>
              <a:rPr lang="zh-CN" altLang="en-US" sz="1800" b="1" dirty="0"/>
              <a:t>微服务架构</a:t>
            </a:r>
            <a:r>
              <a:rPr lang="zh-CN" altLang="en-US" sz="1800" dirty="0"/>
              <a:t>：这是最关键的架构演进。将庞大的单体应用拆分成数百个微服务（用户、商品、订单、支付、库存等）。</a:t>
            </a:r>
            <a:r>
              <a:rPr lang="zh-CN" altLang="en-US" sz="1800" b="1" dirty="0"/>
              <a:t>好处</a:t>
            </a:r>
            <a:r>
              <a:rPr lang="zh-CN" altLang="en-US" sz="1800" dirty="0"/>
              <a:t>：解耦、独立开发部署、故障隔离（一个服务出问题不会导致整个系统崩溃）、技术栈灵活。</a:t>
            </a:r>
          </a:p>
          <a:p>
            <a:pPr lvl="1"/>
            <a:r>
              <a:rPr lang="zh-CN" altLang="en-US" sz="1800" b="1" dirty="0"/>
              <a:t>服务网格</a:t>
            </a:r>
            <a:r>
              <a:rPr lang="zh-CN" altLang="en-US" sz="1800" dirty="0"/>
              <a:t>：用于处理服务间的通信、熔断、限流、监控，代表技术如</a:t>
            </a:r>
            <a:r>
              <a:rPr lang="en-US" altLang="zh-CN" sz="1800" b="1" dirty="0"/>
              <a:t>Dubbo</a:t>
            </a:r>
            <a:r>
              <a:rPr lang="zh-CN" altLang="en-US" sz="1800" dirty="0"/>
              <a:t>（阿里开源的高性能</a:t>
            </a:r>
            <a:r>
              <a:rPr lang="en-US" altLang="zh-CN" sz="1800" dirty="0"/>
              <a:t>RPC</a:t>
            </a:r>
            <a:r>
              <a:rPr lang="zh-CN" altLang="en-US" sz="1800" dirty="0"/>
              <a:t>框架）和</a:t>
            </a:r>
            <a:r>
              <a:rPr lang="en-US" altLang="zh-CN" sz="1800" b="1" dirty="0"/>
              <a:t>Sentinel</a:t>
            </a:r>
            <a:r>
              <a:rPr lang="zh-CN" altLang="en-US" sz="1800" dirty="0"/>
              <a:t>（流量卫兵），这是微服务架构的“神经网络”。</a:t>
            </a:r>
          </a:p>
          <a:p>
            <a:pPr lvl="1"/>
            <a:r>
              <a:rPr lang="zh-CN" altLang="en-US" sz="1800" b="1" dirty="0"/>
              <a:t>异地多活</a:t>
            </a:r>
            <a:r>
              <a:rPr lang="zh-CN" altLang="en-US" sz="1800" dirty="0"/>
              <a:t>：在多个城市建立数据中心，同时提供服务。</a:t>
            </a:r>
            <a:r>
              <a:rPr lang="zh-CN" altLang="en-US" sz="1800" b="1" dirty="0"/>
              <a:t>优势</a:t>
            </a:r>
            <a:r>
              <a:rPr lang="zh-CN" altLang="en-US" sz="1800" dirty="0"/>
              <a:t>：任何一个机房断电、断网，流量可以瞬间切换到其他机房，用户几乎无感知，实现了极高可用性。</a:t>
            </a:r>
          </a:p>
          <a:p>
            <a:pPr lvl="1"/>
            <a:r>
              <a:rPr lang="zh-CN" altLang="en-US" sz="1800" b="1" dirty="0"/>
              <a:t>数据分片与弹性计算</a:t>
            </a:r>
            <a:r>
              <a:rPr lang="zh-CN" altLang="en-US" sz="1800" dirty="0"/>
              <a:t>：数据库采用分库分表（如</a:t>
            </a:r>
            <a:r>
              <a:rPr lang="en-US" altLang="zh-CN" sz="1800" dirty="0"/>
              <a:t>TDDL</a:t>
            </a:r>
            <a:r>
              <a:rPr lang="zh-CN" altLang="en-US" sz="1800" dirty="0"/>
              <a:t>），计算资源采用云原生弹性伸缩，在流量洪峰到来前自动扩容，结束后释放资源以节约成本。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C64533-B997-46D0-5E08-BA99BD90D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4341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96814-3D0A-1466-3606-3DC2CB44D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0CCE91-3E6D-B900-6034-00881C26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F8D478B-7711-6AB5-F755-321E1F890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天猫双11销售额突破2135亿 阿里巴巴再造商业奇迹-商业-金融界">
            <a:extLst>
              <a:ext uri="{FF2B5EF4-FFF2-40B4-BE49-F238E27FC236}">
                <a16:creationId xmlns:a16="http://schemas.microsoft.com/office/drawing/2014/main" id="{3A35DAB7-FEED-0F3B-B855-7EBADB95B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9144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436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EBA1A-BED2-DADA-EDBE-9D3DEA103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01BE5E-755D-3EE1-54A3-C8F90F72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136A7CF-C334-53C0-FB69-C4137E62A2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66" y="1346131"/>
            <a:ext cx="8229600" cy="33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682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C864-3021-92D5-0A0D-A622CF29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7CAE8-B289-39FA-5A3B-1284AD40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北斗卫星导航系统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E7EBC0-7DAA-3460-7CB7-4B41058E4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CN" altLang="en-US" b="1" dirty="0"/>
              <a:t>国家需求背景</a:t>
            </a:r>
            <a:r>
              <a:rPr lang="zh-CN" altLang="en-US" dirty="0"/>
              <a:t>：国家时空信息安全，摆脱对国外导航系统的依赖，为国防、交通、金融等关键领域提供自主可控的“中国坐标”。</a:t>
            </a:r>
          </a:p>
          <a:p>
            <a:r>
              <a:rPr lang="zh-CN" altLang="en-US" b="1" dirty="0"/>
              <a:t>架构挑战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b="1" dirty="0"/>
              <a:t>极高的可靠性</a:t>
            </a:r>
            <a:r>
              <a:rPr lang="zh-CN" altLang="en-US" dirty="0"/>
              <a:t>：系统必须万无一失，长期稳定运行。</a:t>
            </a:r>
          </a:p>
          <a:p>
            <a:pPr lvl="1"/>
            <a:r>
              <a:rPr lang="zh-CN" altLang="en-US" b="1" dirty="0"/>
              <a:t>复杂的分布式协同</a:t>
            </a:r>
            <a:r>
              <a:rPr lang="zh-CN" altLang="en-US" dirty="0"/>
              <a:t>：由空间段（多颗卫星）、地面段（主控站、注入站、监测站）和用户段（终端）组成，需要精准同步与协同。</a:t>
            </a:r>
          </a:p>
          <a:p>
            <a:pPr lvl="1"/>
            <a:r>
              <a:rPr lang="zh-CN" altLang="en-US" b="1" dirty="0"/>
              <a:t>实时性</a:t>
            </a:r>
            <a:r>
              <a:rPr lang="zh-CN" altLang="en-US" dirty="0"/>
              <a:t>：从卫星发出信号到用户接收定位，必须在极短时间内完成。</a:t>
            </a:r>
          </a:p>
          <a:p>
            <a:r>
              <a:rPr lang="zh-CN" altLang="en-US" b="1" dirty="0"/>
              <a:t>核心架构思想与风格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b="1" dirty="0"/>
              <a:t>分布式系统架构</a:t>
            </a:r>
            <a:r>
              <a:rPr lang="zh-CN" altLang="en-US" dirty="0"/>
              <a:t>：这是一个经典的、物理上分散但逻辑上统一的超大型分布式系统。</a:t>
            </a:r>
          </a:p>
          <a:p>
            <a:pPr lvl="1"/>
            <a:r>
              <a:rPr lang="en-US" altLang="zh-CN" b="1" dirty="0"/>
              <a:t>C/S</a:t>
            </a:r>
            <a:r>
              <a:rPr lang="zh-CN" altLang="en-US" b="1" dirty="0"/>
              <a:t>与</a:t>
            </a:r>
            <a:r>
              <a:rPr lang="en-US" altLang="zh-CN" b="1" dirty="0"/>
              <a:t>B/S</a:t>
            </a:r>
            <a:r>
              <a:rPr lang="zh-CN" altLang="en-US" b="1" dirty="0"/>
              <a:t>混合架构</a:t>
            </a:r>
            <a:r>
              <a:rPr lang="zh-CN" altLang="en-US" dirty="0"/>
              <a:t>：</a:t>
            </a:r>
          </a:p>
          <a:p>
            <a:pPr lvl="2"/>
            <a:r>
              <a:rPr lang="zh-CN" altLang="en-US" dirty="0"/>
              <a:t>用户终端与卫星之间是</a:t>
            </a:r>
            <a:r>
              <a:rPr lang="zh-CN" altLang="en-US" b="1" dirty="0"/>
              <a:t>客户端</a:t>
            </a:r>
            <a:r>
              <a:rPr lang="en-US" altLang="zh-CN" b="1" dirty="0"/>
              <a:t>/</a:t>
            </a:r>
            <a:r>
              <a:rPr lang="zh-CN" altLang="en-US" b="1" dirty="0"/>
              <a:t>服务器</a:t>
            </a:r>
            <a:r>
              <a:rPr lang="zh-CN" altLang="en-US" dirty="0"/>
              <a:t>架构（卫星提供服务，终端消费服务）。</a:t>
            </a:r>
          </a:p>
          <a:p>
            <a:pPr lvl="2"/>
            <a:r>
              <a:rPr lang="zh-CN" altLang="en-US" dirty="0"/>
              <a:t>地面控制中心与卫星之间，以及各地面站之间，是严密的内网系统，但其数据交互和管理模式也借鉴了</a:t>
            </a:r>
            <a:r>
              <a:rPr lang="en-US" altLang="zh-CN" b="1" dirty="0"/>
              <a:t>B/S</a:t>
            </a:r>
            <a:r>
              <a:rPr lang="zh-CN" altLang="en-US" dirty="0"/>
              <a:t>的集中监控与分发思想。</a:t>
            </a:r>
          </a:p>
          <a:p>
            <a:pPr lvl="1"/>
            <a:r>
              <a:rPr lang="zh-CN" altLang="en-US" b="1" dirty="0"/>
              <a:t>容错与冗余设计</a:t>
            </a:r>
            <a:r>
              <a:rPr lang="zh-CN" altLang="en-US" dirty="0"/>
              <a:t>：关键部件（如原子钟）和地面站都有多重备份，软件系统也采用冗余设计，确保单点故障不影响全局服务。</a:t>
            </a:r>
          </a:p>
          <a:p>
            <a:pPr lvl="1"/>
            <a:r>
              <a:rPr lang="zh-CN" altLang="en-US" b="1" dirty="0"/>
              <a:t>严格的分层架构</a:t>
            </a:r>
            <a:r>
              <a:rPr lang="zh-CN" altLang="en-US" dirty="0"/>
              <a:t>：从底层的硬件、操作系统到上层的定轨、时间同步、报文通信等应用软件，层次清晰，接口明确，保证了系统的可维护性和可靠性。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405E07-24C1-A2D6-DD44-A9DF947C2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7569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516588-08D8-D09E-17EF-95F28A2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>
            <a:noAutofit/>
          </a:bodyPr>
          <a:lstStyle/>
          <a:p>
            <a:r>
              <a:rPr lang="zh-CN" altLang="zh-CN" sz="3200" dirty="0"/>
              <a:t>中国高精度位置网及其在交通领域的重大应用</a:t>
            </a:r>
            <a:br>
              <a:rPr lang="en-US" altLang="zh-CN" sz="3200" dirty="0"/>
            </a:br>
            <a:r>
              <a:rPr lang="zh-CN" altLang="zh-CN" sz="3200" dirty="0"/>
              <a:t>国家科学技术进步奖一等奖</a:t>
            </a:r>
            <a:endParaRPr lang="zh-CN" altLang="en-US" sz="3200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61FB560-ED7D-848F-CF24-1163026E4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528" y="1268413"/>
            <a:ext cx="7414943" cy="4857750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208876-2E79-3BBF-D93A-D2DF28A4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2038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43C44-1061-3E68-B044-40B61A47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12306</a:t>
            </a:r>
            <a:r>
              <a:rPr lang="zh-CN" altLang="en-US" b="1" dirty="0"/>
              <a:t>售票系统</a:t>
            </a:r>
            <a:r>
              <a:rPr lang="en-US" altLang="zh-CN" b="1" dirty="0"/>
              <a:t>——</a:t>
            </a:r>
            <a:r>
              <a:rPr lang="zh-CN" altLang="en-US" b="1" dirty="0"/>
              <a:t>从集中式到混合云的超复杂计算系统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2D6DFC-A7BD-6156-27B8-6C9FCA1D2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000" b="1" dirty="0"/>
              <a:t>国家需求背景</a:t>
            </a:r>
            <a:r>
              <a:rPr lang="zh-CN" altLang="en-US" sz="2000" dirty="0"/>
              <a:t>：解决“世界上规模最大的实时交易系统”难题，保障民生，应对春运等人类最大规模的周期性迁移。</a:t>
            </a:r>
          </a:p>
          <a:p>
            <a:r>
              <a:rPr lang="zh-CN" altLang="en-US" sz="2000" b="1" dirty="0"/>
              <a:t>架构挑战</a:t>
            </a:r>
            <a:r>
              <a:rPr lang="zh-CN" altLang="en-US" sz="2000" dirty="0"/>
              <a:t>：</a:t>
            </a:r>
          </a:p>
          <a:p>
            <a:pPr lvl="1"/>
            <a:r>
              <a:rPr lang="zh-CN" altLang="en-US" sz="1600" b="1" dirty="0"/>
              <a:t>极端的并发与锁冲突</a:t>
            </a:r>
            <a:r>
              <a:rPr lang="zh-CN" altLang="en-US" sz="1600" dirty="0"/>
              <a:t>：全国人民同时抢票，对同一个车次座位资源的读写冲突极大。</a:t>
            </a:r>
          </a:p>
          <a:p>
            <a:pPr lvl="1"/>
            <a:r>
              <a:rPr lang="zh-CN" altLang="en-US" sz="1600" b="1" dirty="0"/>
              <a:t>复杂的业务逻辑</a:t>
            </a:r>
            <a:r>
              <a:rPr lang="zh-CN" altLang="en-US" sz="1600" dirty="0"/>
              <a:t>：票源分配（全程票、区间票）、候补等机制。</a:t>
            </a:r>
          </a:p>
          <a:p>
            <a:pPr lvl="1"/>
            <a:r>
              <a:rPr lang="zh-CN" altLang="en-US" sz="1600" b="1" dirty="0"/>
              <a:t>防止恶意抢票和爬虫</a:t>
            </a:r>
            <a:r>
              <a:rPr lang="zh-CN" altLang="en-US" sz="1600" dirty="0"/>
              <a:t>。</a:t>
            </a:r>
          </a:p>
          <a:p>
            <a:r>
              <a:rPr lang="zh-CN" altLang="en-US" sz="2000" b="1" dirty="0"/>
              <a:t>核心架构思想与风格</a:t>
            </a:r>
            <a:r>
              <a:rPr lang="zh-CN" altLang="en-US" sz="2000" dirty="0"/>
              <a:t>：</a:t>
            </a:r>
          </a:p>
          <a:p>
            <a:pPr lvl="1"/>
            <a:r>
              <a:rPr lang="zh-CN" altLang="en-US" sz="1600" b="1" dirty="0"/>
              <a:t>混合云架构</a:t>
            </a:r>
            <a:r>
              <a:rPr lang="zh-CN" altLang="en-US" sz="1600" dirty="0"/>
              <a:t>：这是</a:t>
            </a:r>
            <a:r>
              <a:rPr lang="en-US" altLang="zh-CN" sz="1600" dirty="0"/>
              <a:t>12306</a:t>
            </a:r>
            <a:r>
              <a:rPr lang="zh-CN" altLang="en-US" sz="1600" dirty="0"/>
              <a:t>演进的成功关键。将核心的票务库存业务（需要强一致性）放在昂贵的</a:t>
            </a:r>
            <a:r>
              <a:rPr lang="en-US" altLang="zh-CN" sz="1600" dirty="0"/>
              <a:t>IBM</a:t>
            </a:r>
            <a:r>
              <a:rPr lang="zh-CN" altLang="en-US" sz="1600" dirty="0"/>
              <a:t>大型机（稳态）上保障可靠性和事务，将查询、用户登录、订单等业务部署到阿里云（敏态）上利用其弹性能力应对流量高峰。</a:t>
            </a:r>
          </a:p>
          <a:p>
            <a:pPr lvl="1"/>
            <a:r>
              <a:rPr lang="zh-CN" altLang="en-US" sz="1600" b="1" dirty="0"/>
              <a:t>异步化与读写分离</a:t>
            </a:r>
            <a:r>
              <a:rPr lang="zh-CN" altLang="en-US" sz="1600" dirty="0"/>
              <a:t>：采用消息队列（如</a:t>
            </a:r>
            <a:r>
              <a:rPr lang="en-US" altLang="zh-CN" sz="1600" dirty="0"/>
              <a:t>MQ</a:t>
            </a:r>
            <a:r>
              <a:rPr lang="zh-CN" altLang="en-US" sz="1600" dirty="0"/>
              <a:t>）将下单流程异步化，避免长时间锁住库存。大量的查询请求被路由到读写分离的从数据库，减轻主库压力。</a:t>
            </a:r>
          </a:p>
          <a:p>
            <a:pPr lvl="1"/>
            <a:r>
              <a:rPr lang="zh-CN" altLang="en-US" sz="1600" b="1" dirty="0"/>
              <a:t>内存计算</a:t>
            </a:r>
            <a:r>
              <a:rPr lang="zh-CN" altLang="en-US" sz="1600" dirty="0"/>
              <a:t>：将热点数据（如车次、座位信息）缓存到内存数据库中（如</a:t>
            </a:r>
            <a:r>
              <a:rPr lang="en-US" altLang="zh-CN" sz="1600" dirty="0"/>
              <a:t>Redis</a:t>
            </a:r>
            <a:r>
              <a:rPr lang="zh-CN" altLang="en-US" sz="1600" dirty="0"/>
              <a:t>），极大提升访问速度。</a:t>
            </a:r>
          </a:p>
          <a:p>
            <a:pPr lvl="1"/>
            <a:r>
              <a:rPr lang="zh-CN" altLang="en-US" sz="1600" b="1" dirty="0"/>
              <a:t>智能调度与算法</a:t>
            </a:r>
            <a:r>
              <a:rPr lang="zh-CN" altLang="en-US" sz="1600" dirty="0"/>
              <a:t>：采用</a:t>
            </a:r>
            <a:r>
              <a:rPr lang="zh-CN" altLang="en-US" sz="1600" b="1" dirty="0"/>
              <a:t>分布式库存分库分表</a:t>
            </a:r>
            <a:r>
              <a:rPr lang="zh-CN" altLang="en-US" sz="1600" dirty="0"/>
              <a:t>，将同一趟列车的不同座位段分配到不同的数据库节点，减少冲突。后端算法智能计算票额分配。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AD2253-D587-9445-10E7-C541EA1D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7936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9A6E3-1788-80F8-E99E-E8ED74A66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zh-CN" sz="3200" dirty="0"/>
              <a:t>中国铁路客票发售和预订系统</a:t>
            </a:r>
            <a:br>
              <a:rPr lang="en-US" altLang="zh-CN" sz="3200" dirty="0"/>
            </a:br>
            <a:r>
              <a:rPr lang="zh-CN" altLang="en-US" sz="3200" dirty="0"/>
              <a:t>国家科技进步一等奖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1905865-CC7F-1C9B-A98E-53A686512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1026" name="Picture 2" descr="中国铁路12306官网订火车票流程详解（图）- 广州本地宝">
            <a:extLst>
              <a:ext uri="{FF2B5EF4-FFF2-40B4-BE49-F238E27FC236}">
                <a16:creationId xmlns:a16="http://schemas.microsoft.com/office/drawing/2014/main" id="{C3EF1628-2B3B-97B5-B570-F2E1086C6F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128" y="1268413"/>
            <a:ext cx="7003743" cy="485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52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0AA7F-F5BD-D70C-E23C-64D68836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402758-C636-C531-6C1E-5A3456CA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78EFEA3-785B-A07C-6FFC-51B9F6458B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43" y="1484784"/>
            <a:ext cx="7640113" cy="396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778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813"/>
            <a:ext cx="7715200" cy="778098"/>
          </a:xfrm>
        </p:spPr>
        <p:txBody>
          <a:bodyPr/>
          <a:lstStyle/>
          <a:p>
            <a:r>
              <a:rPr lang="en-US" dirty="0"/>
              <a:t>What is Software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The software architecture of a system is the set of structures needed to reason about the system, which comprise software elements, relations among them, and properties of both.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 Is a Set of Software Structures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structure is a set of elements held together by a relation. </a:t>
            </a:r>
          </a:p>
          <a:p>
            <a:r>
              <a:rPr lang="en-US" dirty="0"/>
              <a:t>Software systems are composed of many structures, and no single structure holds claim to being the  architecture.</a:t>
            </a:r>
          </a:p>
          <a:p>
            <a:r>
              <a:rPr lang="en-US" dirty="0"/>
              <a:t>There are three important categories of architectural structures.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Module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Component and Connector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Allocation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structures partition systems into implementation units, which we call modules. </a:t>
            </a:r>
          </a:p>
          <a:p>
            <a:r>
              <a:rPr lang="en-US" dirty="0"/>
              <a:t>Modules are assigned specific computational responsibilities, and are the basis of work assignments for programming teams. </a:t>
            </a:r>
          </a:p>
          <a:p>
            <a:r>
              <a:rPr lang="en-US" dirty="0"/>
              <a:t>In large projects, these elements (modules) are subdivided for assignment to sub-teams.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51BB9-A279-3005-D0DE-733EBD47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A4A8B8-B016-E9FE-8BF2-40A27641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1026" name="Picture 2" descr="各类Python项目的项目结构及代码组织最佳实践_python项目结构-CSDN博客">
            <a:extLst>
              <a:ext uri="{FF2B5EF4-FFF2-40B4-BE49-F238E27FC236}">
                <a16:creationId xmlns:a16="http://schemas.microsoft.com/office/drawing/2014/main" id="{6A533482-FC67-B586-A196-5013035AEA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585" y="1268413"/>
            <a:ext cx="7572830" cy="485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795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A256E-236C-6ECF-1273-6B15D2EB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2FCF07-3BDE-1700-D0AD-58D3D6EA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2054" name="Picture 6" descr="Importance Of Modularity In Programming - AOSD.net">
            <a:extLst>
              <a:ext uri="{FF2B5EF4-FFF2-40B4-BE49-F238E27FC236}">
                <a16:creationId xmlns:a16="http://schemas.microsoft.com/office/drawing/2014/main" id="{6F85D352-0C5F-8063-07C3-ADE1F9EFBF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1354138"/>
            <a:ext cx="7124700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3794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Component-and-connector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Other structures focus on the way the elements interact with each other </a:t>
            </a:r>
            <a:r>
              <a:rPr lang="en-US" dirty="0">
                <a:solidFill>
                  <a:srgbClr val="C00000"/>
                </a:solidFill>
              </a:rPr>
              <a:t>at runtime </a:t>
            </a:r>
            <a:r>
              <a:rPr lang="en-US" dirty="0"/>
              <a:t>to carry out the system’s functions.</a:t>
            </a:r>
          </a:p>
          <a:p>
            <a:r>
              <a:rPr lang="en-US" dirty="0"/>
              <a:t>We call runtime structures </a:t>
            </a:r>
            <a:r>
              <a:rPr lang="en-US" i="1" dirty="0"/>
              <a:t>component-and-connector (C&amp;C) structures</a:t>
            </a:r>
            <a:r>
              <a:rPr lang="en-US" dirty="0"/>
              <a:t>.</a:t>
            </a:r>
          </a:p>
          <a:p>
            <a:r>
              <a:rPr lang="en-US" dirty="0"/>
              <a:t>A component is always a runtime entity.</a:t>
            </a:r>
          </a:p>
          <a:p>
            <a:pPr lvl="1"/>
            <a:r>
              <a:rPr lang="en-US" dirty="0"/>
              <a:t>In SOA,  the system is to be built as a set of services. </a:t>
            </a:r>
          </a:p>
          <a:p>
            <a:pPr lvl="1"/>
            <a:r>
              <a:rPr lang="en-US" dirty="0"/>
              <a:t>These services are made up of (compiled from) the programs in the various implementation units – modules.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FA6E0E-FBB2-C6E9-BB6B-C5376E944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E4E721F-D664-B360-ACDC-90F862A0D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838" y="0"/>
            <a:ext cx="42103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8BE2F-162F-23D1-0EB5-78EEEA361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38F753-24D7-50F0-882D-2A30BDE06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5" name="内容占位符 9">
            <a:extLst>
              <a:ext uri="{FF2B5EF4-FFF2-40B4-BE49-F238E27FC236}">
                <a16:creationId xmlns:a16="http://schemas.microsoft.com/office/drawing/2014/main" id="{CF231206-CBCB-8D13-B337-F0CBA4B29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916832"/>
            <a:ext cx="6514322" cy="2822873"/>
          </a:xfrm>
        </p:spPr>
      </p:pic>
    </p:spTree>
    <p:extLst>
      <p:ext uri="{BB962C8B-B14F-4D97-AF65-F5344CB8AC3E}">
        <p14:creationId xmlns:p14="http://schemas.microsoft.com/office/powerpoint/2010/main" val="165053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Allocation structures describe the mapping from software structures to the system’s environments</a:t>
            </a:r>
          </a:p>
          <a:p>
            <a:r>
              <a:rPr lang="en-US" dirty="0"/>
              <a:t>For example</a:t>
            </a:r>
          </a:p>
          <a:p>
            <a:pPr lvl="1"/>
            <a:r>
              <a:rPr lang="en-US" dirty="0"/>
              <a:t>Modules are assigned to </a:t>
            </a:r>
            <a:r>
              <a:rPr lang="en-US" b="1" dirty="0"/>
              <a:t>teams</a:t>
            </a:r>
            <a:r>
              <a:rPr lang="en-US" dirty="0"/>
              <a:t> to develop, and assigned to places in </a:t>
            </a:r>
            <a:r>
              <a:rPr lang="en-US" b="1" dirty="0"/>
              <a:t>a file structure </a:t>
            </a:r>
            <a:r>
              <a:rPr lang="en-US" dirty="0"/>
              <a:t>for implementation, integration, and testing. </a:t>
            </a:r>
          </a:p>
          <a:p>
            <a:pPr lvl="1"/>
            <a:r>
              <a:rPr lang="en-US" dirty="0"/>
              <a:t>Components are deployed onto </a:t>
            </a:r>
            <a:r>
              <a:rPr lang="en-US" b="1" dirty="0"/>
              <a:t>hardware</a:t>
            </a:r>
            <a:r>
              <a:rPr lang="en-US" dirty="0"/>
              <a:t> in order to execute.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35A08-105F-A71C-12C6-2579CC52B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4D7978B-821D-F733-EF75-725D067AC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6285" y="1196752"/>
            <a:ext cx="6171429" cy="4257143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4E5562-4450-CE87-DF11-FA32CE52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925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7FF96-FF49-31A7-1F5D-EE10D170A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0BB5D77-30D5-B303-289E-F51C7C5E7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572" y="1484784"/>
            <a:ext cx="8718855" cy="4189893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77C6F4-FF77-BA5A-9A81-D3A4F4DA0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2259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46B76-D29E-0AF4-5B56-8CAEBE010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49B6FF-EAA6-849B-4833-A48B5FC80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86FD31-32A2-B22A-C8DC-60DA554A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7AD336-8613-855A-08C3-42144E0F7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84" y="980728"/>
            <a:ext cx="8460432" cy="34292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75A92F-83DF-192B-96EC-62A6497BD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76"/>
          <a:stretch>
            <a:fillRect/>
          </a:stretch>
        </p:blipFill>
        <p:spPr>
          <a:xfrm>
            <a:off x="389492" y="4304056"/>
            <a:ext cx="8502988" cy="119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252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371B4-1362-EB0B-944F-6173C069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A59B7B-80B4-F985-84BC-C0E52D02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A42883C3-EA70-04A1-ABC6-5FD8B4372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954338"/>
            <a:ext cx="82296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4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Structures are Architectural?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structure is architectural if it supports reasoning about the system and the system’s properties. </a:t>
            </a:r>
          </a:p>
          <a:p>
            <a:r>
              <a:rPr lang="en-US" dirty="0"/>
              <a:t>The reasoning should be about an attribute of the system that is important to some stakeholder. </a:t>
            </a:r>
          </a:p>
          <a:p>
            <a:r>
              <a:rPr lang="en-US" dirty="0"/>
              <a:t>These include </a:t>
            </a:r>
          </a:p>
          <a:p>
            <a:pPr lvl="1"/>
            <a:r>
              <a:rPr lang="en-US" dirty="0"/>
              <a:t>functionality achieved by the system</a:t>
            </a:r>
          </a:p>
          <a:p>
            <a:pPr lvl="1"/>
            <a:r>
              <a:rPr lang="en-US" dirty="0"/>
              <a:t>the availability of the system in the face of faults</a:t>
            </a:r>
          </a:p>
          <a:p>
            <a:pPr lvl="1"/>
            <a:r>
              <a:rPr lang="en-US" dirty="0"/>
              <a:t>the difficulty of making specific changes to the system</a:t>
            </a:r>
          </a:p>
          <a:p>
            <a:pPr lvl="1"/>
            <a:r>
              <a:rPr lang="en-US" dirty="0"/>
              <a:t>the responsiveness of the system to user requests, </a:t>
            </a:r>
          </a:p>
          <a:p>
            <a:pPr lvl="1"/>
            <a:r>
              <a:rPr lang="en-US" dirty="0"/>
              <a:t>many others.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04C1A-8B20-5AB4-D138-941723063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泰坦尼克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D26B9B-46B7-99C5-60CD-5BEB98CD7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它被称为“永不沉没的巨轮”，但却在首航中沉没了。很多人归咎于冰山或是船长的大意，但</a:t>
            </a:r>
            <a:r>
              <a:rPr lang="zh-CN" altLang="en-US" b="1" dirty="0"/>
              <a:t>一个至关重要的工程学原因常常被忽略：船体的舱室设计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最初的设计师提出了一个“</a:t>
            </a:r>
            <a:r>
              <a:rPr lang="zh-CN" altLang="en-US" b="1" dirty="0"/>
              <a:t>三舱室失效</a:t>
            </a:r>
            <a:r>
              <a:rPr lang="zh-CN" altLang="en-US" dirty="0"/>
              <a:t>”的安全架构：即使船体前三个舱室同时进水，船也能保持漂浮。这个设计在当时是极其先进的，远超安全标准。因此，人们坚信它“永不沉没”。</a:t>
            </a:r>
          </a:p>
          <a:p>
            <a:r>
              <a:rPr lang="zh-CN" altLang="en-US" dirty="0"/>
              <a:t>但悲剧在于，冰山撕裂的伤口跨越了</a:t>
            </a:r>
            <a:r>
              <a:rPr lang="zh-CN" altLang="en-US" b="1" dirty="0"/>
              <a:t>六个</a:t>
            </a:r>
            <a:r>
              <a:rPr lang="zh-CN" altLang="en-US" dirty="0"/>
              <a:t>舱室。这个灾难超出了它最初设计的“</a:t>
            </a:r>
            <a:r>
              <a:rPr lang="zh-CN" altLang="en-US" b="1" dirty="0"/>
              <a:t>系统架构</a:t>
            </a:r>
            <a:r>
              <a:rPr lang="zh-CN" altLang="en-US" dirty="0"/>
              <a:t>”所能承受的“</a:t>
            </a:r>
            <a:r>
              <a:rPr lang="zh-CN" altLang="en-US" b="1" dirty="0"/>
              <a:t>最大负载</a:t>
            </a:r>
            <a:r>
              <a:rPr lang="zh-CN" altLang="en-US" dirty="0"/>
              <a:t>”。它的架构无法应对这种“</a:t>
            </a:r>
            <a:r>
              <a:rPr lang="zh-CN" altLang="en-US" b="1" dirty="0"/>
              <a:t>异常用例</a:t>
            </a:r>
            <a:r>
              <a:rPr lang="zh-CN" altLang="en-US" dirty="0"/>
              <a:t>”。</a:t>
            </a: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8EBAC8-C2A8-8B28-6420-01A57D64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8946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F19F1-46D2-4204-8E11-D49E9C90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巴黎的地下迷宫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05E8C6-654A-1C72-E571-2AD3DFD43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巴黎的地下有什么吗？除了地铁，那里还有一个巨大的、错综复杂的“地下城市”：遍布着古老的采石场隧道、废弃的地下墓穴、几百年前的下水道、以及密密麻麻的现代管线（光纤、电缆、燃气）。</a:t>
            </a:r>
          </a:p>
          <a:p>
            <a:r>
              <a:rPr lang="zh-CN" altLang="en-US" dirty="0"/>
              <a:t>为什么这么乱？因为巴黎不是在一天建成的。人们总是在原有的系统上，不断地打补丁、增加新功能：中世纪需要采石建教堂，</a:t>
            </a:r>
            <a:r>
              <a:rPr lang="en-US" altLang="zh-CN" dirty="0"/>
              <a:t>19</a:t>
            </a:r>
            <a:r>
              <a:rPr lang="zh-CN" altLang="en-US" dirty="0"/>
              <a:t>世纪需要解决卫生问题修建下水道，</a:t>
            </a:r>
            <a:r>
              <a:rPr lang="en-US" altLang="zh-CN" dirty="0"/>
              <a:t>20</a:t>
            </a:r>
            <a:r>
              <a:rPr lang="zh-CN" altLang="en-US" dirty="0"/>
              <a:t>世纪要通地铁，</a:t>
            </a:r>
            <a:r>
              <a:rPr lang="en-US" altLang="zh-CN" dirty="0"/>
              <a:t>21</a:t>
            </a:r>
            <a:r>
              <a:rPr lang="zh-CN" altLang="en-US" dirty="0"/>
              <a:t>世纪要铺光纤。</a:t>
            </a:r>
            <a:r>
              <a:rPr lang="zh-CN" altLang="en-US" b="1" dirty="0"/>
              <a:t>每一个决策在当时都是最优解，但数百年的“迭代开发”和“紧急修复”累积下来，形成了一个无人能完全搞清的、极其脆弱和危险的“遗留系统”</a:t>
            </a:r>
            <a:r>
              <a:rPr lang="zh-CN" altLang="en-US" dirty="0"/>
              <a:t>。现在，任何想在地下进行的新的工程都变得异常困难和昂贵。</a:t>
            </a: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AE74D5-32A1-2716-26F1-E7FA78E1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706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is an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96549"/>
            <a:ext cx="8424936" cy="4076667"/>
          </a:xfrm>
        </p:spPr>
        <p:txBody>
          <a:bodyPr>
            <a:normAutofit/>
          </a:bodyPr>
          <a:lstStyle/>
          <a:p>
            <a:r>
              <a:rPr lang="pl-PL" sz="2800" dirty="0"/>
              <a:t>An architecture specifically omits certain information about elements that is not useful for reasoning about the system.</a:t>
            </a:r>
          </a:p>
          <a:p>
            <a:r>
              <a:rPr lang="pl-PL" sz="2800" dirty="0"/>
              <a:t>The architectural abstraction lets us look at the system in terms of its elements, how they are arranged, how they interact, how they are composed, and so forth. </a:t>
            </a:r>
            <a:endParaRPr lang="en-US" sz="2800" dirty="0"/>
          </a:p>
          <a:p>
            <a:r>
              <a:rPr lang="pl-PL" altLang="zh-CN" sz="2800" dirty="0"/>
              <a:t>This abstraction is essential to taming the complexity of an architecture.</a:t>
            </a:r>
          </a:p>
          <a:p>
            <a:pPr marL="0" indent="0">
              <a:buNone/>
            </a:pPr>
            <a:endParaRPr lang="pl-PL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736" y="404664"/>
            <a:ext cx="7715200" cy="778098"/>
          </a:xfrm>
        </p:spPr>
        <p:txBody>
          <a:bodyPr>
            <a:normAutofit fontScale="90000"/>
          </a:bodyPr>
          <a:lstStyle/>
          <a:p>
            <a:r>
              <a:rPr lang="en-US" dirty="0"/>
              <a:t>Every System has a Software 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81509"/>
            <a:ext cx="8229600" cy="4857403"/>
          </a:xfrm>
        </p:spPr>
        <p:txBody>
          <a:bodyPr>
            <a:normAutofit/>
          </a:bodyPr>
          <a:lstStyle/>
          <a:p>
            <a:r>
              <a:rPr lang="en-US" dirty="0"/>
              <a:t>But the architecture may not be known to anyone. </a:t>
            </a:r>
          </a:p>
          <a:p>
            <a:pPr lvl="1"/>
            <a:r>
              <a:rPr lang="en-US" dirty="0"/>
              <a:t>Perhaps all of the people who designed the system are long gone</a:t>
            </a:r>
          </a:p>
          <a:p>
            <a:pPr lvl="1"/>
            <a:r>
              <a:rPr lang="en-US" dirty="0"/>
              <a:t>Perhaps the documentation has vanished (or was never produced)</a:t>
            </a:r>
          </a:p>
          <a:p>
            <a:pPr lvl="1"/>
            <a:r>
              <a:rPr lang="en-US" dirty="0"/>
              <a:t>Perhaps the source code has been lost (or was never delivered)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Includes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04764"/>
            <a:ext cx="8219256" cy="4799558"/>
          </a:xfrm>
        </p:spPr>
        <p:txBody>
          <a:bodyPr>
            <a:normAutofit/>
          </a:bodyPr>
          <a:lstStyle/>
          <a:p>
            <a:r>
              <a:rPr lang="en-US" dirty="0"/>
              <a:t>The behavior of each element is part of the architecture insofar as that behavior can be used to reason about the system. </a:t>
            </a:r>
          </a:p>
          <a:p>
            <a:r>
              <a:rPr lang="en-US" dirty="0"/>
              <a:t>This behavior embodies how elements interact with each other, which is clearly part of the definition of architecture.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and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4744"/>
            <a:ext cx="8579296" cy="532859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i="1" dirty="0"/>
              <a:t>view</a:t>
            </a:r>
            <a:r>
              <a:rPr lang="en-US" dirty="0"/>
              <a:t> is a representation of a coherent set of architectural elements, as written by and read by system stakeholders. </a:t>
            </a:r>
          </a:p>
          <a:p>
            <a:r>
              <a:rPr lang="en-US" dirty="0"/>
              <a:t>A </a:t>
            </a:r>
            <a:r>
              <a:rPr lang="en-US" i="1" dirty="0"/>
              <a:t>structure</a:t>
            </a:r>
            <a:r>
              <a:rPr lang="en-US" dirty="0"/>
              <a:t> is the set of elements itself, as they exist in software or hardware.</a:t>
            </a:r>
          </a:p>
          <a:p>
            <a:r>
              <a:rPr lang="en-US" dirty="0"/>
              <a:t>In short, a view is a representation of a structure. </a:t>
            </a:r>
          </a:p>
          <a:p>
            <a:pPr lvl="1"/>
            <a:r>
              <a:rPr lang="en-US" dirty="0"/>
              <a:t>For example, a module </a:t>
            </a:r>
            <a:r>
              <a:rPr lang="en-US" i="1" dirty="0"/>
              <a:t>structure</a:t>
            </a:r>
            <a:r>
              <a:rPr lang="en-US" dirty="0"/>
              <a:t> is the set of the system’s modules and their organization. </a:t>
            </a:r>
          </a:p>
          <a:p>
            <a:pPr lvl="1"/>
            <a:r>
              <a:rPr lang="en-US" dirty="0"/>
              <a:t>A module </a:t>
            </a:r>
            <a:r>
              <a:rPr lang="en-US" i="1" dirty="0"/>
              <a:t>view</a:t>
            </a:r>
            <a:r>
              <a:rPr lang="en-US" dirty="0"/>
              <a:t> is the representation of that structure, documented according to a template in a chosen notation, and used by some system stakeholders.</a:t>
            </a:r>
          </a:p>
          <a:p>
            <a:r>
              <a:rPr lang="en-US" dirty="0"/>
              <a:t>Architects design structures. They document views of those structures.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579296" cy="46085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Module structures </a:t>
            </a:r>
            <a:r>
              <a:rPr lang="en-US" dirty="0"/>
              <a:t>embody decisions as to how the system is to be structured as a set of </a:t>
            </a:r>
            <a:r>
              <a:rPr lang="en-US" dirty="0">
                <a:solidFill>
                  <a:srgbClr val="FF0000"/>
                </a:solidFill>
              </a:rPr>
              <a:t>code or data units</a:t>
            </a:r>
            <a:endParaRPr lang="en-US" dirty="0"/>
          </a:p>
          <a:p>
            <a:r>
              <a:rPr lang="en-US" dirty="0"/>
              <a:t>In any module structure, the elements are modules of some kind (perhaps classes, or layers, or merely divisions of functionality, all of which are units of implementation). </a:t>
            </a:r>
          </a:p>
          <a:p>
            <a:r>
              <a:rPr lang="en-US" dirty="0"/>
              <a:t>Modules are assigned areas of functional responsibility.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3648" y="6237312"/>
            <a:ext cx="6336704" cy="365125"/>
          </a:xfrm>
        </p:spPr>
        <p:txBody>
          <a:bodyPr/>
          <a:lstStyle/>
          <a:p>
            <a:r>
              <a:rPr lang="en-AU" dirty="0"/>
              <a:t>Software Architecture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715200" cy="778098"/>
          </a:xfrm>
        </p:spPr>
        <p:txBody>
          <a:bodyPr>
            <a:normAutofit fontScale="90000"/>
          </a:bodyPr>
          <a:lstStyle/>
          <a:p>
            <a:r>
              <a:rPr lang="en-US" dirty="0"/>
              <a:t>Component-and-connector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075240" cy="4857403"/>
          </a:xfrm>
        </p:spPr>
        <p:txBody>
          <a:bodyPr>
            <a:normAutofit/>
          </a:bodyPr>
          <a:lstStyle/>
          <a:p>
            <a:r>
              <a:rPr lang="en-US" sz="2800" dirty="0"/>
              <a:t>Component-and-connector structures embody decisions as to how the system is to be structured as a set of elements that have </a:t>
            </a:r>
            <a:r>
              <a:rPr lang="en-US" sz="2800" dirty="0">
                <a:solidFill>
                  <a:srgbClr val="FF0000"/>
                </a:solidFill>
              </a:rPr>
              <a:t>runtime</a:t>
            </a:r>
            <a:r>
              <a:rPr lang="en-US" sz="2800" dirty="0"/>
              <a:t> behavior (components) and interactions (connectors). </a:t>
            </a:r>
          </a:p>
          <a:p>
            <a:r>
              <a:rPr lang="pl-PL" sz="2800" dirty="0"/>
              <a:t>Elements are </a:t>
            </a:r>
            <a:r>
              <a:rPr lang="pl-PL" sz="2800" dirty="0">
                <a:solidFill>
                  <a:srgbClr val="FF0000"/>
                </a:solidFill>
              </a:rPr>
              <a:t>runtime comopnents </a:t>
            </a:r>
            <a:r>
              <a:rPr lang="pl-PL" sz="2800" dirty="0"/>
              <a:t>such as services, peers, clients, servers, or many other types of runtime element) </a:t>
            </a:r>
          </a:p>
          <a:p>
            <a:r>
              <a:rPr lang="pl-PL" sz="2800" dirty="0"/>
              <a:t>Connectors are the communication </a:t>
            </a:r>
            <a:r>
              <a:rPr lang="en-US" altLang="zh-CN" sz="2800" dirty="0"/>
              <a:t>ways</a:t>
            </a:r>
            <a:r>
              <a:rPr lang="pl-PL" sz="2800" dirty="0"/>
              <a:t> among components, such as call-return, process synchronization operators, pipes, or others.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372" y="404664"/>
            <a:ext cx="7715200" cy="778098"/>
          </a:xfrm>
        </p:spPr>
        <p:txBody>
          <a:bodyPr>
            <a:normAutofit fontScale="90000"/>
          </a:bodyPr>
          <a:lstStyle/>
          <a:p>
            <a:r>
              <a:rPr lang="en-US" dirty="0"/>
              <a:t>Component-and-connector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144" y="1412776"/>
            <a:ext cx="8287320" cy="5112568"/>
          </a:xfrm>
        </p:spPr>
        <p:txBody>
          <a:bodyPr>
            <a:normAutofit/>
          </a:bodyPr>
          <a:lstStyle/>
          <a:p>
            <a:r>
              <a:rPr lang="pl-PL" i="1" dirty="0"/>
              <a:t>Component-and-connector views </a:t>
            </a:r>
            <a:r>
              <a:rPr lang="pl-PL" dirty="0"/>
              <a:t>help us answer questions such as these:</a:t>
            </a:r>
          </a:p>
          <a:p>
            <a:pPr lvl="1"/>
            <a:r>
              <a:rPr lang="pl-PL" sz="2400" dirty="0" err="1"/>
              <a:t>What</a:t>
            </a:r>
            <a:r>
              <a:rPr lang="pl-PL" sz="2400" dirty="0"/>
              <a:t> </a:t>
            </a:r>
            <a:r>
              <a:rPr lang="pl-PL" sz="2400" dirty="0" err="1"/>
              <a:t>are</a:t>
            </a:r>
            <a:r>
              <a:rPr lang="pl-PL" sz="2400" dirty="0"/>
              <a:t> the major </a:t>
            </a:r>
            <a:r>
              <a:rPr lang="pl-PL" sz="2400" dirty="0" err="1"/>
              <a:t>executing</a:t>
            </a:r>
            <a:r>
              <a:rPr lang="pl-PL" sz="2400" dirty="0"/>
              <a:t> </a:t>
            </a:r>
            <a:r>
              <a:rPr lang="pl-PL" sz="2400" dirty="0" err="1"/>
              <a:t>components</a:t>
            </a:r>
            <a:r>
              <a:rPr lang="pl-PL" sz="2400" dirty="0"/>
              <a:t> and </a:t>
            </a:r>
            <a:r>
              <a:rPr lang="pl-PL" sz="2400" dirty="0" err="1"/>
              <a:t>how</a:t>
            </a:r>
            <a:r>
              <a:rPr lang="pl-PL" sz="2400" dirty="0"/>
              <a:t> do </a:t>
            </a:r>
            <a:r>
              <a:rPr lang="pl-PL" sz="2400" dirty="0" err="1"/>
              <a:t>they</a:t>
            </a:r>
            <a:r>
              <a:rPr lang="pl-PL" sz="2400" dirty="0"/>
              <a:t> </a:t>
            </a:r>
            <a:r>
              <a:rPr lang="pl-PL" sz="2400" dirty="0" err="1"/>
              <a:t>interact</a:t>
            </a:r>
            <a:r>
              <a:rPr lang="pl-PL" sz="2400" dirty="0"/>
              <a:t> </a:t>
            </a:r>
            <a:r>
              <a:rPr lang="pl-PL" sz="2400" dirty="0" err="1"/>
              <a:t>at</a:t>
            </a:r>
            <a:r>
              <a:rPr lang="pl-PL" sz="2400" dirty="0"/>
              <a:t> </a:t>
            </a:r>
            <a:r>
              <a:rPr lang="pl-PL" sz="2400" dirty="0" err="1"/>
              <a:t>runtime</a:t>
            </a:r>
            <a:r>
              <a:rPr lang="pl-PL" sz="2400" dirty="0"/>
              <a:t>?</a:t>
            </a:r>
          </a:p>
          <a:p>
            <a:pPr lvl="1"/>
            <a:r>
              <a:rPr lang="pl-PL" sz="2400" dirty="0" err="1"/>
              <a:t>What</a:t>
            </a:r>
            <a:r>
              <a:rPr lang="pl-PL" sz="2400" dirty="0"/>
              <a:t> </a:t>
            </a:r>
            <a:r>
              <a:rPr lang="pl-PL" sz="2400" dirty="0" err="1"/>
              <a:t>are</a:t>
            </a:r>
            <a:r>
              <a:rPr lang="pl-PL" sz="2400" dirty="0"/>
              <a:t> the major </a:t>
            </a:r>
            <a:r>
              <a:rPr lang="pl-PL" sz="2400" dirty="0" err="1"/>
              <a:t>shared</a:t>
            </a:r>
            <a:r>
              <a:rPr lang="pl-PL" sz="2400" dirty="0"/>
              <a:t> data stores?</a:t>
            </a:r>
          </a:p>
          <a:p>
            <a:pPr lvl="1"/>
            <a:r>
              <a:rPr lang="pl-PL" sz="2400" dirty="0" err="1"/>
              <a:t>Which</a:t>
            </a:r>
            <a:r>
              <a:rPr lang="pl-PL" sz="2400" dirty="0"/>
              <a:t> </a:t>
            </a:r>
            <a:r>
              <a:rPr lang="pl-PL" sz="2400" dirty="0" err="1"/>
              <a:t>parts</a:t>
            </a:r>
            <a:r>
              <a:rPr lang="pl-PL" sz="2400" dirty="0"/>
              <a:t> of the system </a:t>
            </a:r>
            <a:r>
              <a:rPr lang="pl-PL" sz="2400" dirty="0" err="1"/>
              <a:t>are</a:t>
            </a:r>
            <a:r>
              <a:rPr lang="pl-PL" sz="2400" dirty="0"/>
              <a:t> </a:t>
            </a:r>
            <a:r>
              <a:rPr lang="pl-PL" sz="2400" dirty="0" err="1"/>
              <a:t>replicated</a:t>
            </a:r>
            <a:r>
              <a:rPr lang="pl-PL" sz="2400" dirty="0"/>
              <a:t>?</a:t>
            </a:r>
          </a:p>
          <a:p>
            <a:pPr lvl="1"/>
            <a:r>
              <a:rPr lang="pl-PL" sz="2400" dirty="0"/>
              <a:t>How </a:t>
            </a:r>
            <a:r>
              <a:rPr lang="pl-PL" sz="2400" dirty="0" err="1"/>
              <a:t>does</a:t>
            </a:r>
            <a:r>
              <a:rPr lang="pl-PL" sz="2400" dirty="0"/>
              <a:t> data </a:t>
            </a:r>
            <a:r>
              <a:rPr lang="pl-PL" sz="2400" dirty="0" err="1"/>
              <a:t>progress</a:t>
            </a:r>
            <a:r>
              <a:rPr lang="pl-PL" sz="2400" dirty="0"/>
              <a:t> </a:t>
            </a:r>
            <a:r>
              <a:rPr lang="pl-PL" sz="2400" dirty="0" err="1"/>
              <a:t>through</a:t>
            </a:r>
            <a:r>
              <a:rPr lang="pl-PL" sz="2400" dirty="0"/>
              <a:t> the system?</a:t>
            </a:r>
          </a:p>
          <a:p>
            <a:pPr lvl="1"/>
            <a:r>
              <a:rPr lang="pl-PL" sz="2400" dirty="0"/>
              <a:t>What parts of the system can run in parallel?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Software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MapReduce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700808"/>
            <a:ext cx="8640960" cy="3744416"/>
          </a:xfr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i="1" dirty="0"/>
              <a:t>Allocation structures </a:t>
            </a:r>
            <a:r>
              <a:rPr lang="en-US" dirty="0"/>
              <a:t>show the relationship between the </a:t>
            </a:r>
            <a:r>
              <a:rPr lang="en-US" i="1" dirty="0"/>
              <a:t>software elements </a:t>
            </a:r>
            <a:r>
              <a:rPr lang="en-US" dirty="0"/>
              <a:t>and elements in one or more </a:t>
            </a:r>
            <a:r>
              <a:rPr lang="en-US" i="1" dirty="0"/>
              <a:t>external environments </a:t>
            </a:r>
            <a:r>
              <a:rPr lang="en-US" dirty="0"/>
              <a:t>in which the software is created and executed. </a:t>
            </a:r>
          </a:p>
          <a:p>
            <a:r>
              <a:rPr lang="en-US" b="1" i="1" dirty="0"/>
              <a:t>Allocation views </a:t>
            </a:r>
            <a:r>
              <a:rPr lang="en-US" dirty="0"/>
              <a:t>help us answer questions such as these:</a:t>
            </a:r>
          </a:p>
          <a:p>
            <a:pPr lvl="1"/>
            <a:r>
              <a:rPr lang="en-US" dirty="0"/>
              <a:t>What </a:t>
            </a:r>
            <a:r>
              <a:rPr lang="en-US" b="1" dirty="0"/>
              <a:t>processor</a:t>
            </a:r>
            <a:r>
              <a:rPr lang="en-US" dirty="0"/>
              <a:t> does each software element execute on?</a:t>
            </a:r>
          </a:p>
          <a:p>
            <a:pPr lvl="1"/>
            <a:r>
              <a:rPr lang="en-US" dirty="0"/>
              <a:t>In what directories or </a:t>
            </a:r>
            <a:r>
              <a:rPr lang="en-US" b="1" dirty="0"/>
              <a:t>files</a:t>
            </a:r>
            <a:r>
              <a:rPr lang="en-US" dirty="0"/>
              <a:t> is each element stored during development, testing, and system building?</a:t>
            </a:r>
          </a:p>
          <a:p>
            <a:pPr lvl="1"/>
            <a:r>
              <a:rPr lang="en-US" dirty="0"/>
              <a:t>What is the assignment of each software element to development </a:t>
            </a:r>
            <a:r>
              <a:rPr lang="en-US" b="1" dirty="0"/>
              <a:t>teams</a:t>
            </a:r>
            <a:r>
              <a:rPr lang="en-US" dirty="0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Software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Provide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435280" cy="50875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Each structure provides a perspective for reasoning about some of the relevant quality attributes.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module structure</a:t>
            </a:r>
            <a:r>
              <a:rPr lang="en-US" dirty="0"/>
              <a:t>, which embodies what modules use what other modules, is strongly tied to the ease with which a system can be extended.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concurrency structure</a:t>
            </a:r>
            <a:r>
              <a:rPr lang="en-US" dirty="0"/>
              <a:t>, which embodies parallelism within the system, is strongly tied to the ease with which a system can be made free of deadlock and performance bottlenecks.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deployment structure </a:t>
            </a:r>
            <a:r>
              <a:rPr lang="en-US" dirty="0"/>
              <a:t>is strongly tied to the achievement of performance, availability, and security goals.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133600"/>
            <a:ext cx="8605837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611188" y="549275"/>
            <a:ext cx="8229600" cy="779463"/>
          </a:xfrm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>
              <a:defRPr/>
            </a:pPr>
            <a:r>
              <a:rPr lang="en-US" altLang="zh-CN" sz="4200" dirty="0">
                <a:solidFill>
                  <a:srgbClr val="953735"/>
                </a:solidFill>
                <a:latin typeface="Calibri" panose="020F0502020204030204" charset="0"/>
                <a:ea typeface="PMingLiU" panose="02020500000000000000" pitchFamily="18" charset="-120"/>
                <a:cs typeface="PMingLiU" panose="02020500000000000000" pitchFamily="18" charset="-120"/>
              </a:rPr>
              <a:t>Computation Partitioning</a:t>
            </a:r>
            <a:br>
              <a:rPr lang="en-US" altLang="zh-CN" sz="4200" dirty="0">
                <a:solidFill>
                  <a:srgbClr val="953735"/>
                </a:solidFill>
                <a:latin typeface="Calibri" panose="020F0502020204030204" charset="0"/>
                <a:ea typeface="PMingLiU" panose="02020500000000000000" pitchFamily="18" charset="-120"/>
                <a:cs typeface="PMingLiU" panose="02020500000000000000" pitchFamily="18" charset="-120"/>
              </a:rPr>
            </a:br>
            <a:r>
              <a:rPr lang="en-US" altLang="zh-CN" sz="3800" dirty="0">
                <a:solidFill>
                  <a:srgbClr val="953735"/>
                </a:solidFill>
                <a:latin typeface="Calibri" panose="020F0502020204030204" charset="0"/>
                <a:ea typeface="PMingLiU" panose="02020500000000000000" pitchFamily="18" charset="-120"/>
                <a:cs typeface="PMingLiU" panose="02020500000000000000" pitchFamily="18" charset="-120"/>
              </a:rPr>
              <a:t>a simple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838" y="2854325"/>
            <a:ext cx="57467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5875" y="2854325"/>
            <a:ext cx="576263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2500" y="2854325"/>
            <a:ext cx="576263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6100" y="2854325"/>
            <a:ext cx="576263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2725" y="2854325"/>
            <a:ext cx="576263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6325" y="2854325"/>
            <a:ext cx="792163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7413" y="2854325"/>
            <a:ext cx="57467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575" y="3060700"/>
            <a:ext cx="71913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1.89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9613" y="3070225"/>
            <a:ext cx="7207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1.42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6238" y="3070225"/>
            <a:ext cx="7207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2863" y="3070225"/>
            <a:ext cx="71913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7900" y="3070225"/>
            <a:ext cx="7207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3088" y="3070225"/>
            <a:ext cx="71913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1150" y="3070225"/>
            <a:ext cx="71913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9213" y="3060700"/>
            <a:ext cx="71913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7813" y="3502025"/>
            <a:ext cx="7207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4438" y="3502025"/>
            <a:ext cx="71913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1063" y="3502025"/>
            <a:ext cx="71913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6100" y="3502025"/>
            <a:ext cx="7207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88" y="3502025"/>
            <a:ext cx="71913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6325" y="3502025"/>
            <a:ext cx="7207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4388" y="3502025"/>
            <a:ext cx="7207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0.28</a:t>
            </a:r>
          </a:p>
        </p:txBody>
      </p:sp>
      <p:sp>
        <p:nvSpPr>
          <p:cNvPr id="41" name="圆角矩形 40"/>
          <p:cNvSpPr/>
          <p:nvPr/>
        </p:nvSpPr>
        <p:spPr bwMode="auto">
          <a:xfrm>
            <a:off x="3276600" y="2638425"/>
            <a:ext cx="4608513" cy="1511300"/>
          </a:xfrm>
          <a:prstGeom prst="roundRect">
            <a:avLst/>
          </a:prstGeom>
          <a:solidFill>
            <a:schemeClr val="accent3">
              <a:lumMod val="75000"/>
              <a:alpha val="33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zh-CN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555" name="Rectangle 3"/>
          <p:cNvSpPr txBox="1"/>
          <p:nvPr/>
        </p:nvSpPr>
        <p:spPr bwMode="auto">
          <a:xfrm>
            <a:off x="346075" y="1773238"/>
            <a:ext cx="8785225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</a:pPr>
            <a:endParaRPr lang="en-US" altLang="zh-CN" sz="3200" b="1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252413" y="4870450"/>
            <a:ext cx="8639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000" b="1">
                <a:latin typeface="Calibri" panose="020F0502020204030204" charset="0"/>
              </a:rPr>
              <a:t>Optimal Partitioning  </a:t>
            </a:r>
            <a:r>
              <a:rPr lang="en-US" altLang="zh-CN" sz="2000">
                <a:latin typeface="Calibri" panose="020F0502020204030204" charset="0"/>
              </a:rPr>
              <a:t>0.28 + 0.55 + 0.84 + </a:t>
            </a:r>
            <a:r>
              <a:rPr lang="en-US" altLang="zh-CN" sz="2000" u="sng">
                <a:latin typeface="Calibri" panose="020F0502020204030204" charset="0"/>
              </a:rPr>
              <a:t>0.2 + 0.3 + 0.2 + 0.15 + 0.1</a:t>
            </a:r>
            <a:r>
              <a:rPr lang="en-US" altLang="zh-CN" sz="2000">
                <a:latin typeface="Calibri" panose="020F0502020204030204" charset="0"/>
              </a:rPr>
              <a:t> + 0.31 = 2.93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252413" y="5402263"/>
            <a:ext cx="8639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000" b="1">
                <a:latin typeface="Calibri" panose="020F0502020204030204" charset="0"/>
              </a:rPr>
              <a:t>Local Execution</a:t>
            </a:r>
            <a:r>
              <a:rPr lang="en-US" altLang="zh-CN" sz="2000">
                <a:latin typeface="Calibri" panose="020F0502020204030204" charset="0"/>
              </a:rPr>
              <a:t>: 0.28 + 0.55 + 0.55 + 0.86 + 0.55 + 0.44 + 0.28 = 3.51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252413" y="5937250"/>
            <a:ext cx="8639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000" b="1">
                <a:latin typeface="Calibri" panose="020F0502020204030204" charset="0"/>
              </a:rPr>
              <a:t>Remote Execution</a:t>
            </a:r>
            <a:r>
              <a:rPr lang="en-US" altLang="zh-CN" sz="2000">
                <a:latin typeface="Calibri" panose="020F0502020204030204" charset="0"/>
              </a:rPr>
              <a:t>: 1.89 +</a:t>
            </a:r>
            <a:r>
              <a:rPr lang="en-US" altLang="zh-CN" sz="2000" u="sng">
                <a:latin typeface="Calibri" panose="020F0502020204030204" charset="0"/>
              </a:rPr>
              <a:t> 0.1 + 0.2 + 0.2 + 0.3 + 0.2 + 0.15 + 0.1</a:t>
            </a:r>
            <a:r>
              <a:rPr lang="en-US" altLang="zh-CN" sz="2000">
                <a:latin typeface="Calibri" panose="020F0502020204030204" charset="0"/>
              </a:rPr>
              <a:t> + 0.31 = 3.45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41" grpId="0" animBg="1"/>
      <p:bldP spid="37" grpId="0"/>
      <p:bldP spid="38" grpId="0"/>
      <p:bldP spid="3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91264" cy="49685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Decomposition structure</a:t>
            </a:r>
          </a:p>
          <a:p>
            <a:r>
              <a:rPr lang="en-US" dirty="0"/>
              <a:t>The units are modules that are related to each other by the </a:t>
            </a:r>
            <a:r>
              <a:rPr lang="en-US" i="1" dirty="0"/>
              <a:t>is-a-submodule-of</a:t>
            </a:r>
            <a:r>
              <a:rPr lang="en-US" dirty="0"/>
              <a:t> relation.</a:t>
            </a:r>
          </a:p>
          <a:p>
            <a:r>
              <a:rPr lang="en-US" dirty="0"/>
              <a:t>It shows how modules are decomposed into smaller modules recursively until the modules are small enough to be easily understood. </a:t>
            </a:r>
          </a:p>
          <a:p>
            <a:r>
              <a:rPr lang="en-US" dirty="0"/>
              <a:t>Modules often have products (such as interface specifications, code, test plans, etc.) associated with them. </a:t>
            </a:r>
          </a:p>
          <a:p>
            <a:r>
              <a:rPr lang="en-US" dirty="0"/>
              <a:t>The decomposition structure determines, to a large degree, the system’s modifiability, by assuring that likely changes are localized.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400" y="548680"/>
            <a:ext cx="7715200" cy="77809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Decomposition structure: an example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669" y="1831828"/>
            <a:ext cx="7406698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64D27-43A5-F01A-05F5-68FF493D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Decomposition structure: an example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677F38-3CB7-A228-2ACD-697E9637A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732C38-4355-9F05-0752-77A19A16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6D0E67-F4D1-1807-C947-137A35294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301700"/>
            <a:ext cx="3731690" cy="484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026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B72FA-AD67-B8C9-FE0D-5EF53A5FF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乐高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541A36-D303-5ACC-3CC5-BD92DA2A8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乐高最神奇的地方是什么？是你可以用一套积木，按照说明书拼出一艘飞船，然后拆掉它，又能用同样的积木拼出一座城堡。</a:t>
            </a:r>
          </a:p>
          <a:p>
            <a:r>
              <a:rPr lang="zh-CN" altLang="en-US" dirty="0"/>
              <a:t>它的魔力来自于两个核心：</a:t>
            </a:r>
          </a:p>
          <a:p>
            <a:r>
              <a:rPr lang="zh-CN" altLang="en-US" b="1" dirty="0"/>
              <a:t>标准化的接口</a:t>
            </a:r>
            <a:r>
              <a:rPr lang="zh-CN" altLang="en-US" dirty="0"/>
              <a:t>：每一块乐高积木上的凸起和孔洞都遵循极其精确的尺寸标准。这意味着任何两块乐高，只要它们是正品，就一定能严丝合缝地组合在一起。</a:t>
            </a:r>
          </a:p>
          <a:p>
            <a:r>
              <a:rPr lang="zh-CN" altLang="en-US" b="1" dirty="0"/>
              <a:t>可重用的模式</a:t>
            </a:r>
            <a:r>
              <a:rPr lang="zh-CN" altLang="en-US" dirty="0"/>
              <a:t>：乐高官方和玩家社区总结了无数种“搭建模式”，比如如何砌墙、如何做铰链门、如何拼出一个球形。你不需要从零开始发明，可以站在巨人的肩膀上。</a:t>
            </a: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C2E4D3-6D7D-B78A-A0C4-D86BF6E8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24103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Uses structure. </a:t>
            </a:r>
          </a:p>
          <a:p>
            <a:r>
              <a:rPr lang="en-US" dirty="0"/>
              <a:t>The units here are also modules, perhaps classes. </a:t>
            </a:r>
          </a:p>
          <a:p>
            <a:r>
              <a:rPr lang="en-US" dirty="0"/>
              <a:t>The units are related by the </a:t>
            </a:r>
            <a:r>
              <a:rPr lang="en-US" i="1" dirty="0">
                <a:solidFill>
                  <a:srgbClr val="C00000"/>
                </a:solidFill>
              </a:rPr>
              <a:t>uses</a:t>
            </a:r>
            <a:r>
              <a:rPr lang="en-US" dirty="0"/>
              <a:t> relation, a specialized form of dependency. </a:t>
            </a:r>
          </a:p>
          <a:p>
            <a:r>
              <a:rPr lang="en-US" dirty="0"/>
              <a:t>A unit of software </a:t>
            </a:r>
            <a:r>
              <a:rPr lang="en-US" i="1" dirty="0">
                <a:solidFill>
                  <a:srgbClr val="C00000"/>
                </a:solidFill>
              </a:rPr>
              <a:t>uses</a:t>
            </a:r>
            <a:r>
              <a:rPr lang="en-US" dirty="0"/>
              <a:t> another if the correctness of the first requires the presence of a correctly functioning version of the second.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49DB59-D7A9-E54B-C4FC-FEF0B0E67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912" y="1628800"/>
            <a:ext cx="6156176" cy="4564986"/>
          </a:xfrm>
          <a:prstGeom prst="rect">
            <a:avLst/>
          </a:prstGeo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4751788E-28B4-0F5F-63B1-3B94D73B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b="1" dirty="0" err="1"/>
              <a:t>Layer</a:t>
            </a:r>
            <a:r>
              <a:rPr lang="pl-PL" b="1" dirty="0"/>
              <a:t> </a:t>
            </a:r>
            <a:r>
              <a:rPr lang="pl-PL" b="1" dirty="0" err="1"/>
              <a:t>structure</a:t>
            </a:r>
            <a:endParaRPr lang="pl-PL" b="1" dirty="0"/>
          </a:p>
          <a:p>
            <a:r>
              <a:rPr lang="pl-PL" dirty="0"/>
              <a:t>The </a:t>
            </a:r>
            <a:r>
              <a:rPr lang="pl-PL" dirty="0" err="1"/>
              <a:t>modules</a:t>
            </a:r>
            <a:r>
              <a:rPr lang="pl-PL" dirty="0"/>
              <a:t> in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called</a:t>
            </a:r>
            <a:r>
              <a:rPr lang="pl-PL" dirty="0"/>
              <a:t> </a:t>
            </a:r>
            <a:r>
              <a:rPr lang="pl-PL" i="1" dirty="0" err="1"/>
              <a:t>layers</a:t>
            </a:r>
            <a:r>
              <a:rPr lang="pl-PL" dirty="0"/>
              <a:t>. </a:t>
            </a:r>
          </a:p>
          <a:p>
            <a:r>
              <a:rPr lang="pl-PL" dirty="0"/>
              <a:t>A </a:t>
            </a:r>
            <a:r>
              <a:rPr lang="pl-PL" dirty="0" err="1"/>
              <a:t>layer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an</a:t>
            </a:r>
            <a:r>
              <a:rPr lang="pl-PL" dirty="0"/>
              <a:t> </a:t>
            </a:r>
            <a:r>
              <a:rPr lang="pl-PL" dirty="0" err="1"/>
              <a:t>abstract</a:t>
            </a:r>
            <a:r>
              <a:rPr lang="pl-PL" dirty="0"/>
              <a:t> “</a:t>
            </a:r>
            <a:r>
              <a:rPr lang="pl-PL" dirty="0" err="1"/>
              <a:t>virtual</a:t>
            </a:r>
            <a:r>
              <a:rPr lang="pl-PL" dirty="0"/>
              <a:t> </a:t>
            </a:r>
            <a:r>
              <a:rPr lang="pl-PL" dirty="0" err="1"/>
              <a:t>machine</a:t>
            </a:r>
            <a:r>
              <a:rPr lang="pl-PL" dirty="0"/>
              <a:t>”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provides</a:t>
            </a:r>
            <a:r>
              <a:rPr lang="pl-PL" dirty="0"/>
              <a:t> a </a:t>
            </a:r>
            <a:r>
              <a:rPr lang="pl-PL" dirty="0" err="1"/>
              <a:t>cohesive</a:t>
            </a:r>
            <a:r>
              <a:rPr lang="pl-PL" dirty="0"/>
              <a:t> set of services </a:t>
            </a:r>
            <a:r>
              <a:rPr lang="pl-PL" dirty="0" err="1"/>
              <a:t>through</a:t>
            </a:r>
            <a:r>
              <a:rPr lang="pl-PL" dirty="0"/>
              <a:t> a </a:t>
            </a:r>
            <a:r>
              <a:rPr lang="pl-PL" dirty="0" err="1"/>
              <a:t>managed</a:t>
            </a:r>
            <a:r>
              <a:rPr lang="pl-PL" dirty="0"/>
              <a:t> </a:t>
            </a:r>
            <a:r>
              <a:rPr lang="pl-PL" dirty="0" err="1"/>
              <a:t>interface</a:t>
            </a:r>
            <a:r>
              <a:rPr lang="pl-PL" dirty="0"/>
              <a:t>. </a:t>
            </a:r>
          </a:p>
          <a:p>
            <a:r>
              <a:rPr lang="pl-PL" dirty="0" err="1"/>
              <a:t>Layers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i="1" dirty="0" err="1"/>
              <a:t>allowed</a:t>
            </a:r>
            <a:r>
              <a:rPr lang="pl-PL" i="1" dirty="0"/>
              <a:t> to </a:t>
            </a:r>
            <a:r>
              <a:rPr lang="pl-PL" i="1" dirty="0" err="1"/>
              <a:t>use</a:t>
            </a:r>
            <a:r>
              <a:rPr lang="pl-PL" i="1" dirty="0"/>
              <a:t> </a:t>
            </a:r>
            <a:r>
              <a:rPr lang="pl-PL" dirty="0" err="1"/>
              <a:t>other</a:t>
            </a:r>
            <a:r>
              <a:rPr lang="pl-PL" dirty="0"/>
              <a:t> </a:t>
            </a:r>
            <a:r>
              <a:rPr lang="pl-PL" dirty="0" err="1"/>
              <a:t>layers</a:t>
            </a:r>
            <a:r>
              <a:rPr lang="pl-PL" dirty="0"/>
              <a:t> in a </a:t>
            </a:r>
            <a:r>
              <a:rPr lang="pl-PL" dirty="0" err="1"/>
              <a:t>strictly</a:t>
            </a:r>
            <a:r>
              <a:rPr lang="pl-PL" dirty="0"/>
              <a:t> </a:t>
            </a:r>
            <a:r>
              <a:rPr lang="pl-PL" dirty="0" err="1"/>
              <a:t>managed</a:t>
            </a:r>
            <a:r>
              <a:rPr lang="pl-PL" dirty="0"/>
              <a:t> </a:t>
            </a:r>
            <a:r>
              <a:rPr lang="pl-PL" dirty="0" err="1"/>
              <a:t>fashion</a:t>
            </a:r>
            <a:r>
              <a:rPr lang="pl-PL" dirty="0"/>
              <a:t>.</a:t>
            </a:r>
          </a:p>
          <a:p>
            <a:pPr lvl="1"/>
            <a:r>
              <a:rPr lang="pl-PL" dirty="0"/>
              <a:t>In </a:t>
            </a:r>
            <a:r>
              <a:rPr lang="pl-PL" dirty="0" err="1"/>
              <a:t>strictly</a:t>
            </a:r>
            <a:r>
              <a:rPr lang="pl-PL" dirty="0"/>
              <a:t> </a:t>
            </a:r>
            <a:r>
              <a:rPr lang="pl-PL" dirty="0" err="1"/>
              <a:t>layered</a:t>
            </a:r>
            <a:r>
              <a:rPr lang="pl-PL" dirty="0"/>
              <a:t> </a:t>
            </a:r>
            <a:r>
              <a:rPr lang="pl-PL" dirty="0" err="1"/>
              <a:t>systems</a:t>
            </a:r>
            <a:r>
              <a:rPr lang="pl-PL" dirty="0"/>
              <a:t>, a </a:t>
            </a:r>
            <a:r>
              <a:rPr lang="pl-PL" dirty="0" err="1"/>
              <a:t>layer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only</a:t>
            </a:r>
            <a:r>
              <a:rPr lang="pl-PL" dirty="0"/>
              <a:t> </a:t>
            </a:r>
            <a:r>
              <a:rPr lang="pl-PL" dirty="0" err="1"/>
              <a:t>allowed</a:t>
            </a:r>
            <a:r>
              <a:rPr lang="pl-PL" dirty="0"/>
              <a:t> to </a:t>
            </a:r>
            <a:r>
              <a:rPr lang="pl-PL" dirty="0" err="1"/>
              <a:t>use</a:t>
            </a:r>
            <a:r>
              <a:rPr lang="pl-PL" dirty="0"/>
              <a:t> a single </a:t>
            </a:r>
            <a:r>
              <a:rPr lang="pl-PL" dirty="0" err="1"/>
              <a:t>other</a:t>
            </a:r>
            <a:r>
              <a:rPr lang="pl-PL" dirty="0"/>
              <a:t> </a:t>
            </a:r>
            <a:r>
              <a:rPr lang="pl-PL" dirty="0" err="1"/>
              <a:t>layer</a:t>
            </a:r>
            <a:r>
              <a:rPr lang="pl-PL" dirty="0"/>
              <a:t>. </a:t>
            </a:r>
          </a:p>
          <a:p>
            <a:r>
              <a:rPr lang="pl-PL" dirty="0"/>
              <a:t>This structure imbues a system with portability, the ability to change the underlying computing platform.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D9BD7-AE86-4BB8-6FFF-A3A588625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UNIX System V </a:t>
            </a:r>
            <a:r>
              <a:rPr lang="zh-CN" altLang="en-US" dirty="0"/>
              <a:t>操作系统的层结构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64D832-EBA8-2157-2A6B-9B711A97C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715F9C-F20A-EB1A-528A-7EA0622B0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E09B0F-959E-563E-6DE1-D9FA8D670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947" y="1340768"/>
            <a:ext cx="4868106" cy="508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402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60" y="1268761"/>
            <a:ext cx="8363272" cy="54005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sz="3000" dirty="0"/>
              <a:t>Class (</a:t>
            </a:r>
            <a:r>
              <a:rPr lang="pl-PL" sz="3000" dirty="0" err="1"/>
              <a:t>or</a:t>
            </a:r>
            <a:r>
              <a:rPr lang="pl-PL" sz="3000" dirty="0"/>
              <a:t> </a:t>
            </a:r>
            <a:r>
              <a:rPr lang="pl-PL" sz="3000" dirty="0" err="1"/>
              <a:t>generalization</a:t>
            </a:r>
            <a:r>
              <a:rPr lang="pl-PL" sz="3000" dirty="0"/>
              <a:t>) </a:t>
            </a:r>
            <a:r>
              <a:rPr lang="pl-PL" sz="3000" dirty="0" err="1"/>
              <a:t>structure</a:t>
            </a:r>
            <a:endParaRPr lang="pl-PL" sz="3000" dirty="0"/>
          </a:p>
          <a:p>
            <a:r>
              <a:rPr lang="pl-PL" sz="3000" dirty="0"/>
              <a:t>The module </a:t>
            </a:r>
            <a:r>
              <a:rPr lang="pl-PL" sz="3000" dirty="0" err="1"/>
              <a:t>units</a:t>
            </a:r>
            <a:r>
              <a:rPr lang="pl-PL" sz="3000" dirty="0"/>
              <a:t> in </a:t>
            </a:r>
            <a:r>
              <a:rPr lang="pl-PL" sz="3000" dirty="0" err="1"/>
              <a:t>this</a:t>
            </a:r>
            <a:r>
              <a:rPr lang="pl-PL" sz="3000" dirty="0"/>
              <a:t> </a:t>
            </a:r>
            <a:r>
              <a:rPr lang="pl-PL" sz="3000" dirty="0" err="1"/>
              <a:t>structure</a:t>
            </a:r>
            <a:r>
              <a:rPr lang="pl-PL" sz="3000" dirty="0"/>
              <a:t> </a:t>
            </a:r>
            <a:r>
              <a:rPr lang="pl-PL" sz="3000" dirty="0" err="1"/>
              <a:t>are</a:t>
            </a:r>
            <a:r>
              <a:rPr lang="pl-PL" sz="3000" dirty="0"/>
              <a:t> </a:t>
            </a:r>
            <a:r>
              <a:rPr lang="pl-PL" sz="3000" dirty="0" err="1"/>
              <a:t>called</a:t>
            </a:r>
            <a:r>
              <a:rPr lang="pl-PL" sz="3000" dirty="0"/>
              <a:t> </a:t>
            </a:r>
            <a:r>
              <a:rPr lang="pl-PL" sz="3000" i="1" dirty="0" err="1"/>
              <a:t>classes</a:t>
            </a:r>
            <a:r>
              <a:rPr lang="pl-PL" sz="3000" dirty="0"/>
              <a:t>.</a:t>
            </a:r>
          </a:p>
          <a:p>
            <a:r>
              <a:rPr lang="pl-PL" sz="3000" dirty="0"/>
              <a:t>The relation is </a:t>
            </a:r>
            <a:r>
              <a:rPr lang="pl-PL" sz="3000" i="1" dirty="0"/>
              <a:t>inherits from </a:t>
            </a:r>
            <a:r>
              <a:rPr lang="pl-PL" sz="3000" dirty="0"/>
              <a:t>or </a:t>
            </a:r>
            <a:r>
              <a:rPr lang="pl-PL" sz="3000" i="1" dirty="0"/>
              <a:t>is an instance of</a:t>
            </a:r>
            <a:r>
              <a:rPr lang="pl-PL" sz="3000" dirty="0"/>
              <a:t>.</a:t>
            </a:r>
            <a:endParaRPr lang="en-US" sz="3000" dirty="0"/>
          </a:p>
          <a:p>
            <a:r>
              <a:rPr lang="en-US" altLang="zh-CN" sz="3000" b="1" i="1" dirty="0"/>
              <a:t>Inheritance</a:t>
            </a:r>
            <a:r>
              <a:rPr lang="en-US" altLang="zh-CN" sz="3000" dirty="0"/>
              <a:t> is a mechanism for </a:t>
            </a:r>
            <a:r>
              <a:rPr lang="en-US" altLang="zh-CN" sz="3000" dirty="0">
                <a:hlinkClick r:id="rId3" tooltip="Code reuse"/>
              </a:rPr>
              <a:t>code reuse</a:t>
            </a:r>
            <a:r>
              <a:rPr lang="en-US" altLang="zh-CN" sz="3000" dirty="0"/>
              <a:t> and to allow independent extensions of the original software </a:t>
            </a:r>
            <a:r>
              <a:rPr lang="pl-PL" sz="3000" dirty="0"/>
              <a:t> </a:t>
            </a:r>
            <a:endParaRPr lang="en-US" sz="3000" dirty="0"/>
          </a:p>
          <a:p>
            <a:r>
              <a:rPr lang="pl-PL" sz="3000" dirty="0"/>
              <a:t>The class structure allows one to reason about reuse and the incremental addition of functionality.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B3314-3210-5197-85EF-70024CB2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BDB4FE-C9E5-710E-6DE1-C89460ADE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438736-4CAF-60CD-B971-9FCAC1F98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658809B-CE77-C858-196C-14FCE853C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868" y="25400"/>
            <a:ext cx="5940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543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Data model </a:t>
            </a:r>
            <a:r>
              <a:rPr lang="en-US" dirty="0"/>
              <a:t>structure</a:t>
            </a:r>
            <a:endParaRPr lang="pl-PL" dirty="0"/>
          </a:p>
          <a:p>
            <a:r>
              <a:rPr lang="pl-PL" dirty="0"/>
              <a:t>The data model describes the static information structure in terms of data entities and their relationships </a:t>
            </a:r>
          </a:p>
          <a:p>
            <a:pPr lvl="1"/>
            <a:r>
              <a:rPr lang="pl-PL" dirty="0"/>
              <a:t>For </a:t>
            </a:r>
            <a:r>
              <a:rPr lang="pl-PL" dirty="0" err="1"/>
              <a:t>example</a:t>
            </a:r>
            <a:r>
              <a:rPr lang="pl-PL" dirty="0"/>
              <a:t>, in a banking system, </a:t>
            </a:r>
            <a:r>
              <a:rPr lang="pl-PL" dirty="0" err="1"/>
              <a:t>entities</a:t>
            </a:r>
            <a:r>
              <a:rPr lang="pl-PL" dirty="0"/>
              <a:t> </a:t>
            </a:r>
            <a:r>
              <a:rPr lang="pl-PL" dirty="0" err="1"/>
              <a:t>will</a:t>
            </a:r>
            <a:r>
              <a:rPr lang="pl-PL" dirty="0"/>
              <a:t> </a:t>
            </a:r>
            <a:r>
              <a:rPr lang="pl-PL" dirty="0" err="1"/>
              <a:t>typically</a:t>
            </a:r>
            <a:r>
              <a:rPr lang="pl-PL" dirty="0"/>
              <a:t> </a:t>
            </a:r>
            <a:r>
              <a:rPr lang="pl-PL" dirty="0" err="1"/>
              <a:t>include</a:t>
            </a:r>
            <a:r>
              <a:rPr lang="pl-PL" dirty="0"/>
              <a:t> </a:t>
            </a:r>
            <a:r>
              <a:rPr lang="pl-PL" dirty="0" err="1"/>
              <a:t>Account</a:t>
            </a:r>
            <a:r>
              <a:rPr lang="pl-PL" dirty="0"/>
              <a:t>, </a:t>
            </a:r>
            <a:r>
              <a:rPr lang="pl-PL" dirty="0" err="1"/>
              <a:t>Customer</a:t>
            </a:r>
            <a:r>
              <a:rPr lang="pl-PL" dirty="0"/>
              <a:t>, and </a:t>
            </a:r>
            <a:r>
              <a:rPr lang="pl-PL" dirty="0" err="1"/>
              <a:t>Loan</a:t>
            </a:r>
            <a:r>
              <a:rPr lang="pl-PL" dirty="0"/>
              <a:t>.</a:t>
            </a:r>
          </a:p>
          <a:p>
            <a:pPr lvl="1"/>
            <a:r>
              <a:rPr lang="pl-PL" dirty="0" err="1"/>
              <a:t>Account</a:t>
            </a:r>
            <a:r>
              <a:rPr lang="pl-PL" dirty="0"/>
              <a:t> </a:t>
            </a:r>
            <a:r>
              <a:rPr lang="pl-PL" dirty="0" err="1"/>
              <a:t>has</a:t>
            </a:r>
            <a:r>
              <a:rPr lang="pl-PL" dirty="0"/>
              <a:t> </a:t>
            </a:r>
            <a:r>
              <a:rPr lang="pl-PL" dirty="0" err="1"/>
              <a:t>several</a:t>
            </a:r>
            <a:r>
              <a:rPr lang="pl-PL" dirty="0"/>
              <a:t> </a:t>
            </a:r>
            <a:r>
              <a:rPr lang="pl-PL" dirty="0" err="1"/>
              <a:t>attributes</a:t>
            </a:r>
            <a:r>
              <a:rPr lang="pl-PL" dirty="0"/>
              <a:t>, </a:t>
            </a:r>
            <a:r>
              <a:rPr lang="pl-PL" dirty="0" err="1"/>
              <a:t>such</a:t>
            </a:r>
            <a:r>
              <a:rPr lang="pl-PL" dirty="0"/>
              <a:t> as </a:t>
            </a:r>
            <a:r>
              <a:rPr lang="pl-PL" dirty="0" err="1"/>
              <a:t>account</a:t>
            </a:r>
            <a:r>
              <a:rPr lang="pl-PL" dirty="0"/>
              <a:t> </a:t>
            </a:r>
            <a:r>
              <a:rPr lang="pl-PL" dirty="0" err="1"/>
              <a:t>number</a:t>
            </a:r>
            <a:r>
              <a:rPr lang="pl-PL" dirty="0"/>
              <a:t>, </a:t>
            </a:r>
            <a:r>
              <a:rPr lang="pl-PL" dirty="0" err="1"/>
              <a:t>type</a:t>
            </a:r>
            <a:r>
              <a:rPr lang="pl-PL" dirty="0"/>
              <a:t> (</a:t>
            </a:r>
            <a:r>
              <a:rPr lang="pl-PL" dirty="0" err="1"/>
              <a:t>savings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checking</a:t>
            </a:r>
            <a:r>
              <a:rPr lang="pl-PL" dirty="0"/>
              <a:t>), status, and </a:t>
            </a:r>
            <a:r>
              <a:rPr lang="pl-PL" dirty="0" err="1"/>
              <a:t>current</a:t>
            </a:r>
            <a:r>
              <a:rPr lang="pl-PL" dirty="0"/>
              <a:t> </a:t>
            </a:r>
            <a:r>
              <a:rPr lang="pl-PL" dirty="0" err="1"/>
              <a:t>balance</a:t>
            </a:r>
            <a:r>
              <a:rPr lang="pl-PL" dirty="0"/>
              <a:t>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CEF08-7868-53C9-C613-657E2C27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340D8C-B229-B5BB-DA02-1C3AD176C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9733FD-7411-CBCC-DC9A-3C2B55EF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950EEC-E6A9-BC7F-0587-5A99385AC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3800"/>
            <a:ext cx="9144000" cy="474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770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7715200" cy="778098"/>
          </a:xfrm>
        </p:spPr>
        <p:txBody>
          <a:bodyPr/>
          <a:lstStyle/>
          <a:p>
            <a:r>
              <a:rPr lang="en-US" dirty="0"/>
              <a:t>Some Useful C&amp;C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18458"/>
            <a:ext cx="8322096" cy="5040560"/>
          </a:xfrm>
        </p:spPr>
        <p:txBody>
          <a:bodyPr>
            <a:normAutofit/>
          </a:bodyPr>
          <a:lstStyle/>
          <a:p>
            <a:r>
              <a:rPr lang="en-US" dirty="0"/>
              <a:t>Service structure</a:t>
            </a:r>
          </a:p>
          <a:p>
            <a:pPr lvl="1"/>
            <a:r>
              <a:rPr lang="en-US" dirty="0"/>
              <a:t>The units are services that interoperate with each other by service coordination mechanisms such as SOAP</a:t>
            </a:r>
          </a:p>
          <a:p>
            <a:pPr lvl="1"/>
            <a:r>
              <a:rPr lang="en-US" dirty="0"/>
              <a:t>The service structure helps to engineer a system composed of components that may have been developed </a:t>
            </a:r>
            <a:r>
              <a:rPr lang="en-US" dirty="0">
                <a:solidFill>
                  <a:srgbClr val="C00000"/>
                </a:solidFill>
              </a:rPr>
              <a:t>anonymously and independently </a:t>
            </a:r>
            <a:r>
              <a:rPr lang="en-US" dirty="0"/>
              <a:t>of each other.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AE9152-2A26-09C8-0C28-96CB30B0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AF0580-10CD-4611-B245-60FF0E1A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7" y="1095375"/>
            <a:ext cx="65246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141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7715200" cy="778098"/>
          </a:xfrm>
        </p:spPr>
        <p:txBody>
          <a:bodyPr/>
          <a:lstStyle/>
          <a:p>
            <a:r>
              <a:rPr lang="en-US" dirty="0"/>
              <a:t>Some Useful C&amp;C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18458"/>
            <a:ext cx="8435280" cy="5040560"/>
          </a:xfrm>
        </p:spPr>
        <p:txBody>
          <a:bodyPr>
            <a:normAutofit/>
          </a:bodyPr>
          <a:lstStyle/>
          <a:p>
            <a:r>
              <a:rPr lang="en-US" sz="3600" dirty="0"/>
              <a:t>Concurrency structure</a:t>
            </a:r>
          </a:p>
          <a:p>
            <a:pPr lvl="1"/>
            <a:r>
              <a:rPr lang="en-US" sz="3200" dirty="0"/>
              <a:t>This structure helps determine opportunities for parallelism and the locations where resource contention may occur. </a:t>
            </a:r>
          </a:p>
          <a:p>
            <a:pPr lvl="1"/>
            <a:r>
              <a:rPr lang="en-US" sz="3200" dirty="0"/>
              <a:t>The units are components</a:t>
            </a:r>
          </a:p>
          <a:p>
            <a:pPr lvl="1"/>
            <a:r>
              <a:rPr lang="en-US" sz="3200" dirty="0"/>
              <a:t>The connectors are their communication mechanisms. </a:t>
            </a:r>
          </a:p>
          <a:p>
            <a:pPr lvl="1"/>
            <a:r>
              <a:rPr lang="en-US" sz="3200" dirty="0"/>
              <a:t>The components are arranged into logical threads.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908720"/>
            <a:ext cx="5668805" cy="4255246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Useful Allocation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8759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Deployment structure</a:t>
            </a:r>
          </a:p>
          <a:p>
            <a:r>
              <a:rPr lang="en-US" dirty="0"/>
              <a:t>The deployment structure shows how software is assigned to hardware processing and communication elements. </a:t>
            </a:r>
          </a:p>
          <a:p>
            <a:r>
              <a:rPr lang="en-US" dirty="0"/>
              <a:t>The elements are software elements (usually a process from a C&amp;C view), hardware entities (processors), and communication pathways. </a:t>
            </a:r>
          </a:p>
          <a:p>
            <a:r>
              <a:rPr lang="en-US" dirty="0"/>
              <a:t>Relations are </a:t>
            </a:r>
            <a:r>
              <a:rPr lang="en-US" b="1" dirty="0">
                <a:solidFill>
                  <a:schemeClr val="tx2"/>
                </a:solidFill>
              </a:rPr>
              <a:t>allocated-to</a:t>
            </a:r>
            <a:r>
              <a:rPr lang="en-US" dirty="0"/>
              <a:t>, showing on which physical units the software elements reside, and migrates-to if the allocation is dynamic. </a:t>
            </a:r>
          </a:p>
          <a:p>
            <a:r>
              <a:rPr lang="en-US" dirty="0"/>
              <a:t>This structure can be used to reason about performance, data integrity, security, and availability. </a:t>
            </a:r>
          </a:p>
          <a:p>
            <a:r>
              <a:rPr lang="en-US" dirty="0"/>
              <a:t>It is of particular interest in distributed and parallel systems.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473452"/>
            <a:ext cx="7715200" cy="778098"/>
          </a:xfrm>
        </p:spPr>
        <p:txBody>
          <a:bodyPr/>
          <a:lstStyle/>
          <a:p>
            <a:r>
              <a:rPr lang="en-US" altLang="zh-CN" dirty="0"/>
              <a:t>Task allocation in mobile cloud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5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204864"/>
            <a:ext cx="5664578" cy="3961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812036"/>
            <a:ext cx="2887357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箭头: 右 11"/>
          <p:cNvSpPr/>
          <p:nvPr/>
        </p:nvSpPr>
        <p:spPr>
          <a:xfrm>
            <a:off x="2843808" y="3943065"/>
            <a:ext cx="57606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Useful Allocation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507288" cy="4857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Implementation structure </a:t>
            </a:r>
          </a:p>
          <a:p>
            <a:r>
              <a:rPr lang="en-US" dirty="0"/>
              <a:t>This structure shows how software elements (usually modules) are mapped to </a:t>
            </a:r>
            <a:r>
              <a:rPr lang="en-US" dirty="0">
                <a:solidFill>
                  <a:srgbClr val="C00000"/>
                </a:solidFill>
              </a:rPr>
              <a:t>the file structure(s)</a:t>
            </a:r>
            <a:r>
              <a:rPr lang="en-US" dirty="0"/>
              <a:t> in the system’s development, integration, or configuration control environments.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Implementation structure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341438"/>
            <a:ext cx="81915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Useful Allocation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507288" cy="4857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Work assignment structure</a:t>
            </a:r>
          </a:p>
          <a:p>
            <a:r>
              <a:rPr lang="en-US" dirty="0"/>
              <a:t>This structure assigns responsibility for implementing and integrating the modules to the </a:t>
            </a:r>
            <a:r>
              <a:rPr lang="en-US" dirty="0">
                <a:solidFill>
                  <a:srgbClr val="C00000"/>
                </a:solidFill>
              </a:rPr>
              <a:t>teams</a:t>
            </a:r>
            <a:r>
              <a:rPr lang="en-US" dirty="0"/>
              <a:t> who will carry it out.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494679-F6C2-D730-9A79-00F4041F5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65A5D7-8766-D1A3-414C-06AA0BB31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036"/>
            <a:ext cx="9144000" cy="517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615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53530B-9078-39B9-1E3B-DC89BE1F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C6D850-C8E4-25B7-2C28-EDA0980A9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53" y="103250"/>
            <a:ext cx="7644694" cy="44058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46EB23F-02A3-C0C9-AE57-F46DCC54F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385120"/>
            <a:ext cx="7566763" cy="173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20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Relating Structures to Each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Elements of one structure will be related to elements of other structures, and we need to reason about these relations. </a:t>
            </a:r>
          </a:p>
          <a:p>
            <a:pPr lvl="1"/>
            <a:r>
              <a:rPr lang="en-US" dirty="0"/>
              <a:t>A module in a decomposition structure may be manifested as one, part of one, or several components in one of the component-and-connector structures. </a:t>
            </a:r>
          </a:p>
          <a:p>
            <a:r>
              <a:rPr lang="en-US" dirty="0"/>
              <a:t>In general, mappings between structures are many to many.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vs. Components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CAFB10B-C0C1-3C14-60B3-72B559173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6"/>
            <a:ext cx="8784976" cy="4743403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507288" cy="5184576"/>
          </a:xfrm>
        </p:spPr>
        <p:txBody>
          <a:bodyPr>
            <a:normAutofit/>
          </a:bodyPr>
          <a:lstStyle/>
          <a:p>
            <a:r>
              <a:rPr lang="pl-PL" dirty="0"/>
              <a:t>An </a:t>
            </a:r>
            <a:r>
              <a:rPr lang="pl-PL" dirty="0">
                <a:solidFill>
                  <a:schemeClr val="tx2"/>
                </a:solidFill>
              </a:rPr>
              <a:t>architectural pattern </a:t>
            </a:r>
            <a:r>
              <a:rPr lang="en-US" dirty="0"/>
              <a:t>presents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pl-PL" dirty="0"/>
              <a:t>the element types and their forms of interaction used in solving </a:t>
            </a:r>
            <a:r>
              <a:rPr lang="en-US" dirty="0"/>
              <a:t>a particular</a:t>
            </a:r>
            <a:r>
              <a:rPr lang="pl-PL" dirty="0"/>
              <a:t> problem.</a:t>
            </a:r>
          </a:p>
          <a:p>
            <a:r>
              <a:rPr lang="pl-PL" dirty="0"/>
              <a:t>A common </a:t>
            </a:r>
            <a:r>
              <a:rPr lang="pl-PL" i="1" dirty="0">
                <a:solidFill>
                  <a:schemeClr val="tx2"/>
                </a:solidFill>
              </a:rPr>
              <a:t>module type </a:t>
            </a:r>
            <a:r>
              <a:rPr lang="pl-PL" dirty="0">
                <a:solidFill>
                  <a:schemeClr val="tx2"/>
                </a:solidFill>
              </a:rPr>
              <a:t>pattern </a:t>
            </a:r>
            <a:r>
              <a:rPr lang="pl-PL" dirty="0"/>
              <a:t>is the Layered pattern. </a:t>
            </a:r>
          </a:p>
          <a:p>
            <a:pPr lvl="1"/>
            <a:r>
              <a:rPr lang="pl-PL" dirty="0" err="1"/>
              <a:t>When</a:t>
            </a:r>
            <a:r>
              <a:rPr lang="pl-PL" dirty="0"/>
              <a:t> the </a:t>
            </a:r>
            <a:r>
              <a:rPr lang="pl-PL" dirty="0" err="1"/>
              <a:t>uses</a:t>
            </a:r>
            <a:r>
              <a:rPr lang="pl-PL" dirty="0"/>
              <a:t> </a:t>
            </a:r>
            <a:r>
              <a:rPr lang="pl-PL" dirty="0" err="1"/>
              <a:t>relation</a:t>
            </a:r>
            <a:r>
              <a:rPr lang="pl-PL" dirty="0"/>
              <a:t> </a:t>
            </a:r>
            <a:r>
              <a:rPr lang="pl-PL" dirty="0" err="1"/>
              <a:t>among</a:t>
            </a:r>
            <a:r>
              <a:rPr lang="pl-PL" dirty="0"/>
              <a:t> software </a:t>
            </a:r>
            <a:r>
              <a:rPr lang="pl-PL" dirty="0" err="1"/>
              <a:t>elements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strictly</a:t>
            </a:r>
            <a:r>
              <a:rPr lang="pl-PL" dirty="0"/>
              <a:t> </a:t>
            </a:r>
            <a:r>
              <a:rPr lang="pl-PL" dirty="0" err="1"/>
              <a:t>unidirectional</a:t>
            </a:r>
            <a:r>
              <a:rPr lang="pl-PL" dirty="0"/>
              <a:t>, a system of </a:t>
            </a:r>
            <a:r>
              <a:rPr lang="pl-PL" dirty="0" err="1"/>
              <a:t>layers</a:t>
            </a:r>
            <a:r>
              <a:rPr lang="pl-PL" dirty="0"/>
              <a:t> </a:t>
            </a:r>
            <a:r>
              <a:rPr lang="pl-PL" dirty="0" err="1"/>
              <a:t>emerges</a:t>
            </a:r>
            <a:r>
              <a:rPr lang="pl-PL" dirty="0"/>
              <a:t>. </a:t>
            </a:r>
          </a:p>
          <a:p>
            <a:pPr lvl="1"/>
            <a:r>
              <a:rPr lang="pl-PL" dirty="0"/>
              <a:t>A layer is a coherent set of related functionality.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dirty="0" err="1"/>
              <a:t>Common</a:t>
            </a:r>
            <a:r>
              <a:rPr lang="pl-PL" dirty="0"/>
              <a:t> </a:t>
            </a:r>
            <a:r>
              <a:rPr lang="pl-PL" i="1" dirty="0">
                <a:solidFill>
                  <a:srgbClr val="0070C0"/>
                </a:solidFill>
              </a:rPr>
              <a:t>component-and-</a:t>
            </a:r>
            <a:r>
              <a:rPr lang="pl-PL" i="1" dirty="0" err="1">
                <a:solidFill>
                  <a:srgbClr val="0070C0"/>
                </a:solidFill>
              </a:rPr>
              <a:t>connector</a:t>
            </a:r>
            <a:r>
              <a:rPr lang="pl-PL" dirty="0">
                <a:solidFill>
                  <a:srgbClr val="0070C0"/>
                </a:solidFill>
              </a:rPr>
              <a:t> </a:t>
            </a:r>
            <a:r>
              <a:rPr lang="pl-PL" dirty="0" err="1">
                <a:solidFill>
                  <a:srgbClr val="0070C0"/>
                </a:solidFill>
              </a:rPr>
              <a:t>type</a:t>
            </a:r>
            <a:r>
              <a:rPr lang="pl-PL" dirty="0">
                <a:solidFill>
                  <a:srgbClr val="0070C0"/>
                </a:solidFill>
              </a:rPr>
              <a:t> </a:t>
            </a:r>
            <a:r>
              <a:rPr lang="pl-PL" dirty="0" err="1">
                <a:solidFill>
                  <a:srgbClr val="0070C0"/>
                </a:solidFill>
              </a:rPr>
              <a:t>patterns</a:t>
            </a:r>
            <a:r>
              <a:rPr lang="pl-PL" dirty="0">
                <a:solidFill>
                  <a:srgbClr val="0070C0"/>
                </a:solidFill>
              </a:rPr>
              <a:t>:</a:t>
            </a:r>
          </a:p>
          <a:p>
            <a:r>
              <a:rPr lang="pl-PL" dirty="0" err="1"/>
              <a:t>Shared</a:t>
            </a:r>
            <a:r>
              <a:rPr lang="pl-PL" dirty="0"/>
              <a:t>-data (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repository</a:t>
            </a:r>
            <a:r>
              <a:rPr lang="pl-PL" dirty="0"/>
              <a:t>) </a:t>
            </a:r>
            <a:r>
              <a:rPr lang="pl-PL" dirty="0" err="1"/>
              <a:t>pattern</a:t>
            </a:r>
            <a:r>
              <a:rPr lang="pl-PL" dirty="0"/>
              <a:t>. </a:t>
            </a:r>
          </a:p>
          <a:p>
            <a:pPr lvl="1"/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 </a:t>
            </a:r>
            <a:r>
              <a:rPr lang="pl-PL" dirty="0" err="1"/>
              <a:t>comprises</a:t>
            </a:r>
            <a:r>
              <a:rPr lang="pl-PL" dirty="0"/>
              <a:t> </a:t>
            </a:r>
            <a:r>
              <a:rPr lang="pl-PL" dirty="0" err="1"/>
              <a:t>components</a:t>
            </a:r>
            <a:r>
              <a:rPr lang="pl-PL" dirty="0"/>
              <a:t> and </a:t>
            </a:r>
            <a:r>
              <a:rPr lang="pl-PL" dirty="0" err="1"/>
              <a:t>connectors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create</a:t>
            </a:r>
            <a:r>
              <a:rPr lang="pl-PL" dirty="0"/>
              <a:t>, </a:t>
            </a:r>
            <a:r>
              <a:rPr lang="pl-PL" dirty="0" err="1"/>
              <a:t>store</a:t>
            </a:r>
            <a:r>
              <a:rPr lang="pl-PL" dirty="0"/>
              <a:t>, and </a:t>
            </a:r>
            <a:r>
              <a:rPr lang="pl-PL" dirty="0" err="1"/>
              <a:t>access</a:t>
            </a:r>
            <a:r>
              <a:rPr lang="pl-PL" dirty="0"/>
              <a:t> </a:t>
            </a:r>
            <a:r>
              <a:rPr lang="pl-PL" dirty="0" err="1">
                <a:solidFill>
                  <a:srgbClr val="C00000"/>
                </a:solidFill>
              </a:rPr>
              <a:t>persistent</a:t>
            </a:r>
            <a:r>
              <a:rPr lang="pl-PL" dirty="0"/>
              <a:t> data. </a:t>
            </a:r>
          </a:p>
          <a:p>
            <a:pPr lvl="1"/>
            <a:r>
              <a:rPr lang="pl-PL" dirty="0"/>
              <a:t>The </a:t>
            </a:r>
            <a:r>
              <a:rPr lang="pl-PL" dirty="0" err="1"/>
              <a:t>repository</a:t>
            </a:r>
            <a:r>
              <a:rPr lang="pl-PL" dirty="0"/>
              <a:t> </a:t>
            </a:r>
            <a:r>
              <a:rPr lang="pl-PL" dirty="0" err="1"/>
              <a:t>usually</a:t>
            </a:r>
            <a:r>
              <a:rPr lang="pl-PL" dirty="0"/>
              <a:t> </a:t>
            </a:r>
            <a:r>
              <a:rPr lang="pl-PL" dirty="0" err="1"/>
              <a:t>takes</a:t>
            </a:r>
            <a:r>
              <a:rPr lang="pl-PL" dirty="0"/>
              <a:t> the form of a (</a:t>
            </a:r>
            <a:r>
              <a:rPr lang="pl-PL" dirty="0" err="1"/>
              <a:t>commercial</a:t>
            </a:r>
            <a:r>
              <a:rPr lang="pl-PL" dirty="0"/>
              <a:t>) </a:t>
            </a:r>
            <a:r>
              <a:rPr lang="pl-PL" dirty="0" err="1"/>
              <a:t>database</a:t>
            </a:r>
            <a:r>
              <a:rPr lang="pl-PL" dirty="0"/>
              <a:t>. </a:t>
            </a:r>
          </a:p>
          <a:p>
            <a:pPr lvl="1"/>
            <a:r>
              <a:rPr lang="pl-PL" dirty="0"/>
              <a:t>The connectors are protocols for managing the data, such as SQL.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90166"/>
            <a:ext cx="7715200" cy="778098"/>
          </a:xfrm>
        </p:spPr>
        <p:txBody>
          <a:bodyPr/>
          <a:lstStyle/>
          <a:p>
            <a:r>
              <a:rPr lang="en-US" altLang="zh-CN" dirty="0"/>
              <a:t>Shared data pattern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sp>
        <p:nvSpPr>
          <p:cNvPr id="5" name="圆柱形 4"/>
          <p:cNvSpPr/>
          <p:nvPr/>
        </p:nvSpPr>
        <p:spPr>
          <a:xfrm>
            <a:off x="4012975" y="3789040"/>
            <a:ext cx="1152128" cy="93610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012975" y="2213687"/>
            <a:ext cx="1116124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App. server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05163" y="2204864"/>
            <a:ext cx="1116124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App. server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55776" y="2209276"/>
            <a:ext cx="1116124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App. server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932855" y="3356992"/>
            <a:ext cx="333037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2932855" y="2861759"/>
            <a:ext cx="0" cy="49523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7" idx="2"/>
          </p:cNvCxnSpPr>
          <p:nvPr/>
        </p:nvCxnSpPr>
        <p:spPr>
          <a:xfrm>
            <a:off x="4571037" y="2861759"/>
            <a:ext cx="0" cy="49523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0" idx="2"/>
          </p:cNvCxnSpPr>
          <p:nvPr/>
        </p:nvCxnSpPr>
        <p:spPr>
          <a:xfrm>
            <a:off x="6263225" y="2852936"/>
            <a:ext cx="0" cy="50405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4598040" y="3356992"/>
            <a:ext cx="0" cy="4320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996951" y="4725144"/>
            <a:ext cx="153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Database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46085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dirty="0" err="1"/>
              <a:t>Common</a:t>
            </a:r>
            <a:r>
              <a:rPr lang="pl-PL" dirty="0"/>
              <a:t> </a:t>
            </a:r>
            <a:r>
              <a:rPr lang="pl-PL" i="1" dirty="0">
                <a:solidFill>
                  <a:srgbClr val="0070C0"/>
                </a:solidFill>
              </a:rPr>
              <a:t>component-and-</a:t>
            </a:r>
            <a:r>
              <a:rPr lang="pl-PL" i="1" dirty="0" err="1">
                <a:solidFill>
                  <a:srgbClr val="0070C0"/>
                </a:solidFill>
              </a:rPr>
              <a:t>connector</a:t>
            </a:r>
            <a:r>
              <a:rPr lang="pl-PL" dirty="0">
                <a:solidFill>
                  <a:srgbClr val="0070C0"/>
                </a:solidFill>
              </a:rPr>
              <a:t> </a:t>
            </a:r>
            <a:r>
              <a:rPr lang="pl-PL" dirty="0" err="1">
                <a:solidFill>
                  <a:srgbClr val="0070C0"/>
                </a:solidFill>
              </a:rPr>
              <a:t>type</a:t>
            </a:r>
            <a:r>
              <a:rPr lang="pl-PL" dirty="0">
                <a:solidFill>
                  <a:srgbClr val="0070C0"/>
                </a:solidFill>
              </a:rPr>
              <a:t> </a:t>
            </a:r>
            <a:r>
              <a:rPr lang="pl-PL" dirty="0" err="1">
                <a:solidFill>
                  <a:srgbClr val="0070C0"/>
                </a:solidFill>
              </a:rPr>
              <a:t>patterns</a:t>
            </a:r>
            <a:r>
              <a:rPr lang="pl-PL" dirty="0">
                <a:solidFill>
                  <a:srgbClr val="0070C0"/>
                </a:solidFill>
              </a:rPr>
              <a:t>:</a:t>
            </a:r>
          </a:p>
          <a:p>
            <a:r>
              <a:rPr lang="pl-PL" dirty="0"/>
              <a:t>Client-server pattern. </a:t>
            </a:r>
          </a:p>
          <a:p>
            <a:pPr lvl="1"/>
            <a:r>
              <a:rPr lang="pl-PL" dirty="0"/>
              <a:t>The </a:t>
            </a:r>
            <a:r>
              <a:rPr lang="pl-PL" dirty="0" err="1"/>
              <a:t>components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the </a:t>
            </a:r>
            <a:r>
              <a:rPr lang="pl-PL" dirty="0" err="1"/>
              <a:t>clients</a:t>
            </a:r>
            <a:r>
              <a:rPr lang="pl-PL" dirty="0"/>
              <a:t> and the </a:t>
            </a:r>
            <a:r>
              <a:rPr lang="pl-PL" dirty="0" err="1"/>
              <a:t>servers</a:t>
            </a:r>
            <a:r>
              <a:rPr lang="pl-PL" dirty="0"/>
              <a:t>.</a:t>
            </a:r>
          </a:p>
          <a:p>
            <a:pPr lvl="1"/>
            <a:r>
              <a:rPr lang="pl-PL" dirty="0"/>
              <a:t>The connectors are protocols and messages they share among each other to carry out the system’s work.</a:t>
            </a:r>
            <a:endParaRPr lang="en-US" dirty="0"/>
          </a:p>
          <a:p>
            <a:r>
              <a:rPr lang="en-US" dirty="0"/>
              <a:t>Peer-to-peer pattern</a:t>
            </a:r>
          </a:p>
          <a:p>
            <a:pPr lvl="1"/>
            <a:r>
              <a:rPr lang="en-US" dirty="0"/>
              <a:t>E.g. </a:t>
            </a:r>
            <a:r>
              <a:rPr lang="en-US" dirty="0" err="1"/>
              <a:t>Bittorrent</a:t>
            </a:r>
            <a:endParaRPr lang="pl-P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81FB9-187D-8B2D-C001-30F8CA9EB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AC2618-BC1E-7068-BC0B-6417A66B3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AB0328-CD3E-83D8-E62D-D6B790F1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28733A2-A813-1795-472F-80477EDB8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70"/>
            <a:ext cx="9144000" cy="674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495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20D04-60E7-FA8C-D0A8-805FB3F3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67B09B-F882-7EE5-69F1-99DDCBDE0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AE7824-96E2-54FB-77F8-6EC351D89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264C2D-AEA3-F2EA-50A8-0D35B6C70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01" y="0"/>
            <a:ext cx="74733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523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 err="1">
                <a:solidFill>
                  <a:srgbClr val="C00000"/>
                </a:solidFill>
              </a:rPr>
              <a:t>Common</a:t>
            </a:r>
            <a:r>
              <a:rPr lang="pl-PL"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allocation</a:t>
            </a:r>
            <a:r>
              <a:rPr lang="pl-PL"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patterns</a:t>
            </a:r>
            <a:r>
              <a:rPr lang="pl-PL" dirty="0">
                <a:solidFill>
                  <a:srgbClr val="C00000"/>
                </a:solidFill>
              </a:rPr>
              <a:t>:</a:t>
            </a:r>
          </a:p>
          <a:p>
            <a:r>
              <a:rPr lang="pl-PL" dirty="0"/>
              <a:t>Multi-</a:t>
            </a:r>
            <a:r>
              <a:rPr lang="pl-PL" dirty="0" err="1"/>
              <a:t>tier</a:t>
            </a:r>
            <a:r>
              <a:rPr lang="pl-PL" dirty="0"/>
              <a:t> </a:t>
            </a:r>
            <a:r>
              <a:rPr lang="pl-PL" dirty="0" err="1"/>
              <a:t>pattern</a:t>
            </a:r>
            <a:endParaRPr lang="pl-PL" dirty="0"/>
          </a:p>
          <a:p>
            <a:pPr lvl="1"/>
            <a:r>
              <a:rPr lang="pl-PL" altLang="zh-CN" dirty="0"/>
              <a:t>This pattern specializes the generic deployment (software-to-hardware allocation) structure.</a:t>
            </a:r>
          </a:p>
          <a:p>
            <a:pPr lvl="1"/>
            <a:r>
              <a:rPr lang="pl-PL" dirty="0"/>
              <a:t>Describes how to distribute and allocate the components of a system in distinct subsets of hardware and software, connected by some communication medium.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D60C30-93F5-99E7-DCED-B05659C1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  <p:pic>
        <p:nvPicPr>
          <p:cNvPr id="1026" name="Picture 2" descr="Multi-tier architecture of our targeted services. Each machine runs the...  | Download Scientific Diagram">
            <a:extLst>
              <a:ext uri="{FF2B5EF4-FFF2-40B4-BE49-F238E27FC236}">
                <a16:creationId xmlns:a16="http://schemas.microsoft.com/office/drawing/2014/main" id="{EEC1FA8B-2889-91E6-1C24-50A5B90AA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317" y="692696"/>
            <a:ext cx="6027365" cy="4971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85839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l-PL" dirty="0" err="1">
                <a:solidFill>
                  <a:srgbClr val="C00000"/>
                </a:solidFill>
              </a:rPr>
              <a:t>Common</a:t>
            </a:r>
            <a:r>
              <a:rPr lang="pl-PL"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allocation</a:t>
            </a:r>
            <a:r>
              <a:rPr lang="pl-PL"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patterns</a:t>
            </a:r>
            <a:r>
              <a:rPr lang="pl-PL" dirty="0">
                <a:solidFill>
                  <a:srgbClr val="C00000"/>
                </a:solidFill>
              </a:rPr>
              <a:t>:</a:t>
            </a:r>
          </a:p>
          <a:p>
            <a:r>
              <a:rPr lang="pl-PL" i="1" dirty="0"/>
              <a:t>Competence</a:t>
            </a:r>
            <a:r>
              <a:rPr lang="en-US" i="1" dirty="0"/>
              <a:t> (</a:t>
            </a:r>
            <a:r>
              <a:rPr lang="zh-CN" altLang="en-US" i="1" dirty="0"/>
              <a:t>能力</a:t>
            </a:r>
            <a:r>
              <a:rPr lang="en-US" i="1" dirty="0"/>
              <a:t>)</a:t>
            </a:r>
            <a:r>
              <a:rPr lang="pl-PL" i="1" dirty="0"/>
              <a:t> center </a:t>
            </a:r>
            <a:r>
              <a:rPr lang="pl-PL" dirty="0"/>
              <a:t>pattern and </a:t>
            </a:r>
            <a:r>
              <a:rPr lang="pl-PL" i="1" dirty="0"/>
              <a:t>platform</a:t>
            </a:r>
            <a:r>
              <a:rPr lang="pl-PL" dirty="0"/>
              <a:t> pattern</a:t>
            </a:r>
          </a:p>
          <a:p>
            <a:pPr lvl="1"/>
            <a:r>
              <a:rPr lang="pl-PL" dirty="0" err="1"/>
              <a:t>These</a:t>
            </a:r>
            <a:r>
              <a:rPr lang="pl-PL" dirty="0"/>
              <a:t> </a:t>
            </a:r>
            <a:r>
              <a:rPr lang="pl-PL" dirty="0" err="1"/>
              <a:t>patterns</a:t>
            </a:r>
            <a:r>
              <a:rPr lang="pl-PL" dirty="0"/>
              <a:t> </a:t>
            </a:r>
            <a:r>
              <a:rPr lang="pl-PL" dirty="0" err="1"/>
              <a:t>specialize</a:t>
            </a:r>
            <a:r>
              <a:rPr lang="pl-PL" dirty="0"/>
              <a:t> a software </a:t>
            </a:r>
            <a:r>
              <a:rPr lang="pl-PL" dirty="0" err="1"/>
              <a:t>system’s</a:t>
            </a:r>
            <a:r>
              <a:rPr lang="pl-PL" dirty="0"/>
              <a:t> </a:t>
            </a:r>
            <a:r>
              <a:rPr lang="pl-PL" dirty="0" err="1"/>
              <a:t>work</a:t>
            </a:r>
            <a:r>
              <a:rPr lang="pl-PL" dirty="0"/>
              <a:t> </a:t>
            </a:r>
            <a:r>
              <a:rPr lang="pl-PL" dirty="0" err="1"/>
              <a:t>assignment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. </a:t>
            </a:r>
          </a:p>
          <a:p>
            <a:pPr lvl="1"/>
            <a:r>
              <a:rPr lang="pl-PL" dirty="0"/>
              <a:t>In </a:t>
            </a:r>
            <a:r>
              <a:rPr lang="pl-PL" i="1" dirty="0"/>
              <a:t>competence center</a:t>
            </a:r>
            <a:r>
              <a:rPr lang="pl-PL" dirty="0"/>
              <a:t>, work is allocated to sites depending on the technical or domain expertise located at a site. </a:t>
            </a:r>
            <a:r>
              <a:rPr lang="en-US" dirty="0"/>
              <a:t>For example, user interface design is done at a site where usability engineering experts are located.</a:t>
            </a:r>
            <a:endParaRPr lang="pl-PL" dirty="0"/>
          </a:p>
          <a:p>
            <a:pPr lvl="1"/>
            <a:r>
              <a:rPr lang="pl-PL" dirty="0"/>
              <a:t>In </a:t>
            </a:r>
            <a:r>
              <a:rPr lang="pl-PL" i="1" dirty="0"/>
              <a:t>platform</a:t>
            </a:r>
            <a:r>
              <a:rPr lang="pl-PL" dirty="0"/>
              <a:t>, one </a:t>
            </a:r>
            <a:r>
              <a:rPr lang="pl-PL" dirty="0" err="1"/>
              <a:t>site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tasked</a:t>
            </a:r>
            <a:r>
              <a:rPr lang="pl-PL" dirty="0"/>
              <a:t> with developing </a:t>
            </a:r>
            <a:r>
              <a:rPr lang="pl-PL" dirty="0" err="1">
                <a:solidFill>
                  <a:srgbClr val="C00000"/>
                </a:solidFill>
              </a:rPr>
              <a:t>reusable</a:t>
            </a:r>
            <a:r>
              <a:rPr lang="pl-PL"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core</a:t>
            </a:r>
            <a:r>
              <a:rPr lang="pl-PL"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assets</a:t>
            </a:r>
            <a:r>
              <a:rPr lang="pl-PL" dirty="0"/>
              <a:t> of a software </a:t>
            </a:r>
            <a:r>
              <a:rPr lang="pl-PL" dirty="0" err="1"/>
              <a:t>product</a:t>
            </a:r>
            <a:r>
              <a:rPr lang="pl-PL" dirty="0"/>
              <a:t> </a:t>
            </a:r>
            <a:r>
              <a:rPr lang="pl-PL" dirty="0" err="1"/>
              <a:t>line</a:t>
            </a:r>
            <a:r>
              <a:rPr lang="pl-PL" dirty="0"/>
              <a:t>, and </a:t>
            </a:r>
            <a:r>
              <a:rPr lang="pl-PL" dirty="0" err="1"/>
              <a:t>other</a:t>
            </a:r>
            <a:r>
              <a:rPr lang="pl-PL" dirty="0"/>
              <a:t> </a:t>
            </a:r>
            <a:r>
              <a:rPr lang="pl-PL" dirty="0" err="1"/>
              <a:t>sites</a:t>
            </a:r>
            <a:r>
              <a:rPr lang="pl-PL" dirty="0"/>
              <a:t> </a:t>
            </a:r>
            <a:r>
              <a:rPr lang="pl-PL" dirty="0" err="1"/>
              <a:t>develop</a:t>
            </a:r>
            <a:r>
              <a:rPr lang="pl-PL" dirty="0"/>
              <a:t> </a:t>
            </a:r>
            <a:r>
              <a:rPr lang="pl-PL" dirty="0" err="1"/>
              <a:t>applications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the </a:t>
            </a:r>
            <a:r>
              <a:rPr lang="pl-PL" dirty="0" err="1"/>
              <a:t>core</a:t>
            </a:r>
            <a:r>
              <a:rPr lang="pl-PL" dirty="0"/>
              <a:t> </a:t>
            </a:r>
            <a:r>
              <a:rPr lang="pl-PL" dirty="0" err="1"/>
              <a:t>assets</a:t>
            </a:r>
            <a:r>
              <a:rPr lang="pl-PL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Makes a “Good”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is no such thing as an inherently good or bad architecture. </a:t>
            </a:r>
          </a:p>
          <a:p>
            <a:r>
              <a:rPr lang="pl-PL" dirty="0"/>
              <a:t>Architectures can be evaluated but only in the context of specific stated goals.</a:t>
            </a:r>
            <a:endParaRPr lang="en-US" dirty="0"/>
          </a:p>
          <a:p>
            <a:r>
              <a:rPr lang="en-US" altLang="zh-CN" dirty="0"/>
              <a:t>Architectures are either more or less fit for some purpose</a:t>
            </a:r>
          </a:p>
          <a:p>
            <a:r>
              <a:rPr lang="pl-PL" dirty="0"/>
              <a:t>There are, however, good rules of thumb.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“Rules of Thumb”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91264" cy="5112568"/>
          </a:xfrm>
        </p:spPr>
        <p:txBody>
          <a:bodyPr>
            <a:normAutofit lnSpcReduction="10000"/>
          </a:bodyPr>
          <a:lstStyle/>
          <a:p>
            <a:r>
              <a:rPr lang="pl-PL" sz="2800" dirty="0"/>
              <a:t>The </a:t>
            </a:r>
            <a:r>
              <a:rPr lang="pl-PL" sz="2800" dirty="0" err="1"/>
              <a:t>architecture</a:t>
            </a:r>
            <a:r>
              <a:rPr lang="pl-PL" sz="2800" dirty="0"/>
              <a:t> </a:t>
            </a:r>
            <a:r>
              <a:rPr lang="pl-PL" sz="2800" dirty="0" err="1"/>
              <a:t>should</a:t>
            </a:r>
            <a:r>
              <a:rPr lang="pl-PL" sz="2800" dirty="0"/>
              <a:t> be the </a:t>
            </a:r>
            <a:r>
              <a:rPr lang="pl-PL" sz="2800" dirty="0" err="1"/>
              <a:t>product</a:t>
            </a:r>
            <a:r>
              <a:rPr lang="pl-PL" sz="2800" dirty="0"/>
              <a:t> of a single </a:t>
            </a:r>
            <a:r>
              <a:rPr lang="pl-PL" sz="2800" dirty="0" err="1"/>
              <a:t>architect</a:t>
            </a:r>
            <a:r>
              <a:rPr lang="pl-PL" sz="2800" dirty="0"/>
              <a:t> </a:t>
            </a:r>
            <a:r>
              <a:rPr lang="pl-PL" sz="2800" dirty="0" err="1"/>
              <a:t>or</a:t>
            </a:r>
            <a:r>
              <a:rPr lang="pl-PL" sz="2800" dirty="0"/>
              <a:t> a small </a:t>
            </a:r>
            <a:r>
              <a:rPr lang="pl-PL" sz="2800" dirty="0" err="1"/>
              <a:t>group</a:t>
            </a:r>
            <a:r>
              <a:rPr lang="pl-PL" sz="2800" dirty="0"/>
              <a:t> of </a:t>
            </a:r>
            <a:r>
              <a:rPr lang="pl-PL" sz="2800" dirty="0" err="1"/>
              <a:t>architects</a:t>
            </a:r>
            <a:r>
              <a:rPr lang="pl-PL" sz="2800" dirty="0"/>
              <a:t> with </a:t>
            </a:r>
            <a:r>
              <a:rPr lang="pl-PL" sz="2800" dirty="0" err="1"/>
              <a:t>an</a:t>
            </a:r>
            <a:r>
              <a:rPr lang="pl-PL" sz="2800" dirty="0"/>
              <a:t> </a:t>
            </a:r>
            <a:r>
              <a:rPr lang="pl-PL" sz="2800" dirty="0" err="1"/>
              <a:t>identified</a:t>
            </a:r>
            <a:r>
              <a:rPr lang="pl-PL" sz="2800" dirty="0"/>
              <a:t> </a:t>
            </a:r>
            <a:r>
              <a:rPr lang="pl-PL" sz="2800" dirty="0" err="1"/>
              <a:t>technical</a:t>
            </a:r>
            <a:r>
              <a:rPr lang="pl-PL" sz="2800" dirty="0"/>
              <a:t> leader. </a:t>
            </a:r>
          </a:p>
          <a:p>
            <a:r>
              <a:rPr lang="pl-PL" sz="2800" dirty="0"/>
              <a:t>The architect (or architecture team) should base the architecture on a prioritized list of well-specified quality attribute requirements. </a:t>
            </a:r>
          </a:p>
          <a:p>
            <a:r>
              <a:rPr lang="pl-PL" sz="2800" dirty="0"/>
              <a:t>The architecture should be documented using views. </a:t>
            </a:r>
          </a:p>
          <a:p>
            <a:r>
              <a:rPr lang="pl-PL" sz="2800" dirty="0"/>
              <a:t>The </a:t>
            </a:r>
            <a:r>
              <a:rPr lang="pl-PL" sz="2800" dirty="0" err="1"/>
              <a:t>architecture</a:t>
            </a:r>
            <a:r>
              <a:rPr lang="pl-PL" sz="2800" dirty="0"/>
              <a:t> </a:t>
            </a:r>
            <a:r>
              <a:rPr lang="pl-PL" sz="2800" dirty="0" err="1"/>
              <a:t>should</a:t>
            </a:r>
            <a:r>
              <a:rPr lang="pl-PL" sz="2800" dirty="0"/>
              <a:t> be </a:t>
            </a:r>
            <a:r>
              <a:rPr lang="pl-PL" sz="2800" dirty="0" err="1"/>
              <a:t>evaluated</a:t>
            </a:r>
            <a:r>
              <a:rPr lang="pl-PL" sz="2800" dirty="0"/>
              <a:t> for </a:t>
            </a:r>
            <a:r>
              <a:rPr lang="pl-PL" sz="2800" dirty="0" err="1"/>
              <a:t>its</a:t>
            </a:r>
            <a:r>
              <a:rPr lang="pl-PL" sz="2800" dirty="0"/>
              <a:t> </a:t>
            </a:r>
            <a:r>
              <a:rPr lang="pl-PL" sz="2800" dirty="0" err="1"/>
              <a:t>ability</a:t>
            </a:r>
            <a:r>
              <a:rPr lang="pl-PL" sz="2800" dirty="0"/>
              <a:t> to </a:t>
            </a:r>
            <a:r>
              <a:rPr lang="pl-PL" sz="2800" dirty="0" err="1"/>
              <a:t>deliver</a:t>
            </a:r>
            <a:r>
              <a:rPr lang="pl-PL" sz="2800" dirty="0"/>
              <a:t> the </a:t>
            </a:r>
            <a:r>
              <a:rPr lang="pl-PL" sz="2800" dirty="0" err="1"/>
              <a:t>system’s</a:t>
            </a:r>
            <a:r>
              <a:rPr lang="pl-PL" sz="2800" dirty="0"/>
              <a:t> </a:t>
            </a:r>
            <a:r>
              <a:rPr lang="pl-PL" sz="2800" dirty="0" err="1"/>
              <a:t>important</a:t>
            </a:r>
            <a:r>
              <a:rPr lang="pl-PL" sz="2800" dirty="0"/>
              <a:t> </a:t>
            </a:r>
            <a:r>
              <a:rPr lang="pl-PL" sz="2800" dirty="0" err="1"/>
              <a:t>quality</a:t>
            </a:r>
            <a:r>
              <a:rPr lang="pl-PL" sz="2800" dirty="0"/>
              <a:t> </a:t>
            </a:r>
            <a:r>
              <a:rPr lang="pl-PL" sz="2800" dirty="0" err="1"/>
              <a:t>attributes</a:t>
            </a:r>
            <a:r>
              <a:rPr lang="pl-PL" sz="2800" dirty="0"/>
              <a:t>. </a:t>
            </a:r>
          </a:p>
          <a:p>
            <a:r>
              <a:rPr lang="pl-PL" sz="2800" dirty="0"/>
              <a:t>The architecture should lend itself to incremental implementation</a:t>
            </a:r>
            <a:r>
              <a:rPr lang="en-US" sz="2800" dirty="0"/>
              <a:t>.</a:t>
            </a:r>
            <a:endParaRPr lang="pl-PL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“Rules of Thumb”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424936" cy="4032449"/>
          </a:xfrm>
        </p:spPr>
        <p:txBody>
          <a:bodyPr>
            <a:normAutofit lnSpcReduction="10000"/>
          </a:bodyPr>
          <a:lstStyle/>
          <a:p>
            <a:r>
              <a:rPr lang="pl-PL" dirty="0"/>
              <a:t>The architecture should feature well-defined modules </a:t>
            </a:r>
            <a:endParaRPr lang="en-US" dirty="0"/>
          </a:p>
          <a:p>
            <a:r>
              <a:rPr lang="en-US" dirty="0"/>
              <a:t>The architecture should never depend on a particular version of a commercial product or tool</a:t>
            </a:r>
          </a:p>
          <a:p>
            <a:r>
              <a:rPr lang="en-US" dirty="0"/>
              <a:t>Modules that produce data should be separate from modules that consume data. </a:t>
            </a:r>
          </a:p>
          <a:p>
            <a:pPr lvl="1"/>
            <a:r>
              <a:rPr lang="en-US" dirty="0"/>
              <a:t>This tends to increase modifiability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60475"/>
            <a:ext cx="7715200" cy="778098"/>
          </a:xfrm>
        </p:spPr>
        <p:txBody>
          <a:bodyPr/>
          <a:lstStyle/>
          <a:p>
            <a:r>
              <a:rPr lang="en-US" dirty="0"/>
              <a:t>Structural “Rules of Thumb”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Don’t expect a one-to-one correspondence between modules and components. </a:t>
            </a:r>
          </a:p>
          <a:p>
            <a:r>
              <a:rPr lang="en-US" sz="2800" dirty="0"/>
              <a:t>Every process should be written so that its assignment to a specific processor can be easily changed, perhaps even at runtime.</a:t>
            </a:r>
          </a:p>
          <a:p>
            <a:r>
              <a:rPr lang="en-US" sz="2800" dirty="0"/>
              <a:t>The architecture should feature a small number of ways for components to interact. </a:t>
            </a:r>
          </a:p>
          <a:p>
            <a:pPr lvl="1"/>
            <a:r>
              <a:rPr lang="en-US" sz="2400" dirty="0"/>
              <a:t>The system should do the same things in the same way throughout. 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328627"/>
            <a:ext cx="7715200" cy="778098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4536504"/>
          </a:xfrm>
        </p:spPr>
        <p:txBody>
          <a:bodyPr>
            <a:normAutofit/>
          </a:bodyPr>
          <a:lstStyle/>
          <a:p>
            <a:r>
              <a:rPr lang="en-US" sz="2800" b="1" i="1" dirty="0"/>
              <a:t>The software architecture </a:t>
            </a:r>
            <a:r>
              <a:rPr lang="en-US" sz="2800" dirty="0"/>
              <a:t>of a system is the set of structures needed to reason about the system, which comprise software elements, relations among them, and properties of both.</a:t>
            </a:r>
          </a:p>
          <a:p>
            <a:r>
              <a:rPr lang="pl-PL" sz="2800" b="1" i="1" dirty="0"/>
              <a:t>A </a:t>
            </a:r>
            <a:r>
              <a:rPr lang="pl-PL" sz="2800" b="1" i="1" dirty="0" err="1"/>
              <a:t>structure</a:t>
            </a:r>
            <a:r>
              <a:rPr lang="pl-PL" sz="2800" b="1" i="1" dirty="0"/>
              <a:t> </a:t>
            </a:r>
            <a:r>
              <a:rPr lang="pl-PL" sz="2800" dirty="0" err="1"/>
              <a:t>is</a:t>
            </a:r>
            <a:r>
              <a:rPr lang="pl-PL" sz="2800" dirty="0"/>
              <a:t> a set of </a:t>
            </a:r>
            <a:r>
              <a:rPr lang="pl-PL" sz="2800" dirty="0" err="1"/>
              <a:t>elements</a:t>
            </a:r>
            <a:r>
              <a:rPr lang="pl-PL" sz="2800" dirty="0"/>
              <a:t> and the relations </a:t>
            </a:r>
            <a:r>
              <a:rPr lang="pl-PL" sz="2800" dirty="0" err="1"/>
              <a:t>among</a:t>
            </a:r>
            <a:r>
              <a:rPr lang="pl-PL" sz="2800" dirty="0"/>
              <a:t> </a:t>
            </a:r>
            <a:r>
              <a:rPr lang="pl-PL" sz="2800" dirty="0" err="1"/>
              <a:t>them</a:t>
            </a:r>
            <a:r>
              <a:rPr lang="pl-PL" sz="2800" dirty="0"/>
              <a:t>.</a:t>
            </a:r>
          </a:p>
          <a:p>
            <a:r>
              <a:rPr lang="pl-PL" sz="2800" b="1" i="1" dirty="0"/>
              <a:t>A </a:t>
            </a:r>
            <a:r>
              <a:rPr lang="pl-PL" sz="2800" b="1" i="1" dirty="0" err="1"/>
              <a:t>view</a:t>
            </a:r>
            <a:r>
              <a:rPr lang="pl-PL" sz="2800" b="1" i="1" dirty="0"/>
              <a:t> </a:t>
            </a:r>
            <a:r>
              <a:rPr lang="pl-PL" sz="2800" dirty="0" err="1"/>
              <a:t>is</a:t>
            </a:r>
            <a:r>
              <a:rPr lang="pl-PL" sz="2800" dirty="0"/>
              <a:t> a </a:t>
            </a:r>
            <a:r>
              <a:rPr lang="pl-PL" sz="2800" dirty="0" err="1"/>
              <a:t>representation</a:t>
            </a:r>
            <a:r>
              <a:rPr lang="pl-PL" sz="2800" dirty="0"/>
              <a:t> of a </a:t>
            </a:r>
            <a:r>
              <a:rPr lang="pl-PL" sz="2800" dirty="0" err="1"/>
              <a:t>coherent</a:t>
            </a:r>
            <a:r>
              <a:rPr lang="pl-PL" sz="2800" dirty="0"/>
              <a:t> set of </a:t>
            </a:r>
            <a:r>
              <a:rPr lang="pl-PL" sz="2800" dirty="0" err="1"/>
              <a:t>architectural</a:t>
            </a:r>
            <a:r>
              <a:rPr lang="pl-PL" sz="2800" dirty="0"/>
              <a:t> </a:t>
            </a:r>
            <a:r>
              <a:rPr lang="pl-PL" sz="2800" dirty="0" err="1"/>
              <a:t>elements</a:t>
            </a:r>
            <a:r>
              <a:rPr lang="pl-PL" sz="2800" dirty="0"/>
              <a:t>. A </a:t>
            </a:r>
            <a:r>
              <a:rPr lang="pl-PL" sz="2800" dirty="0" err="1"/>
              <a:t>view</a:t>
            </a:r>
            <a:r>
              <a:rPr lang="pl-PL" sz="2800" dirty="0"/>
              <a:t> </a:t>
            </a:r>
            <a:r>
              <a:rPr lang="pl-PL" sz="2800" dirty="0" err="1"/>
              <a:t>is</a:t>
            </a:r>
            <a:r>
              <a:rPr lang="pl-PL" sz="2800" dirty="0"/>
              <a:t> a </a:t>
            </a:r>
            <a:r>
              <a:rPr lang="pl-PL" sz="2800" dirty="0" err="1"/>
              <a:t>representation</a:t>
            </a:r>
            <a:r>
              <a:rPr lang="pl-PL" sz="2800" dirty="0"/>
              <a:t> of one </a:t>
            </a:r>
            <a:r>
              <a:rPr lang="pl-PL" sz="2800" dirty="0" err="1"/>
              <a:t>or</a:t>
            </a:r>
            <a:r>
              <a:rPr lang="pl-PL" sz="2800" dirty="0"/>
              <a:t> </a:t>
            </a:r>
            <a:r>
              <a:rPr lang="pl-PL" sz="2800" dirty="0" err="1"/>
              <a:t>more</a:t>
            </a:r>
            <a:r>
              <a:rPr lang="pl-PL" sz="2800" dirty="0"/>
              <a:t> </a:t>
            </a:r>
            <a:r>
              <a:rPr lang="pl-PL" sz="2800" dirty="0" err="1"/>
              <a:t>structures</a:t>
            </a:r>
            <a:r>
              <a:rPr lang="pl-PL" sz="2800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52715"/>
          </a:xfrm>
        </p:spPr>
        <p:txBody>
          <a:bodyPr>
            <a:normAutofit lnSpcReduction="10000"/>
          </a:bodyPr>
          <a:lstStyle/>
          <a:p>
            <a:r>
              <a:rPr lang="pl-PL" sz="2800" dirty="0"/>
              <a:t>Module structures </a:t>
            </a:r>
            <a:endParaRPr lang="en-US" sz="2800" dirty="0"/>
          </a:p>
          <a:p>
            <a:pPr lvl="1"/>
            <a:r>
              <a:rPr lang="en-US" sz="2400" dirty="0"/>
              <a:t>Decomposition structure</a:t>
            </a:r>
          </a:p>
          <a:p>
            <a:pPr lvl="1"/>
            <a:r>
              <a:rPr lang="en-US" sz="2400" dirty="0"/>
              <a:t>User structure -&gt; layer pattern</a:t>
            </a:r>
          </a:p>
          <a:p>
            <a:pPr lvl="1"/>
            <a:r>
              <a:rPr lang="en-US" sz="2400" dirty="0"/>
              <a:t>Class structure</a:t>
            </a:r>
          </a:p>
          <a:p>
            <a:pPr lvl="1"/>
            <a:r>
              <a:rPr lang="en-US" sz="2400" dirty="0"/>
              <a:t>Data model</a:t>
            </a:r>
          </a:p>
          <a:p>
            <a:r>
              <a:rPr lang="pl-PL" sz="2800" dirty="0"/>
              <a:t>Component-and-connector structures</a:t>
            </a:r>
            <a:endParaRPr lang="en-US" sz="2800" dirty="0"/>
          </a:p>
          <a:p>
            <a:pPr lvl="1"/>
            <a:r>
              <a:rPr lang="en-US" sz="2400" dirty="0"/>
              <a:t>Service structure</a:t>
            </a:r>
          </a:p>
          <a:p>
            <a:pPr lvl="1"/>
            <a:r>
              <a:rPr lang="en-US" sz="2400" dirty="0"/>
              <a:t>Concurrency structure</a:t>
            </a:r>
          </a:p>
          <a:p>
            <a:r>
              <a:rPr lang="pl-PL" sz="2800" dirty="0"/>
              <a:t>Allocation structures </a:t>
            </a:r>
            <a:endParaRPr lang="en-US" sz="2800" dirty="0"/>
          </a:p>
          <a:p>
            <a:pPr lvl="1"/>
            <a:r>
              <a:rPr lang="en-US" sz="2400" dirty="0"/>
              <a:t>Deployment structure</a:t>
            </a:r>
          </a:p>
          <a:p>
            <a:pPr lvl="1"/>
            <a:r>
              <a:rPr lang="en-US" sz="2400" dirty="0"/>
              <a:t>Implementation structure</a:t>
            </a:r>
          </a:p>
          <a:p>
            <a:pPr lvl="1"/>
            <a:r>
              <a:rPr lang="en-US" altLang="zh-CN" sz="2400" dirty="0"/>
              <a:t>Work assignment structure</a:t>
            </a:r>
          </a:p>
          <a:p>
            <a:pPr marL="457200" lvl="1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435280" cy="5087590"/>
          </a:xfrm>
        </p:spPr>
        <p:txBody>
          <a:bodyPr>
            <a:normAutofit/>
          </a:bodyPr>
          <a:lstStyle/>
          <a:p>
            <a:r>
              <a:rPr lang="en-US" sz="2800" dirty="0"/>
              <a:t>Module type pattern</a:t>
            </a:r>
          </a:p>
          <a:p>
            <a:pPr lvl="1"/>
            <a:r>
              <a:rPr lang="en-US" sz="2400" dirty="0"/>
              <a:t>Layered pattern</a:t>
            </a:r>
            <a:endParaRPr lang="pl-PL" sz="2400" dirty="0"/>
          </a:p>
          <a:p>
            <a:r>
              <a:rPr lang="en-US" altLang="zh-CN" sz="2800" dirty="0"/>
              <a:t>Component-and-connector type pattern</a:t>
            </a:r>
          </a:p>
          <a:p>
            <a:pPr lvl="1"/>
            <a:r>
              <a:rPr lang="en-US" altLang="zh-CN" sz="2400" dirty="0"/>
              <a:t>Shared data pattern</a:t>
            </a:r>
          </a:p>
          <a:p>
            <a:pPr lvl="1"/>
            <a:r>
              <a:rPr lang="en-US" altLang="zh-CN" sz="2400" dirty="0"/>
              <a:t>Client and server pattern</a:t>
            </a:r>
          </a:p>
          <a:p>
            <a:pPr lvl="1"/>
            <a:r>
              <a:rPr lang="en-US" altLang="zh-CN" sz="2400" dirty="0"/>
              <a:t>Peer to peer pattern</a:t>
            </a:r>
          </a:p>
          <a:p>
            <a:r>
              <a:rPr lang="en-US" sz="2800" dirty="0"/>
              <a:t>Allocation type pattern</a:t>
            </a:r>
          </a:p>
          <a:p>
            <a:pPr lvl="1"/>
            <a:r>
              <a:rPr lang="en-US" sz="2400" dirty="0"/>
              <a:t>Multi-tier pattern</a:t>
            </a:r>
          </a:p>
          <a:p>
            <a:pPr lvl="1"/>
            <a:r>
              <a:rPr lang="en-US" sz="2400" dirty="0"/>
              <a:t>Competence center pattern </a:t>
            </a:r>
          </a:p>
          <a:p>
            <a:pPr lvl="1"/>
            <a:r>
              <a:rPr lang="en-US" sz="2400" dirty="0"/>
              <a:t>Platform pattern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EC141-C481-992B-6248-50A010E4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823718-9313-7D2D-41D6-64F7C65E0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待定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r>
              <a:rPr lang="zh-CN" altLang="en-US" dirty="0"/>
              <a:t>之前组好队，组长将成员名单于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待定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r>
              <a:rPr lang="zh-CN" altLang="en-US" dirty="0"/>
              <a:t>之前发送至邮箱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待定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落单的人选将随机分组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/>
              <a:t>主题为“</a:t>
            </a:r>
            <a:r>
              <a:rPr lang="en-US" altLang="zh-CN" dirty="0"/>
              <a:t>AI+</a:t>
            </a:r>
            <a:r>
              <a:rPr lang="zh-CN" altLang="en-US" dirty="0"/>
              <a:t>软件体系结构”，围绕该主题自行选题。最终打分将成正态分布。</a:t>
            </a:r>
            <a:endParaRPr lang="en-US" altLang="zh-CN" dirty="0"/>
          </a:p>
          <a:p>
            <a:r>
              <a:rPr lang="zh-CN" altLang="en-US" dirty="0"/>
              <a:t>组长于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待定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r>
              <a:rPr lang="zh-CN" altLang="en-US" dirty="0"/>
              <a:t>提交报告，源码，</a:t>
            </a:r>
            <a:r>
              <a:rPr lang="en-US" altLang="zh-CN" dirty="0"/>
              <a:t>PPT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考核：报告 </a:t>
            </a:r>
            <a:r>
              <a:rPr lang="en-US" altLang="zh-CN" dirty="0"/>
              <a:t>(50%)+Presentation (50%)</a:t>
            </a:r>
          </a:p>
          <a:p>
            <a:r>
              <a:rPr lang="en-US" altLang="zh-CN" dirty="0"/>
              <a:t>Presentation</a:t>
            </a:r>
            <a:r>
              <a:rPr lang="zh-CN" altLang="en-US" dirty="0"/>
              <a:t>安排在</a:t>
            </a:r>
            <a:r>
              <a:rPr lang="en-US" altLang="zh-CN" dirty="0"/>
              <a:t>15</a:t>
            </a:r>
            <a:r>
              <a:rPr lang="zh-CN" altLang="en-US" dirty="0"/>
              <a:t>周周日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69A088-F16D-596D-2AE3-EF15B6F5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4744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c5NWIxYzdjOTUxYjQ2ZjMyNzFmMjc2NjMyZjhmNj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6049</Words>
  <Application>Microsoft Office PowerPoint</Application>
  <PresentationFormat>全屏显示(4:3)</PresentationFormat>
  <Paragraphs>461</Paragraphs>
  <Slides>85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85</vt:i4>
      </vt:variant>
    </vt:vector>
  </HeadingPairs>
  <TitlesOfParts>
    <vt:vector size="93" baseType="lpstr">
      <vt:lpstr>FZSSK--GBK1-0</vt:lpstr>
      <vt:lpstr>等线</vt:lpstr>
      <vt:lpstr>宋体</vt:lpstr>
      <vt:lpstr>Arial</vt:lpstr>
      <vt:lpstr>Calibri</vt:lpstr>
      <vt:lpstr>Times New Roman</vt:lpstr>
      <vt:lpstr>Wingdings</vt:lpstr>
      <vt:lpstr>Office Theme</vt:lpstr>
      <vt:lpstr>Software Architecture</vt:lpstr>
      <vt:lpstr>PowerPoint 演示文稿</vt:lpstr>
      <vt:lpstr>Motivation of this course</vt:lpstr>
      <vt:lpstr>教科书和参考书</vt:lpstr>
      <vt:lpstr>考试与成绩</vt:lpstr>
      <vt:lpstr>Major Contents</vt:lpstr>
      <vt:lpstr>Major Contents</vt:lpstr>
      <vt:lpstr>Chapter 1</vt:lpstr>
      <vt:lpstr>阿里双十一——超大规模电商系统</vt:lpstr>
      <vt:lpstr>PowerPoint 演示文稿</vt:lpstr>
      <vt:lpstr>PowerPoint 演示文稿</vt:lpstr>
      <vt:lpstr>北斗卫星导航系统</vt:lpstr>
      <vt:lpstr>中国高精度位置网及其在交通领域的重大应用 国家科学技术进步奖一等奖</vt:lpstr>
      <vt:lpstr>12306售票系统——从集中式到混合云的超复杂计算系统</vt:lpstr>
      <vt:lpstr>中国铁路客票发售和预订系统 国家科技进步一等奖</vt:lpstr>
      <vt:lpstr>PowerPoint 演示文稿</vt:lpstr>
      <vt:lpstr>What is Software Architecture?</vt:lpstr>
      <vt:lpstr>Architecture Is a Set of Software Structures </vt:lpstr>
      <vt:lpstr>Module Structures</vt:lpstr>
      <vt:lpstr>PowerPoint 演示文稿</vt:lpstr>
      <vt:lpstr>PowerPoint 演示文稿</vt:lpstr>
      <vt:lpstr>Component-and-connector Structures</vt:lpstr>
      <vt:lpstr>PowerPoint 演示文稿</vt:lpstr>
      <vt:lpstr>PowerPoint 演示文稿</vt:lpstr>
      <vt:lpstr>Allocation Structures</vt:lpstr>
      <vt:lpstr>PowerPoint 演示文稿</vt:lpstr>
      <vt:lpstr>PowerPoint 演示文稿</vt:lpstr>
      <vt:lpstr>PowerPoint 演示文稿</vt:lpstr>
      <vt:lpstr>PowerPoint 演示文稿</vt:lpstr>
      <vt:lpstr>Which Structures are Architectural?</vt:lpstr>
      <vt:lpstr>泰坦尼克</vt:lpstr>
      <vt:lpstr>巴黎的地下迷宫</vt:lpstr>
      <vt:lpstr>Architecture is an Abstraction</vt:lpstr>
      <vt:lpstr>Every System has a Software Architecture </vt:lpstr>
      <vt:lpstr>Architecture Includes Behavior</vt:lpstr>
      <vt:lpstr>Structures and Views</vt:lpstr>
      <vt:lpstr>Module Structures</vt:lpstr>
      <vt:lpstr>Component-and-connector Structures</vt:lpstr>
      <vt:lpstr>Component-and-connector Structures</vt:lpstr>
      <vt:lpstr>MapReduce</vt:lpstr>
      <vt:lpstr>Allocation structures</vt:lpstr>
      <vt:lpstr>Structures Provide Insight</vt:lpstr>
      <vt:lpstr>Computation Partitioning a simple example</vt:lpstr>
      <vt:lpstr>Some Useful Module Structures</vt:lpstr>
      <vt:lpstr>Decomposition structure: an example</vt:lpstr>
      <vt:lpstr>Decomposition structure: an example</vt:lpstr>
      <vt:lpstr>乐高</vt:lpstr>
      <vt:lpstr>Some Useful Module Structures</vt:lpstr>
      <vt:lpstr>PowerPoint 演示文稿</vt:lpstr>
      <vt:lpstr>Some Useful Module Structures</vt:lpstr>
      <vt:lpstr>UNIX System V 操作系统的层结构</vt:lpstr>
      <vt:lpstr>Some Useful Module Structures</vt:lpstr>
      <vt:lpstr>PowerPoint 演示文稿</vt:lpstr>
      <vt:lpstr>Some Useful Module Structures</vt:lpstr>
      <vt:lpstr>PowerPoint 演示文稿</vt:lpstr>
      <vt:lpstr>Some Useful C&amp;C Structures</vt:lpstr>
      <vt:lpstr>PowerPoint 演示文稿</vt:lpstr>
      <vt:lpstr>Some Useful C&amp;C Structures</vt:lpstr>
      <vt:lpstr>PowerPoint 演示文稿</vt:lpstr>
      <vt:lpstr>Some Useful Allocation Structures</vt:lpstr>
      <vt:lpstr>Task allocation in mobile cloud</vt:lpstr>
      <vt:lpstr>Some Useful Allocation Structures</vt:lpstr>
      <vt:lpstr>Implementation structure</vt:lpstr>
      <vt:lpstr>Some Useful Allocation Structures</vt:lpstr>
      <vt:lpstr>PowerPoint 演示文稿</vt:lpstr>
      <vt:lpstr>PowerPoint 演示文稿</vt:lpstr>
      <vt:lpstr>Relating Structures to Each Other</vt:lpstr>
      <vt:lpstr>Modules vs. Components</vt:lpstr>
      <vt:lpstr>Architectural Patterns</vt:lpstr>
      <vt:lpstr>Architectural Patterns</vt:lpstr>
      <vt:lpstr>Shared data pattern</vt:lpstr>
      <vt:lpstr>Architectural Patterns</vt:lpstr>
      <vt:lpstr>PowerPoint 演示文稿</vt:lpstr>
      <vt:lpstr>PowerPoint 演示文稿</vt:lpstr>
      <vt:lpstr>Architectural Patterns</vt:lpstr>
      <vt:lpstr>PowerPoint 演示文稿</vt:lpstr>
      <vt:lpstr>Architectural Patterns</vt:lpstr>
      <vt:lpstr>What Makes a “Good” Architecture?</vt:lpstr>
      <vt:lpstr>Process “Rules of Thumb”</vt:lpstr>
      <vt:lpstr>Structural “Rules of Thumb”</vt:lpstr>
      <vt:lpstr>Structural “Rules of Thumb”</vt:lpstr>
      <vt:lpstr>Summary</vt:lpstr>
      <vt:lpstr>Some Useful Structures</vt:lpstr>
      <vt:lpstr>Architectural patterns</vt:lpstr>
      <vt:lpstr>大作业</vt:lpstr>
    </vt:vector>
  </TitlesOfParts>
  <Company>NICTA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 Bass</dc:creator>
  <cp:lastModifiedBy>Zikun Deng</cp:lastModifiedBy>
  <cp:revision>148</cp:revision>
  <dcterms:created xsi:type="dcterms:W3CDTF">2023-08-30T06:27:00Z</dcterms:created>
  <dcterms:modified xsi:type="dcterms:W3CDTF">2026-09-16T14:13:20Z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F21DA7DAC3911C60730FEC64E37FE5DE</vt:lpwstr>
  </property>
  <property fmtid="{D5CDD505-2E9C-101B-9397-08002B2CF9AE}" pid="3" name="KSOProductBuildVer">
    <vt:lpwstr>2052-12.1.0.18276</vt:lpwstr>
  </property>
</Properties>
</file>