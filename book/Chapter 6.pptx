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432" r:id="rId2"/>
    <p:sldId id="434" r:id="rId3"/>
    <p:sldId id="452" r:id="rId4"/>
    <p:sldId id="453" r:id="rId5"/>
    <p:sldId id="454" r:id="rId6"/>
    <p:sldId id="455" r:id="rId7"/>
    <p:sldId id="435" r:id="rId8"/>
    <p:sldId id="436" r:id="rId9"/>
    <p:sldId id="456" r:id="rId10"/>
    <p:sldId id="1522" r:id="rId11"/>
    <p:sldId id="1523" r:id="rId12"/>
    <p:sldId id="437" r:id="rId13"/>
    <p:sldId id="1514" r:id="rId14"/>
    <p:sldId id="1515" r:id="rId15"/>
    <p:sldId id="1516" r:id="rId16"/>
    <p:sldId id="1517" r:id="rId17"/>
    <p:sldId id="1519" r:id="rId18"/>
    <p:sldId id="1520" r:id="rId19"/>
    <p:sldId id="1521" r:id="rId20"/>
    <p:sldId id="1518" r:id="rId21"/>
    <p:sldId id="439" r:id="rId22"/>
    <p:sldId id="440" r:id="rId23"/>
    <p:sldId id="466" r:id="rId24"/>
    <p:sldId id="467" r:id="rId25"/>
    <p:sldId id="468" r:id="rId26"/>
    <p:sldId id="469" r:id="rId27"/>
    <p:sldId id="470" r:id="rId28"/>
    <p:sldId id="471" r:id="rId29"/>
    <p:sldId id="472" r:id="rId30"/>
    <p:sldId id="473" r:id="rId31"/>
    <p:sldId id="474" r:id="rId32"/>
    <p:sldId id="475" r:id="rId33"/>
    <p:sldId id="476" r:id="rId34"/>
    <p:sldId id="1233" r:id="rId35"/>
    <p:sldId id="1524" r:id="rId36"/>
    <p:sldId id="1525" r:id="rId37"/>
    <p:sldId id="1526" r:id="rId38"/>
    <p:sldId id="477" r:id="rId39"/>
    <p:sldId id="1309" r:id="rId40"/>
    <p:sldId id="441" r:id="rId41"/>
    <p:sldId id="449" r:id="rId42"/>
  </p:sldIdLst>
  <p:sldSz cx="9144000" cy="6858000" type="screen4x3"/>
  <p:notesSz cx="6858000" cy="9144000"/>
  <p:custDataLst>
    <p:tags r:id="rId4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novo" initials="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D3288D-28B8-4913-B81C-7B6A2FC6D6F0}" v="197" dt="2026-10-07T05:55:56.7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15" autoAdjust="0"/>
    <p:restoredTop sz="91292" autoAdjust="0"/>
  </p:normalViewPr>
  <p:slideViewPr>
    <p:cSldViewPr showGuides="1">
      <p:cViewPr varScale="1">
        <p:scale>
          <a:sx n="145" d="100"/>
          <a:sy n="145" d="100"/>
        </p:scale>
        <p:origin x="2088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691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1" d="100"/>
        <a:sy n="141" d="100"/>
      </p:scale>
      <p:origin x="0" y="12256"/>
    </p:cViewPr>
  </p:sorterViewPr>
  <p:notesViewPr>
    <p:cSldViewPr>
      <p:cViewPr varScale="1">
        <p:scale>
          <a:sx n="59" d="100"/>
          <a:sy n="59" d="100"/>
        </p:scale>
        <p:origin x="3065" y="45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ommentAuthors" Target="commentAuthor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2DDFBD-3A00-4189-8C8D-78071B1A5DE3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568E1B-F273-4987-A84E-DC035A03CD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B1F14-2969-4234-94C2-84FB01E3AC7A}" type="datetimeFigureOut">
              <a:rPr lang="en-AU" smtClean="0"/>
              <a:t>24/10/2026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95789E-32BF-4BCD-9509-3BAE69BCF054}" type="slidenum">
              <a:rPr lang="en-AU" smtClean="0"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© Software Architecture</a:t>
            </a:r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1403648" y="6356350"/>
            <a:ext cx="6336704" cy="365125"/>
          </a:xfrm>
        </p:spPr>
        <p:txBody>
          <a:bodyPr/>
          <a:lstStyle/>
          <a:p>
            <a:r>
              <a:rPr lang="en-US"/>
              <a:t>© Software Architecture</a:t>
            </a:r>
            <a:endParaRPr lang="en-AU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© Software Architecture</a:t>
            </a:r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  <p:pic>
        <p:nvPicPr>
          <p:cNvPr id="7" name="Picture 2" descr="C:\Users\lbass\Documents\SAP3\SAP3 cover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16632"/>
            <a:ext cx="1872208" cy="1872208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9592" y="274638"/>
            <a:ext cx="7787208" cy="7780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68760"/>
            <a:ext cx="4038600" cy="485740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68760"/>
            <a:ext cx="4038600" cy="485740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© Software Architecture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  <p:pic>
        <p:nvPicPr>
          <p:cNvPr id="8" name="Picture 2" descr="C:\Users\lbass\Documents\SAP3\SAP3 cover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16632"/>
            <a:ext cx="953592" cy="953592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274638"/>
            <a:ext cx="7715200" cy="77809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© Software Architecture</a:t>
            </a:r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  <p:pic>
        <p:nvPicPr>
          <p:cNvPr id="10" name="Picture 2" descr="C:\Users\lbass\Documents\SAP3\SAP3 cover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16632"/>
            <a:ext cx="953592" cy="953592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9592" y="274638"/>
            <a:ext cx="7787208" cy="7780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Software Architecture</a:t>
            </a:r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  <p:pic>
        <p:nvPicPr>
          <p:cNvPr id="6" name="Picture 2" descr="C:\Users\lbass\Documents\SAP3\SAP3 cover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16632"/>
            <a:ext cx="953592" cy="953592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Software Architecture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Software Architecture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Software Architecture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Software Architecture</a:t>
            </a:r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Software Architecture</a:t>
            </a:r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68760"/>
            <a:ext cx="8229600" cy="48574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© Software Architecture</a:t>
            </a:r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914400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Chapter 6: Interoperability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Software Architecture</a:t>
            </a:r>
            <a:endParaRPr lang="en-A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Interoperability?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1"/>
            <a:ext cx="8435280" cy="468052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Interoperability</a:t>
            </a:r>
            <a:r>
              <a:rPr lang="en-US" dirty="0"/>
              <a:t> is about the degree to which two or more systems can usefully exchange meaningful information </a:t>
            </a:r>
            <a:r>
              <a:rPr lang="en-US" altLang="zh-CN" dirty="0"/>
              <a:t>via interfaces in a particular context.</a:t>
            </a:r>
          </a:p>
          <a:p>
            <a:r>
              <a:rPr lang="en-US" dirty="0"/>
              <a:t>Any discussion of </a:t>
            </a:r>
            <a:r>
              <a:rPr lang="en-US" b="1" dirty="0">
                <a:solidFill>
                  <a:schemeClr val="tx2"/>
                </a:solidFill>
              </a:rPr>
              <a:t>a system’s interoperability </a:t>
            </a:r>
            <a:r>
              <a:rPr lang="en-US" dirty="0"/>
              <a:t>needs to identify with whom, and under what circumstance.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Software Architecture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Interoperability?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1"/>
            <a:ext cx="8390709" cy="5087589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Syntactic interoperability </a:t>
            </a:r>
            <a:r>
              <a:rPr lang="en-US" dirty="0"/>
              <a:t>is the ability to exchange data. (</a:t>
            </a:r>
            <a:r>
              <a:rPr lang="zh-CN" altLang="en-US" dirty="0"/>
              <a:t>语法互操作性</a:t>
            </a:r>
            <a:r>
              <a:rPr lang="en-US" dirty="0"/>
              <a:t>)</a:t>
            </a:r>
          </a:p>
          <a:p>
            <a:r>
              <a:rPr lang="en-US" b="1" dirty="0">
                <a:solidFill>
                  <a:schemeClr val="tx2"/>
                </a:solidFill>
              </a:rPr>
              <a:t>Semantic interoperability </a:t>
            </a:r>
            <a:r>
              <a:rPr lang="en-US" dirty="0"/>
              <a:t>is the ability to interpret the data being exchanged</a:t>
            </a:r>
            <a:r>
              <a:rPr lang="en-US" altLang="zh-CN" dirty="0"/>
              <a:t>. (</a:t>
            </a:r>
            <a:r>
              <a:rPr lang="zh-CN" altLang="en-US" dirty="0"/>
              <a:t>语义互操作性</a:t>
            </a:r>
            <a:r>
              <a:rPr lang="en-US" altLang="zh-CN" dirty="0"/>
              <a:t>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Software Architecture</a:t>
            </a:r>
            <a:endParaRPr lang="en-A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Interoperability?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1"/>
            <a:ext cx="8291264" cy="4536503"/>
          </a:xfrm>
        </p:spPr>
        <p:txBody>
          <a:bodyPr>
            <a:normAutofit/>
          </a:bodyPr>
          <a:lstStyle/>
          <a:p>
            <a:r>
              <a:rPr lang="en-US" dirty="0"/>
              <a:t>Two perspectives for achieving interoperability</a:t>
            </a:r>
          </a:p>
          <a:p>
            <a:pPr lvl="1"/>
            <a:r>
              <a:rPr lang="en-US" dirty="0"/>
              <a:t>With the knowledge about the interfaces of external systems, design that knowledge into the system </a:t>
            </a:r>
          </a:p>
          <a:p>
            <a:pPr lvl="1"/>
            <a:r>
              <a:rPr lang="en-US" dirty="0"/>
              <a:t>Without the knowledge about other systems, design the system to interoperate in a </a:t>
            </a:r>
            <a:r>
              <a:rPr lang="en-US" b="1" dirty="0"/>
              <a:t>more general</a:t>
            </a:r>
            <a:r>
              <a:rPr lang="en-US" dirty="0"/>
              <a:t> fashion 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Software Architecture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Motivation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The system provides a service to be used by a collection of unknown systems, </a:t>
            </a:r>
            <a:r>
              <a:rPr lang="en-US" altLang="zh-CN" dirty="0" err="1"/>
              <a:t>eg</a:t>
            </a:r>
            <a:r>
              <a:rPr lang="en-US" altLang="zh-CN" dirty="0"/>
              <a:t>., </a:t>
            </a:r>
            <a:r>
              <a:rPr lang="en-US" altLang="zh-CN" dirty="0" err="1"/>
              <a:t>GoogleMaps</a:t>
            </a:r>
            <a:endParaRPr lang="en-US" altLang="zh-CN" dirty="0"/>
          </a:p>
          <a:p>
            <a:r>
              <a:rPr lang="en-US" altLang="zh-CN" dirty="0"/>
              <a:t>The system is constructed from multiple existing systems, for example</a:t>
            </a:r>
          </a:p>
          <a:p>
            <a:pPr lvl="1"/>
            <a:r>
              <a:rPr lang="en-US" altLang="zh-CN" dirty="0"/>
              <a:t>Producing a representation of what was sensed</a:t>
            </a:r>
          </a:p>
          <a:p>
            <a:pPr lvl="1"/>
            <a:r>
              <a:rPr lang="en-US" altLang="zh-CN" dirty="0"/>
              <a:t>Interpreting the data</a:t>
            </a:r>
          </a:p>
          <a:p>
            <a:pPr lvl="1"/>
            <a:r>
              <a:rPr lang="en-US" altLang="zh-CN" dirty="0"/>
              <a:t>Processing the raw data</a:t>
            </a:r>
          </a:p>
          <a:p>
            <a:pPr lvl="1"/>
            <a:r>
              <a:rPr lang="en-US" altLang="zh-CN" dirty="0"/>
              <a:t>Sensing the environment</a:t>
            </a:r>
          </a:p>
          <a:p>
            <a:pPr lvl="1"/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Software Architecture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540568" y="274638"/>
            <a:ext cx="9361040" cy="778098"/>
          </a:xfrm>
        </p:spPr>
        <p:txBody>
          <a:bodyPr>
            <a:noAutofit/>
          </a:bodyPr>
          <a:lstStyle/>
          <a:p>
            <a:r>
              <a:rPr lang="en-US" altLang="zh-CN" dirty="0"/>
              <a:t>Two Important Aspects of Interoperability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87547"/>
            <a:ext cx="8229600" cy="4857403"/>
          </a:xfrm>
        </p:spPr>
        <p:txBody>
          <a:bodyPr/>
          <a:lstStyle/>
          <a:p>
            <a:r>
              <a:rPr lang="en-US" altLang="zh-CN" b="1" dirty="0">
                <a:solidFill>
                  <a:schemeClr val="tx2"/>
                </a:solidFill>
              </a:rPr>
              <a:t>Discovery</a:t>
            </a:r>
            <a:r>
              <a:rPr lang="en-US" altLang="zh-CN" dirty="0"/>
              <a:t>. The consumer of a service must discover the location, identity, and interface of service</a:t>
            </a:r>
          </a:p>
          <a:p>
            <a:r>
              <a:rPr lang="en-US" altLang="zh-CN" b="1" dirty="0">
                <a:solidFill>
                  <a:schemeClr val="tx2"/>
                </a:solidFill>
              </a:rPr>
              <a:t>Handling the response</a:t>
            </a:r>
            <a:r>
              <a:rPr lang="en-US" altLang="zh-CN" dirty="0"/>
              <a:t>. Three possibilities:</a:t>
            </a:r>
          </a:p>
          <a:p>
            <a:pPr lvl="1"/>
            <a:r>
              <a:rPr lang="en-US" altLang="zh-CN" dirty="0"/>
              <a:t>The service reports back to the requester</a:t>
            </a:r>
          </a:p>
          <a:p>
            <a:pPr lvl="1"/>
            <a:r>
              <a:rPr lang="en-US" altLang="zh-CN" dirty="0"/>
              <a:t>The service sends its response on to another system</a:t>
            </a:r>
          </a:p>
          <a:p>
            <a:pPr lvl="1"/>
            <a:r>
              <a:rPr lang="en-US" altLang="zh-CN" dirty="0"/>
              <a:t>The service broadcasts its response to any interested parties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Software Architecture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Interoperability General Scenario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Software Architecture</a:t>
            </a:r>
            <a:endParaRPr lang="en-AU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79512" y="1340768"/>
          <a:ext cx="8856984" cy="49685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15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753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0364">
                <a:tc>
                  <a:txBody>
                    <a:bodyPr/>
                    <a:lstStyle/>
                    <a:p>
                      <a:pPr marL="0" marR="0">
                        <a:lnSpc>
                          <a:spcPts val="145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2000" b="1" dirty="0">
                          <a:effectLst/>
                        </a:rPr>
                        <a:t>Portion of </a:t>
                      </a:r>
                      <a:br>
                        <a:rPr lang="en-US" sz="2000" b="1" dirty="0">
                          <a:effectLst/>
                        </a:rPr>
                      </a:br>
                      <a:r>
                        <a:rPr lang="en-US" sz="2000" b="1" dirty="0">
                          <a:effectLst/>
                        </a:rPr>
                        <a:t>Scenario</a:t>
                      </a:r>
                      <a:endParaRPr lang="en-US" sz="2000" b="1" dirty="0">
                        <a:effectLst/>
                        <a:latin typeface="Times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5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2000" b="1" dirty="0">
                          <a:effectLst/>
                        </a:rPr>
                        <a:t>Possible Values</a:t>
                      </a:r>
                      <a:endParaRPr lang="en-US" sz="2000" b="1" dirty="0">
                        <a:effectLst/>
                        <a:latin typeface="Times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181">
                <a:tc>
                  <a:txBody>
                    <a:bodyPr/>
                    <a:lstStyle/>
                    <a:p>
                      <a:pPr marL="0" marR="0">
                        <a:lnSpc>
                          <a:spcPts val="145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Source</a:t>
                      </a:r>
                      <a:endParaRPr lang="en-US" sz="1800">
                        <a:effectLst/>
                        <a:latin typeface="Times New Roman" panose="02020603050405020304" charset="0"/>
                        <a:ea typeface="Times New Roman" panose="02020603050405020304"/>
                        <a:cs typeface="Times New Roman" panose="0202060305040502030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ts val="1450"/>
                        </a:lnSpc>
                        <a:spcBef>
                          <a:spcPts val="100"/>
                        </a:spcBef>
                        <a:spcAft>
                          <a:spcPts val="300"/>
                        </a:spcAft>
                        <a:tabLst>
                          <a:tab pos="228600" algn="l"/>
                          <a:tab pos="274320" algn="l"/>
                          <a:tab pos="274320" algn="l"/>
                        </a:tabLst>
                      </a:pPr>
                      <a:r>
                        <a:rPr lang="en-US" sz="1800" kern="1100" dirty="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A system</a:t>
                      </a:r>
                      <a:endParaRPr lang="en-US" sz="1800" kern="1100" dirty="0">
                        <a:effectLst/>
                        <a:latin typeface="Times New Roman" panose="02020603050405020304" charset="0"/>
                        <a:ea typeface="Times New Roman" panose="02020603050405020304"/>
                        <a:cs typeface="Times New Roman" panose="0202060305040502030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181">
                <a:tc>
                  <a:txBody>
                    <a:bodyPr/>
                    <a:lstStyle/>
                    <a:p>
                      <a:pPr marL="0" marR="0">
                        <a:lnSpc>
                          <a:spcPts val="145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800" b="1" dirty="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Stimulus</a:t>
                      </a:r>
                      <a:endParaRPr lang="en-US" sz="1800" b="1" dirty="0">
                        <a:effectLst/>
                        <a:latin typeface="Times New Roman" panose="02020603050405020304" charset="0"/>
                        <a:ea typeface="Times New Roman" panose="02020603050405020304"/>
                        <a:cs typeface="Times New Roman" panose="0202060305040502030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5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A request to exchange information among system(s).</a:t>
                      </a:r>
                      <a:endParaRPr lang="en-US" sz="1800" dirty="0">
                        <a:effectLst/>
                        <a:latin typeface="Times New Roman" panose="02020603050405020304" charset="0"/>
                        <a:ea typeface="Times New Roman" panose="02020603050405020304"/>
                        <a:cs typeface="Times New Roman" panose="0202060305040502030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181">
                <a:tc>
                  <a:txBody>
                    <a:bodyPr/>
                    <a:lstStyle/>
                    <a:p>
                      <a:pPr marL="0" marR="0">
                        <a:lnSpc>
                          <a:spcPts val="145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Artifact</a:t>
                      </a:r>
                      <a:endParaRPr lang="en-US" sz="1800">
                        <a:effectLst/>
                        <a:latin typeface="Times New Roman" panose="02020603050405020304" charset="0"/>
                        <a:ea typeface="Times New Roman" panose="02020603050405020304"/>
                        <a:cs typeface="Times New Roman" panose="0202060305040502030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5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The systems that wish to interoperate</a:t>
                      </a:r>
                      <a:endParaRPr lang="en-US" sz="1800" dirty="0">
                        <a:effectLst/>
                        <a:latin typeface="Times New Roman" panose="02020603050405020304" charset="0"/>
                        <a:ea typeface="Times New Roman" panose="02020603050405020304"/>
                        <a:cs typeface="Times New Roman" panose="0202060305040502030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364">
                <a:tc>
                  <a:txBody>
                    <a:bodyPr/>
                    <a:lstStyle/>
                    <a:p>
                      <a:pPr marL="0" marR="0">
                        <a:lnSpc>
                          <a:spcPts val="145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Environment</a:t>
                      </a:r>
                      <a:endParaRPr lang="en-US" sz="1800" dirty="0">
                        <a:effectLst/>
                        <a:latin typeface="Times New Roman" panose="02020603050405020304" charset="0"/>
                        <a:ea typeface="Times New Roman" panose="02020603050405020304"/>
                        <a:cs typeface="Times New Roman" panose="0202060305040502030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5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System(s) wishing to interoperate are discovered at run time or known prior to run time.</a:t>
                      </a:r>
                      <a:endParaRPr lang="en-US" sz="1800" dirty="0">
                        <a:effectLst/>
                        <a:latin typeface="Times New Roman" panose="02020603050405020304" charset="0"/>
                        <a:ea typeface="Times New Roman" panose="02020603050405020304"/>
                        <a:cs typeface="Times New Roman" panose="0202060305040502030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43733">
                <a:tc>
                  <a:txBody>
                    <a:bodyPr/>
                    <a:lstStyle/>
                    <a:p>
                      <a:pPr marL="0" marR="0">
                        <a:lnSpc>
                          <a:spcPts val="145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800" b="1" dirty="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Response</a:t>
                      </a:r>
                      <a:endParaRPr lang="en-US" sz="1800" b="1" dirty="0">
                        <a:effectLst/>
                        <a:latin typeface="Times New Roman" panose="02020603050405020304" charset="0"/>
                        <a:ea typeface="Times New Roman" panose="02020603050405020304"/>
                        <a:cs typeface="Times New Roman" panose="0202060305040502030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5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One or more of the following:</a:t>
                      </a:r>
                    </a:p>
                    <a:p>
                      <a:pPr marL="342900" marR="0" lvl="0" indent="-342900">
                        <a:lnSpc>
                          <a:spcPts val="1450"/>
                        </a:lnSpc>
                        <a:spcBef>
                          <a:spcPts val="100"/>
                        </a:spcBef>
                        <a:spcAft>
                          <a:spcPts val="300"/>
                        </a:spcAft>
                        <a:buSzPts val="800"/>
                        <a:buFont typeface="Symbol" panose="05050102010706020507"/>
                        <a:buChar char=""/>
                        <a:tabLst>
                          <a:tab pos="228600" algn="l"/>
                          <a:tab pos="274320" algn="l"/>
                        </a:tabLst>
                      </a:pPr>
                      <a:r>
                        <a:rPr lang="en-US" sz="1800" kern="110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the request is (appropriately) rejected and appropriate entities (people or systems) are notified</a:t>
                      </a:r>
                    </a:p>
                    <a:p>
                      <a:pPr marL="342900" marR="0" lvl="0" indent="-342900">
                        <a:lnSpc>
                          <a:spcPts val="1450"/>
                        </a:lnSpc>
                        <a:spcBef>
                          <a:spcPts val="100"/>
                        </a:spcBef>
                        <a:spcAft>
                          <a:spcPts val="300"/>
                        </a:spcAft>
                        <a:buSzPts val="800"/>
                        <a:buFont typeface="Symbol" panose="05050102010706020507"/>
                        <a:buChar char=""/>
                        <a:tabLst>
                          <a:tab pos="228600" algn="l"/>
                          <a:tab pos="274320" algn="l"/>
                        </a:tabLst>
                      </a:pPr>
                      <a:r>
                        <a:rPr lang="en-US" sz="1800" kern="110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the request is (appropriately) accepted and information is exchanged successfully</a:t>
                      </a:r>
                    </a:p>
                    <a:p>
                      <a:pPr marL="342900" marR="0" lvl="0" indent="-342900">
                        <a:lnSpc>
                          <a:spcPts val="1450"/>
                        </a:lnSpc>
                        <a:spcBef>
                          <a:spcPts val="100"/>
                        </a:spcBef>
                        <a:spcAft>
                          <a:spcPts val="300"/>
                        </a:spcAft>
                        <a:buSzPts val="800"/>
                        <a:buFont typeface="Symbol" panose="05050102010706020507"/>
                        <a:buChar char=""/>
                        <a:tabLst>
                          <a:tab pos="228600" algn="l"/>
                          <a:tab pos="274320" algn="l"/>
                        </a:tabLst>
                      </a:pPr>
                      <a:r>
                        <a:rPr lang="en-US" sz="1800" kern="110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the request is logged by one or more of the involved systems</a:t>
                      </a:r>
                      <a:endParaRPr lang="en-US" sz="1800" kern="1100">
                        <a:effectLst/>
                        <a:latin typeface="Times New Roman" panose="02020603050405020304" charset="0"/>
                        <a:ea typeface="Times New Roman" panose="02020603050405020304"/>
                        <a:cs typeface="Times New Roman" panose="0202060305040502030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63550">
                <a:tc>
                  <a:txBody>
                    <a:bodyPr/>
                    <a:lstStyle/>
                    <a:p>
                      <a:pPr marL="0" marR="0">
                        <a:lnSpc>
                          <a:spcPts val="145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800" b="1" dirty="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Response </a:t>
                      </a:r>
                      <a:br>
                        <a:rPr lang="en-US" sz="1800" b="1" dirty="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</a:br>
                      <a:r>
                        <a:rPr lang="en-US" sz="1800" b="1" dirty="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Measure</a:t>
                      </a:r>
                      <a:endParaRPr lang="en-US" sz="1800" b="1" dirty="0">
                        <a:effectLst/>
                        <a:latin typeface="Times New Roman" panose="02020603050405020304" charset="0"/>
                        <a:ea typeface="Times New Roman" panose="02020603050405020304"/>
                        <a:cs typeface="Times New Roman" panose="0202060305040502030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5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One or more of the following:</a:t>
                      </a:r>
                    </a:p>
                    <a:p>
                      <a:pPr marL="342900" marR="0" lvl="0" indent="-342900">
                        <a:lnSpc>
                          <a:spcPts val="1450"/>
                        </a:lnSpc>
                        <a:spcBef>
                          <a:spcPts val="100"/>
                        </a:spcBef>
                        <a:spcAft>
                          <a:spcPts val="300"/>
                        </a:spcAft>
                        <a:buSzPts val="800"/>
                        <a:buFont typeface="Symbol" panose="05050102010706020507"/>
                        <a:buChar char=""/>
                        <a:tabLst>
                          <a:tab pos="228600" algn="l"/>
                          <a:tab pos="274320" algn="l"/>
                        </a:tabLst>
                      </a:pPr>
                      <a:r>
                        <a:rPr lang="en-US" sz="1800" kern="1100" dirty="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percentage of information exchanges correctly processed </a:t>
                      </a:r>
                    </a:p>
                    <a:p>
                      <a:pPr marL="342900" marR="0" lvl="0" indent="-342900">
                        <a:lnSpc>
                          <a:spcPts val="1450"/>
                        </a:lnSpc>
                        <a:spcBef>
                          <a:spcPts val="100"/>
                        </a:spcBef>
                        <a:spcAft>
                          <a:spcPts val="300"/>
                        </a:spcAft>
                        <a:buSzPts val="800"/>
                        <a:buFont typeface="Symbol" panose="05050102010706020507"/>
                        <a:buChar char=""/>
                        <a:tabLst>
                          <a:tab pos="228600" algn="l"/>
                          <a:tab pos="274320" algn="l"/>
                        </a:tabLst>
                      </a:pPr>
                      <a:r>
                        <a:rPr lang="en-US" sz="1800" kern="1100" dirty="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percentage of information exchanges rejected </a:t>
                      </a:r>
                    </a:p>
                    <a:p>
                      <a:pPr marL="0" marR="0" indent="0">
                        <a:lnSpc>
                          <a:spcPts val="1450"/>
                        </a:lnSpc>
                        <a:spcBef>
                          <a:spcPts val="100"/>
                        </a:spcBef>
                        <a:spcAft>
                          <a:spcPts val="300"/>
                        </a:spcAft>
                        <a:tabLst>
                          <a:tab pos="228600" algn="l"/>
                          <a:tab pos="274320" algn="l"/>
                          <a:tab pos="274320" algn="l"/>
                        </a:tabLst>
                      </a:pPr>
                      <a:r>
                        <a:rPr lang="en-US" sz="1800" kern="1100" dirty="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 </a:t>
                      </a:r>
                      <a:endParaRPr lang="en-US" sz="1800" kern="1100" dirty="0">
                        <a:effectLst/>
                        <a:latin typeface="Times New Roman" panose="02020603050405020304" charset="0"/>
                        <a:ea typeface="Times New Roman" panose="02020603050405020304"/>
                        <a:cs typeface="Times New Roman" panose="0202060305040502030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Sample Concrete Interoperability 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64441"/>
            <a:ext cx="8686800" cy="3892751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Our vehicle information system </a:t>
            </a:r>
            <a:r>
              <a:rPr lang="en-US" dirty="0"/>
              <a:t>sends our current location to </a:t>
            </a:r>
            <a:r>
              <a:rPr lang="en-US" dirty="0">
                <a:solidFill>
                  <a:schemeClr val="tx2"/>
                </a:solidFill>
              </a:rPr>
              <a:t>the traffic monitoring system</a:t>
            </a:r>
            <a:r>
              <a:rPr lang="en-US" dirty="0"/>
              <a:t>.</a:t>
            </a:r>
          </a:p>
          <a:p>
            <a:r>
              <a:rPr lang="en-US" dirty="0"/>
              <a:t>The traffic monitoring system combines our location with other information, overlays this information on a Google Map, and </a:t>
            </a:r>
            <a:r>
              <a:rPr lang="en-US" b="1" i="1" dirty="0"/>
              <a:t>broadcasts</a:t>
            </a:r>
            <a:r>
              <a:rPr lang="en-US" dirty="0"/>
              <a:t> it.</a:t>
            </a:r>
          </a:p>
          <a:p>
            <a:r>
              <a:rPr lang="en-US" dirty="0"/>
              <a:t>Our location information is </a:t>
            </a:r>
            <a:r>
              <a:rPr lang="en-US" b="1" dirty="0">
                <a:solidFill>
                  <a:srgbClr val="C00000"/>
                </a:solidFill>
              </a:rPr>
              <a:t>correctly</a:t>
            </a:r>
            <a:r>
              <a:rPr lang="en-US" dirty="0"/>
              <a:t> included with a probability of 99.9%.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Software Architecture</a:t>
            </a:r>
            <a:endParaRPr lang="en-AU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SOAP </a:t>
            </a:r>
            <a:r>
              <a:rPr lang="en-US" altLang="zh-CN" dirty="0" err="1"/>
              <a:t>v.s</a:t>
            </a:r>
            <a:r>
              <a:rPr lang="en-US" altLang="zh-CN" dirty="0"/>
              <a:t>. REST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75745"/>
            <a:ext cx="8229600" cy="4857403"/>
          </a:xfrm>
        </p:spPr>
        <p:txBody>
          <a:bodyPr/>
          <a:lstStyle/>
          <a:p>
            <a:r>
              <a:rPr lang="en-US" altLang="zh-CN" sz="2800" dirty="0"/>
              <a:t>Two technology options to allow the web-based application to interoperate</a:t>
            </a:r>
          </a:p>
          <a:p>
            <a:r>
              <a:rPr lang="en-US" altLang="zh-CN" sz="2800" dirty="0"/>
              <a:t>SOAP is used in SOA systems along with a set of protocols</a:t>
            </a:r>
          </a:p>
          <a:p>
            <a:pPr lvl="1"/>
            <a:r>
              <a:rPr lang="en-US" altLang="zh-CN" sz="2400" dirty="0"/>
              <a:t>Service description&amp; discovery, e.g., WSDL, UDDI</a:t>
            </a:r>
          </a:p>
          <a:p>
            <a:pPr lvl="1"/>
            <a:r>
              <a:rPr lang="en-US" altLang="zh-CN" sz="2400" dirty="0"/>
              <a:t>Service composition, e.g., BPEL</a:t>
            </a:r>
          </a:p>
          <a:p>
            <a:r>
              <a:rPr lang="en-US" altLang="zh-CN" sz="2800" dirty="0"/>
              <a:t>SOAP is more complex and used for exchange messages with structured data, while REST is simple and used for small messages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Software Architecture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6" name="内容占位符 5"/>
          <p:cNvGraphicFramePr>
            <a:graphicFrameLocks noGrp="1"/>
          </p:cNvGraphicFramePr>
          <p:nvPr>
            <p:ph idx="1"/>
          </p:nvPr>
        </p:nvGraphicFramePr>
        <p:xfrm>
          <a:off x="457200" y="1684338"/>
          <a:ext cx="8229600" cy="4025900"/>
        </p:xfrm>
        <a:graphic>
          <a:graphicData uri="http://schemas.openxmlformats.org/drawingml/2006/table">
            <a:tbl>
              <a:tblPr/>
              <a:tblGrid>
                <a:gridCol w="26606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44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44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  <a:latin typeface="quote-cjk-patch"/>
                        </a:rPr>
                        <a:t>特性</a:t>
                      </a: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0" i="1">
                          <a:effectLst/>
                          <a:latin typeface="quote-cjk-patch"/>
                        </a:rPr>
                        <a:t>SOAP (WS- Stack)</a:t>
                      </a:r>
                      <a:r>
                        <a:rPr lang="en-US" b="0">
                          <a:effectLst/>
                          <a:latin typeface="quote-cjk-patch"/>
                        </a:rPr>
                        <a:t>*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REST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1">
                          <a:effectLst/>
                          <a:latin typeface="quote-cjk-patch"/>
                        </a:rPr>
                        <a:t>本质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  <a:latin typeface="quote-cjk-patch"/>
                        </a:rPr>
                        <a:t>协议 </a:t>
                      </a:r>
                      <a:r>
                        <a:rPr lang="en-US" altLang="zh-CN" b="0">
                          <a:effectLst/>
                          <a:latin typeface="quote-cjk-patch"/>
                        </a:rPr>
                        <a:t>(</a:t>
                      </a:r>
                      <a:r>
                        <a:rPr lang="en-US" b="0">
                          <a:effectLst/>
                          <a:latin typeface="quote-cjk-patch"/>
                        </a:rPr>
                        <a:t>Protocol)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  <a:latin typeface="quote-cjk-patch"/>
                        </a:rPr>
                        <a:t>架构风格 </a:t>
                      </a:r>
                      <a:r>
                        <a:rPr lang="en-US" altLang="zh-CN" b="0">
                          <a:effectLst/>
                          <a:latin typeface="quote-cjk-patch"/>
                        </a:rPr>
                        <a:t>(</a:t>
                      </a:r>
                      <a:r>
                        <a:rPr lang="en-US" b="0">
                          <a:effectLst/>
                          <a:latin typeface="quote-cjk-patch"/>
                        </a:rPr>
                        <a:t>Architectural Style)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1">
                          <a:effectLst/>
                          <a:latin typeface="quote-cjk-patch"/>
                        </a:rPr>
                        <a:t>核心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  <a:latin typeface="quote-cjk-patch"/>
                        </a:rPr>
                        <a:t>一套严格的</a:t>
                      </a:r>
                      <a:r>
                        <a:rPr lang="en-US" b="0">
                          <a:effectLst/>
                          <a:latin typeface="quote-cjk-patch"/>
                        </a:rPr>
                        <a:t>XML</a:t>
                      </a:r>
                      <a:r>
                        <a:rPr lang="zh-CN" altLang="en-US" b="0">
                          <a:effectLst/>
                          <a:latin typeface="quote-cjk-patch"/>
                        </a:rPr>
                        <a:t>标准（</a:t>
                      </a:r>
                      <a:r>
                        <a:rPr lang="en-US" b="0">
                          <a:effectLst/>
                          <a:latin typeface="quote-cjk-patch"/>
                        </a:rPr>
                        <a:t>SOAP, WSDL, etc.)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  <a:latin typeface="quote-cjk-patch"/>
                        </a:rPr>
                        <a:t>利用</a:t>
                      </a:r>
                      <a:r>
                        <a:rPr lang="en-US" b="0">
                          <a:effectLst/>
                          <a:latin typeface="quote-cjk-patch"/>
                        </a:rPr>
                        <a:t>Web</a:t>
                      </a:r>
                      <a:r>
                        <a:rPr lang="zh-CN" altLang="en-US" b="0">
                          <a:effectLst/>
                          <a:latin typeface="quote-cjk-patch"/>
                        </a:rPr>
                        <a:t>标准（</a:t>
                      </a:r>
                      <a:r>
                        <a:rPr lang="en-US" b="0">
                          <a:effectLst/>
                          <a:latin typeface="quote-cjk-patch"/>
                        </a:rPr>
                        <a:t>HTTP, URI, JSON/XML）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1">
                          <a:effectLst/>
                          <a:latin typeface="quote-cjk-patch"/>
                        </a:rPr>
                        <a:t>复杂度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1">
                          <a:effectLst/>
                          <a:latin typeface="quote-cjk-patch"/>
                        </a:rPr>
                        <a:t>更复杂</a:t>
                      </a:r>
                      <a:r>
                        <a:rPr lang="zh-CN" altLang="en-US" b="0">
                          <a:effectLst/>
                          <a:latin typeface="quote-cjk-patch"/>
                        </a:rPr>
                        <a:t>，重量级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1">
                          <a:effectLst/>
                          <a:latin typeface="quote-cjk-patch"/>
                        </a:rPr>
                        <a:t>更简单</a:t>
                      </a:r>
                      <a:r>
                        <a:rPr lang="zh-CN" altLang="en-US" b="0">
                          <a:effectLst/>
                          <a:latin typeface="quote-cjk-patch"/>
                        </a:rPr>
                        <a:t>，轻量级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1">
                          <a:effectLst/>
                          <a:latin typeface="quote-cjk-patch"/>
                        </a:rPr>
                        <a:t>关注点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1">
                          <a:effectLst/>
                          <a:latin typeface="quote-cjk-patch"/>
                        </a:rPr>
                        <a:t>操作（</a:t>
                      </a:r>
                      <a:r>
                        <a:rPr lang="en-US" b="1">
                          <a:effectLst/>
                          <a:latin typeface="quote-cjk-patch"/>
                        </a:rPr>
                        <a:t>Action）</a:t>
                      </a:r>
                      <a:r>
                        <a:rPr lang="en-US" b="0">
                          <a:effectLst/>
                          <a:latin typeface="quote-cjk-patch"/>
                        </a:rPr>
                        <a:t> </a:t>
                      </a:r>
                      <a:r>
                        <a:rPr lang="zh-CN" altLang="en-US" b="0">
                          <a:effectLst/>
                          <a:latin typeface="quote-cjk-patch"/>
                        </a:rPr>
                        <a:t>和 </a:t>
                      </a:r>
                      <a:r>
                        <a:rPr lang="zh-CN" altLang="en-US" b="1">
                          <a:effectLst/>
                          <a:latin typeface="quote-cjk-patch"/>
                        </a:rPr>
                        <a:t>消息（</a:t>
                      </a:r>
                      <a:r>
                        <a:rPr lang="en-US" b="1">
                          <a:effectLst/>
                          <a:latin typeface="quote-cjk-patch"/>
                        </a:rPr>
                        <a:t>Message）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1">
                          <a:effectLst/>
                          <a:latin typeface="quote-cjk-patch"/>
                        </a:rPr>
                        <a:t>资源（</a:t>
                      </a:r>
                      <a:r>
                        <a:rPr lang="en-US" b="1">
                          <a:effectLst/>
                          <a:latin typeface="quote-cjk-patch"/>
                        </a:rPr>
                        <a:t>Resource）</a:t>
                      </a:r>
                      <a:r>
                        <a:rPr lang="en-US" b="0">
                          <a:effectLst/>
                          <a:latin typeface="quote-cjk-patch"/>
                        </a:rPr>
                        <a:t> </a:t>
                      </a:r>
                      <a:r>
                        <a:rPr lang="zh-CN" altLang="en-US" b="0">
                          <a:effectLst/>
                          <a:latin typeface="quote-cjk-patch"/>
                        </a:rPr>
                        <a:t>和 </a:t>
                      </a:r>
                      <a:r>
                        <a:rPr lang="zh-CN" altLang="en-US" b="1">
                          <a:effectLst/>
                          <a:latin typeface="quote-cjk-patch"/>
                        </a:rPr>
                        <a:t>状态（</a:t>
                      </a:r>
                      <a:r>
                        <a:rPr lang="en-US" b="1">
                          <a:effectLst/>
                          <a:latin typeface="quote-cjk-patch"/>
                        </a:rPr>
                        <a:t>State）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1">
                          <a:effectLst/>
                          <a:latin typeface="quote-cjk-patch"/>
                        </a:rPr>
                        <a:t>描述与发现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1">
                          <a:effectLst/>
                          <a:latin typeface="quote-cjk-patch"/>
                        </a:rPr>
                        <a:t>强制式</a:t>
                      </a:r>
                      <a:r>
                        <a:rPr lang="zh-CN" altLang="en-US" b="0">
                          <a:effectLst/>
                          <a:latin typeface="quote-cjk-patch"/>
                        </a:rPr>
                        <a:t>，需要严格的</a:t>
                      </a:r>
                      <a:r>
                        <a:rPr lang="en-US" altLang="zh-CN" b="0">
                          <a:effectLst/>
                          <a:latin typeface="quote-cjk-patch"/>
                        </a:rPr>
                        <a:t>WSDL</a:t>
                      </a:r>
                      <a:r>
                        <a:rPr lang="zh-CN" altLang="en-US" b="0">
                          <a:effectLst/>
                          <a:latin typeface="quote-cjk-patch"/>
                        </a:rPr>
                        <a:t>和</a:t>
                      </a:r>
                      <a:r>
                        <a:rPr lang="en-US" altLang="zh-CN" b="0">
                          <a:effectLst/>
                          <a:latin typeface="quote-cjk-patch"/>
                        </a:rPr>
                        <a:t>UDDI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1">
                          <a:effectLst/>
                          <a:latin typeface="quote-cjk-patch"/>
                        </a:rPr>
                        <a:t>自描述性</a:t>
                      </a:r>
                      <a:r>
                        <a:rPr lang="zh-CN" altLang="en-US" b="0">
                          <a:effectLst/>
                          <a:latin typeface="quote-cjk-patch"/>
                        </a:rPr>
                        <a:t>，依赖简单的文档（如</a:t>
                      </a:r>
                      <a:r>
                        <a:rPr lang="en-US" altLang="zh-CN" b="0">
                          <a:effectLst/>
                          <a:latin typeface="quote-cjk-patch"/>
                        </a:rPr>
                        <a:t>OpenAPI</a:t>
                      </a:r>
                      <a:r>
                        <a:rPr lang="zh-CN" altLang="en-US" b="0">
                          <a:effectLst/>
                          <a:latin typeface="quote-cjk-patch"/>
                        </a:rPr>
                        <a:t>）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1">
                          <a:effectLst/>
                          <a:latin typeface="quote-cjk-patch"/>
                        </a:rPr>
                        <a:t>适用场景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  <a:latin typeface="quote-cjk-patch"/>
                        </a:rPr>
                        <a:t>企业级、高安全性、需要</a:t>
                      </a:r>
                      <a:r>
                        <a:rPr lang="en-US" altLang="zh-CN" b="0">
                          <a:effectLst/>
                          <a:latin typeface="quote-cjk-patch"/>
                        </a:rPr>
                        <a:t>ACID</a:t>
                      </a:r>
                      <a:r>
                        <a:rPr lang="zh-CN" altLang="en-US" b="0">
                          <a:effectLst/>
                          <a:latin typeface="quote-cjk-patch"/>
                        </a:rPr>
                        <a:t>事务的复杂系统（如银行交易）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 dirty="0">
                          <a:effectLst/>
                          <a:latin typeface="quote-cjk-patch"/>
                        </a:rPr>
                        <a:t>快速开发、对性能要求高、面向移动和</a:t>
                      </a:r>
                      <a:r>
                        <a:rPr lang="en-US" altLang="zh-CN" b="0" dirty="0">
                          <a:effectLst/>
                          <a:latin typeface="quote-cjk-patch"/>
                        </a:rPr>
                        <a:t>Web</a:t>
                      </a:r>
                      <a:r>
                        <a:rPr lang="zh-CN" altLang="en-US" b="0" dirty="0">
                          <a:effectLst/>
                          <a:latin typeface="quote-cjk-patch"/>
                        </a:rPr>
                        <a:t>应用的简单交互（如社交媒体</a:t>
                      </a:r>
                      <a:r>
                        <a:rPr lang="en-US" altLang="zh-CN" b="0" dirty="0">
                          <a:effectLst/>
                          <a:latin typeface="quote-cjk-patch"/>
                        </a:rPr>
                        <a:t>API</a:t>
                      </a:r>
                      <a:r>
                        <a:rPr lang="zh-CN" altLang="en-US" b="0" dirty="0">
                          <a:effectLst/>
                          <a:latin typeface="quote-cjk-patch"/>
                        </a:rPr>
                        <a:t>）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Software Architecture</a:t>
            </a:r>
            <a:endParaRPr lang="en-AU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5" name="内容占位符 4"/>
          <p:cNvGraphicFramePr>
            <a:graphicFrameLocks noGrp="1"/>
          </p:cNvGraphicFramePr>
          <p:nvPr>
            <p:ph idx="1"/>
          </p:nvPr>
        </p:nvGraphicFramePr>
        <p:xfrm>
          <a:off x="457200" y="2173288"/>
          <a:ext cx="8229600" cy="3048000"/>
        </p:xfrm>
        <a:graphic>
          <a:graphicData uri="http://schemas.openxmlformats.org/drawingml/2006/table">
            <a:tbl>
              <a:tblPr/>
              <a:tblGrid>
                <a:gridCol w="19880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05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05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05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  <a:latin typeface="quote-cjk-patch"/>
                        </a:rPr>
                        <a:t>特性</a:t>
                      </a: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SOAP (WS-*)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RESTful API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altLang="en-US" b="1">
                          <a:effectLst/>
                          <a:latin typeface="quote-cjk-patch"/>
                        </a:rPr>
                        <a:t>滴滴的选择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1">
                          <a:effectLst/>
                          <a:latin typeface="quote-cjk-patch"/>
                        </a:rPr>
                        <a:t>设计哲学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  <a:latin typeface="quote-cjk-patch"/>
                        </a:rPr>
                        <a:t>一套严格的</a:t>
                      </a:r>
                      <a:r>
                        <a:rPr lang="zh-CN" altLang="en-US" b="1">
                          <a:effectLst/>
                          <a:latin typeface="quote-cjk-patch"/>
                        </a:rPr>
                        <a:t>操作</a:t>
                      </a:r>
                      <a:r>
                        <a:rPr lang="zh-CN" altLang="en-US" b="0">
                          <a:effectLst/>
                          <a:latin typeface="quote-cjk-patch"/>
                        </a:rPr>
                        <a:t>和</a:t>
                      </a:r>
                      <a:r>
                        <a:rPr lang="zh-CN" altLang="en-US" b="1">
                          <a:effectLst/>
                          <a:latin typeface="quote-cjk-patch"/>
                        </a:rPr>
                        <a:t>消息</a:t>
                      </a:r>
                      <a:r>
                        <a:rPr lang="zh-CN" altLang="en-US" b="0">
                          <a:effectLst/>
                          <a:latin typeface="quote-cjk-patch"/>
                        </a:rPr>
                        <a:t>协议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  <a:latin typeface="quote-cjk-patch"/>
                        </a:rPr>
                        <a:t>一种基于</a:t>
                      </a:r>
                      <a:r>
                        <a:rPr lang="zh-CN" altLang="en-US" b="1">
                          <a:effectLst/>
                          <a:latin typeface="quote-cjk-patch"/>
                        </a:rPr>
                        <a:t>资源</a:t>
                      </a:r>
                      <a:r>
                        <a:rPr lang="zh-CN" altLang="en-US" b="0">
                          <a:effectLst/>
                          <a:latin typeface="quote-cjk-patch"/>
                        </a:rPr>
                        <a:t>和</a:t>
                      </a:r>
                      <a:r>
                        <a:rPr lang="en-US" altLang="zh-CN" b="1">
                          <a:effectLst/>
                          <a:latin typeface="quote-cjk-patch"/>
                        </a:rPr>
                        <a:t>HTTP</a:t>
                      </a:r>
                      <a:r>
                        <a:rPr lang="zh-CN" altLang="en-US" b="1">
                          <a:effectLst/>
                          <a:latin typeface="quote-cjk-patch"/>
                        </a:rPr>
                        <a:t>标准</a:t>
                      </a:r>
                      <a:r>
                        <a:rPr lang="zh-CN" altLang="en-US" b="0">
                          <a:effectLst/>
                          <a:latin typeface="quote-cjk-patch"/>
                        </a:rPr>
                        <a:t>的架构风格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CN" b="1">
                          <a:effectLst/>
                          <a:latin typeface="quote-cjk-patch"/>
                        </a:rPr>
                        <a:t>REST</a:t>
                      </a:r>
                      <a:r>
                        <a:rPr lang="zh-CN" altLang="en-US" b="0">
                          <a:effectLst/>
                          <a:latin typeface="quote-cjk-patch"/>
                        </a:rPr>
                        <a:t> </a:t>
                      </a:r>
                      <a:r>
                        <a:rPr lang="en-US" altLang="zh-CN" b="0">
                          <a:effectLst/>
                          <a:latin typeface="quote-cjk-patch"/>
                        </a:rPr>
                        <a:t>(</a:t>
                      </a:r>
                      <a:r>
                        <a:rPr lang="zh-CN" altLang="en-US" b="0">
                          <a:effectLst/>
                          <a:latin typeface="quote-cjk-patch"/>
                        </a:rPr>
                        <a:t>资源：车、订单、用户</a:t>
                      </a:r>
                      <a:r>
                        <a:rPr lang="en-US" altLang="zh-CN" b="0">
                          <a:effectLst/>
                          <a:latin typeface="quote-cjk-patch"/>
                        </a:rPr>
                        <a:t>)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1">
                          <a:effectLst/>
                          <a:latin typeface="quote-cjk-patch"/>
                        </a:rPr>
                        <a:t>主要用户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  <a:latin typeface="quote-cjk-patch"/>
                        </a:rPr>
                        <a:t>企业级系统、内部后端集成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  <a:latin typeface="quote-cjk-patch"/>
                        </a:rPr>
                        <a:t>互联网应用、移动应用、开放</a:t>
                      </a:r>
                      <a:r>
                        <a:rPr lang="en-US" altLang="zh-CN" b="0">
                          <a:effectLst/>
                          <a:latin typeface="quote-cjk-patch"/>
                        </a:rPr>
                        <a:t>API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REST</a:t>
                      </a:r>
                      <a:r>
                        <a:rPr lang="en-US" b="0">
                          <a:effectLst/>
                          <a:latin typeface="quote-cjk-patch"/>
                        </a:rPr>
                        <a:t> (</a:t>
                      </a:r>
                      <a:r>
                        <a:rPr lang="zh-CN" altLang="en-US" b="0">
                          <a:effectLst/>
                          <a:latin typeface="quote-cjk-patch"/>
                        </a:rPr>
                        <a:t>主要面向移动</a:t>
                      </a:r>
                      <a:r>
                        <a:rPr lang="en-US" b="0">
                          <a:effectLst/>
                          <a:latin typeface="quote-cjk-patch"/>
                        </a:rPr>
                        <a:t>App)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1">
                          <a:effectLst/>
                          <a:latin typeface="quote-cjk-patch"/>
                        </a:rPr>
                        <a:t>性能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  <a:latin typeface="quote-cjk-patch"/>
                        </a:rPr>
                        <a:t>相对较重，</a:t>
                      </a:r>
                      <a:r>
                        <a:rPr lang="en-US" altLang="zh-CN" b="0">
                          <a:effectLst/>
                          <a:latin typeface="quote-cjk-patch"/>
                        </a:rPr>
                        <a:t>XML</a:t>
                      </a:r>
                      <a:r>
                        <a:rPr lang="zh-CN" altLang="en-US" b="0">
                          <a:effectLst/>
                          <a:latin typeface="quote-cjk-patch"/>
                        </a:rPr>
                        <a:t>解析开销大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  <a:latin typeface="quote-cjk-patch"/>
                        </a:rPr>
                        <a:t>轻量，</a:t>
                      </a:r>
                      <a:r>
                        <a:rPr lang="en-US" altLang="zh-CN" b="0">
                          <a:effectLst/>
                          <a:latin typeface="quote-cjk-patch"/>
                        </a:rPr>
                        <a:t>JSON</a:t>
                      </a:r>
                      <a:r>
                        <a:rPr lang="zh-CN" altLang="en-US" b="0">
                          <a:effectLst/>
                          <a:latin typeface="quote-cjk-patch"/>
                        </a:rPr>
                        <a:t>解析快，支持</a:t>
                      </a:r>
                      <a:r>
                        <a:rPr lang="en-US" altLang="zh-CN" b="0">
                          <a:effectLst/>
                          <a:latin typeface="quote-cjk-patch"/>
                        </a:rPr>
                        <a:t>HTTP</a:t>
                      </a:r>
                      <a:r>
                        <a:rPr lang="zh-CN" altLang="en-US" b="0">
                          <a:effectLst/>
                          <a:latin typeface="quote-cjk-patch"/>
                        </a:rPr>
                        <a:t>缓存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CN" b="1">
                          <a:effectLst/>
                          <a:latin typeface="quote-cjk-patch"/>
                        </a:rPr>
                        <a:t>REST</a:t>
                      </a:r>
                      <a:r>
                        <a:rPr lang="zh-CN" altLang="en-US" b="0">
                          <a:effectLst/>
                          <a:latin typeface="quote-cjk-patch"/>
                        </a:rPr>
                        <a:t> </a:t>
                      </a:r>
                      <a:r>
                        <a:rPr lang="en-US" altLang="zh-CN" b="0">
                          <a:effectLst/>
                          <a:latin typeface="quote-cjk-patch"/>
                        </a:rPr>
                        <a:t>(</a:t>
                      </a:r>
                      <a:r>
                        <a:rPr lang="zh-CN" altLang="en-US" b="0">
                          <a:effectLst/>
                          <a:latin typeface="quote-cjk-patch"/>
                        </a:rPr>
                        <a:t>高并发、低延迟是生命线</a:t>
                      </a:r>
                      <a:r>
                        <a:rPr lang="en-US" altLang="zh-CN" b="0">
                          <a:effectLst/>
                          <a:latin typeface="quote-cjk-patch"/>
                        </a:rPr>
                        <a:t>)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1">
                          <a:effectLst/>
                          <a:latin typeface="quote-cjk-patch"/>
                        </a:rPr>
                        <a:t>开发效率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  <a:latin typeface="quote-cjk-patch"/>
                        </a:rPr>
                        <a:t>严谨但复杂，</a:t>
                      </a:r>
                      <a:r>
                        <a:rPr lang="en-US" altLang="zh-CN" b="0">
                          <a:effectLst/>
                          <a:latin typeface="quote-cjk-patch"/>
                        </a:rPr>
                        <a:t>WSDL</a:t>
                      </a:r>
                      <a:r>
                        <a:rPr lang="zh-CN" altLang="en-US" b="0">
                          <a:effectLst/>
                          <a:latin typeface="quote-cjk-patch"/>
                        </a:rPr>
                        <a:t>生成代码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  <a:latin typeface="quote-cjk-patch"/>
                        </a:rPr>
                        <a:t>简单灵活，易于快速迭代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CN" b="1" dirty="0">
                          <a:effectLst/>
                          <a:latin typeface="quote-cjk-patch"/>
                        </a:rPr>
                        <a:t>REST</a:t>
                      </a:r>
                      <a:r>
                        <a:rPr lang="zh-CN" altLang="en-US" b="0" dirty="0">
                          <a:effectLst/>
                          <a:latin typeface="quote-cjk-patch"/>
                        </a:rPr>
                        <a:t> </a:t>
                      </a:r>
                      <a:r>
                        <a:rPr lang="en-US" altLang="zh-CN" b="0" dirty="0">
                          <a:effectLst/>
                          <a:latin typeface="quote-cjk-patch"/>
                        </a:rPr>
                        <a:t>(</a:t>
                      </a:r>
                      <a:r>
                        <a:rPr lang="zh-CN" altLang="en-US" b="0" dirty="0">
                          <a:effectLst/>
                          <a:latin typeface="quote-cjk-patch"/>
                        </a:rPr>
                        <a:t>适应互联网快速变化的需求</a:t>
                      </a:r>
                      <a:r>
                        <a:rPr lang="en-US" altLang="zh-CN" b="0" dirty="0">
                          <a:effectLst/>
                          <a:latin typeface="quote-cjk-patch"/>
                        </a:rPr>
                        <a:t>)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Software Architecture</a:t>
            </a:r>
            <a:endParaRPr lang="en-AU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 of Interoperability Tactics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745" y="1140639"/>
            <a:ext cx="8229600" cy="5087590"/>
          </a:xfrm>
        </p:spPr>
        <p:txBody>
          <a:bodyPr>
            <a:normAutofit/>
          </a:bodyPr>
          <a:lstStyle/>
          <a:p>
            <a:r>
              <a:rPr lang="en-US" dirty="0"/>
              <a:t>F</a:t>
            </a:r>
            <a:r>
              <a:rPr lang="en-US" baseline="0" dirty="0"/>
              <a:t>or two or more systems to usefully exchange information they must</a:t>
            </a:r>
          </a:p>
          <a:p>
            <a:pPr lvl="1"/>
            <a:r>
              <a:rPr lang="en-US" dirty="0"/>
              <a:t>Know about each other. That is the purpose behind the </a:t>
            </a:r>
            <a:r>
              <a:rPr lang="en-US" dirty="0">
                <a:solidFill>
                  <a:schemeClr val="tx2"/>
                </a:solidFill>
              </a:rPr>
              <a:t>locate</a:t>
            </a:r>
            <a:r>
              <a:rPr lang="en-US" baseline="0" dirty="0"/>
              <a:t> tactics.</a:t>
            </a:r>
          </a:p>
          <a:p>
            <a:pPr lvl="1"/>
            <a:r>
              <a:rPr lang="en-US" baseline="0" dirty="0"/>
              <a:t>Exchange information in a semantically meaningful fashion. That is the purpose behind the </a:t>
            </a:r>
            <a:r>
              <a:rPr lang="en-US" baseline="0" dirty="0">
                <a:solidFill>
                  <a:schemeClr val="tx2"/>
                </a:solidFill>
              </a:rPr>
              <a:t>manage interfaces </a:t>
            </a:r>
            <a:r>
              <a:rPr lang="en-US" baseline="0" dirty="0"/>
              <a:t>tactics. Two aspects of the exchange are</a:t>
            </a:r>
          </a:p>
          <a:p>
            <a:pPr lvl="2"/>
            <a:r>
              <a:rPr lang="en-US" dirty="0"/>
              <a:t>Provide services in the correct sequence</a:t>
            </a:r>
          </a:p>
          <a:p>
            <a:pPr lvl="2"/>
            <a:r>
              <a:rPr lang="en-US" dirty="0"/>
              <a:t>Modify information produced by one actor to a form acceptable to the second actor.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Software Architecture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“黄焖鸡”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zh-CN" b="1" dirty="0"/>
              <a:t>1.【</a:t>
            </a:r>
            <a:r>
              <a:rPr lang="zh-CN" altLang="en-US" b="1" dirty="0"/>
              <a:t>服务注册</a:t>
            </a:r>
            <a:r>
              <a:rPr lang="en-US" altLang="zh-CN" b="1" dirty="0"/>
              <a:t>】Service Registration - “</a:t>
            </a:r>
            <a:r>
              <a:rPr lang="zh-CN" altLang="en-US" b="1" dirty="0"/>
              <a:t>开店”</a:t>
            </a:r>
            <a:endParaRPr lang="zh-CN" altLang="en-US" dirty="0"/>
          </a:p>
          <a:p>
            <a:r>
              <a:rPr lang="zh-CN" altLang="en-US" dirty="0"/>
              <a:t>早上</a:t>
            </a:r>
            <a:r>
              <a:rPr lang="en-US" altLang="zh-CN" dirty="0"/>
              <a:t>10</a:t>
            </a:r>
            <a:r>
              <a:rPr lang="zh-CN" altLang="en-US" dirty="0"/>
              <a:t>点，</a:t>
            </a:r>
            <a:r>
              <a:rPr lang="zh-CN" altLang="en-US" b="1" dirty="0"/>
              <a:t>杨铭宇黄焖鸡（北门店）</a:t>
            </a:r>
            <a:r>
              <a:rPr lang="zh-CN" altLang="en-US" dirty="0"/>
              <a:t> 开门营业了。店长打开美团商家版</a:t>
            </a:r>
            <a:r>
              <a:rPr lang="en-US" altLang="zh-CN" dirty="0"/>
              <a:t>App</a:t>
            </a:r>
            <a:r>
              <a:rPr lang="zh-CN" altLang="en-US" dirty="0"/>
              <a:t>，点击“开始营业”。</a:t>
            </a:r>
          </a:p>
          <a:p>
            <a:r>
              <a:rPr lang="zh-CN" altLang="en-US" b="1" dirty="0"/>
              <a:t>这就相当于</a:t>
            </a:r>
            <a:r>
              <a:rPr lang="zh-CN" altLang="en-US" dirty="0"/>
              <a:t>：服务实例（北门店）向注册中心（美团后台）发送了一个心跳或注册请求，说：“我上线了，我的地址是</a:t>
            </a:r>
            <a:r>
              <a:rPr lang="en-US" altLang="zh-CN" dirty="0"/>
              <a:t>[</a:t>
            </a:r>
            <a:r>
              <a:rPr lang="zh-CN" altLang="en-US" dirty="0"/>
              <a:t>北门店地址</a:t>
            </a:r>
            <a:r>
              <a:rPr lang="en-US" altLang="zh-CN" dirty="0"/>
              <a:t>]</a:t>
            </a:r>
            <a:r>
              <a:rPr lang="zh-CN" altLang="en-US" dirty="0"/>
              <a:t>，我现在空闲，可以做黄焖鸡。”</a:t>
            </a:r>
          </a:p>
          <a:p>
            <a:pPr marL="0" indent="0">
              <a:buNone/>
            </a:pPr>
            <a:r>
              <a:rPr lang="en-US" altLang="zh-CN" b="1" dirty="0"/>
              <a:t>2. 【</a:t>
            </a:r>
            <a:r>
              <a:rPr lang="zh-CN" altLang="en-US" b="1" dirty="0"/>
              <a:t>服务目录</a:t>
            </a:r>
            <a:r>
              <a:rPr lang="en-US" altLang="zh-CN" b="1" dirty="0"/>
              <a:t>】Service Registry - “</a:t>
            </a:r>
            <a:r>
              <a:rPr lang="zh-CN" altLang="en-US" b="1" dirty="0"/>
              <a:t>平台记在小本本上”</a:t>
            </a:r>
            <a:endParaRPr lang="zh-CN" altLang="en-US" dirty="0"/>
          </a:p>
          <a:p>
            <a:r>
              <a:rPr lang="zh-CN" altLang="en-US" dirty="0"/>
              <a:t>美团后台收到请求，在自己的</a:t>
            </a:r>
            <a:r>
              <a:rPr lang="zh-CN" altLang="en-US" b="1" dirty="0"/>
              <a:t>服务名录</a:t>
            </a:r>
            <a:r>
              <a:rPr lang="zh-CN" altLang="en-US" dirty="0"/>
              <a:t>上更新：</a:t>
            </a:r>
            <a:r>
              <a:rPr lang="zh-CN" altLang="en-US" b="1" dirty="0"/>
              <a:t>“杨铭宇黄焖鸡”</a:t>
            </a:r>
            <a:r>
              <a:rPr lang="zh-CN" altLang="en-US" dirty="0"/>
              <a:t> 这个服务，有一个实例叫</a:t>
            </a:r>
            <a:r>
              <a:rPr lang="zh-CN" altLang="en-US" b="1" dirty="0"/>
              <a:t>北门店</a:t>
            </a:r>
            <a:r>
              <a:rPr lang="zh-CN" altLang="en-US" dirty="0"/>
              <a:t>，状态为</a:t>
            </a:r>
            <a:r>
              <a:rPr lang="zh-CN" altLang="en-US" b="1" dirty="0"/>
              <a:t>在线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如果另一家</a:t>
            </a:r>
            <a:r>
              <a:rPr lang="zh-CN" altLang="en-US" b="1" dirty="0"/>
              <a:t>南门店</a:t>
            </a:r>
            <a:r>
              <a:rPr lang="zh-CN" altLang="en-US" dirty="0"/>
              <a:t>也开业了，它也会注册上来。这样，一个服务（黄焖鸡）就有了多个可用的实例（北门店、南门店）。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Software Architecture</a:t>
            </a:r>
            <a:endParaRPr lang="en-AU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“黄焖鸡”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zh-CN" b="1" dirty="0"/>
              <a:t>3.【</a:t>
            </a:r>
            <a:r>
              <a:rPr lang="zh-CN" altLang="en-US" b="1" dirty="0"/>
              <a:t>服务查找</a:t>
            </a:r>
            <a:r>
              <a:rPr lang="en-US" altLang="zh-CN" b="1" dirty="0"/>
              <a:t>】Service Lookup - “</a:t>
            </a:r>
            <a:r>
              <a:rPr lang="zh-CN" altLang="en-US" b="1" dirty="0"/>
              <a:t>你下单”</a:t>
            </a:r>
            <a:endParaRPr lang="zh-CN" altLang="en-US" dirty="0"/>
          </a:p>
          <a:p>
            <a:r>
              <a:rPr lang="zh-CN" altLang="en-US" dirty="0"/>
              <a:t>中午</a:t>
            </a:r>
            <a:r>
              <a:rPr lang="en-US" altLang="zh-CN" dirty="0"/>
              <a:t>12</a:t>
            </a:r>
            <a:r>
              <a:rPr lang="zh-CN" altLang="en-US" dirty="0"/>
              <a:t>点，你在办公室打开美团</a:t>
            </a:r>
            <a:r>
              <a:rPr lang="en-US" altLang="zh-CN" dirty="0"/>
              <a:t>App</a:t>
            </a:r>
            <a:r>
              <a:rPr lang="zh-CN" altLang="en-US" dirty="0"/>
              <a:t>，搜索“黄焖鸡米饭”。</a:t>
            </a:r>
          </a:p>
          <a:p>
            <a:r>
              <a:rPr lang="zh-CN" altLang="en-US" b="1" dirty="0"/>
              <a:t>这就相当于</a:t>
            </a:r>
            <a:r>
              <a:rPr lang="zh-CN" altLang="en-US" dirty="0"/>
              <a:t>：服务消费者（你的</a:t>
            </a:r>
            <a:r>
              <a:rPr lang="en-US" altLang="zh-CN" dirty="0"/>
              <a:t>App</a:t>
            </a:r>
            <a:r>
              <a:rPr lang="zh-CN" altLang="en-US" dirty="0"/>
              <a:t>）向注册中心（美团后台）查询：“给我所有能提供‘黄焖鸡’服务且</a:t>
            </a:r>
            <a:r>
              <a:rPr lang="zh-CN" altLang="en-US" b="1" dirty="0"/>
              <a:t>健康</a:t>
            </a:r>
            <a:r>
              <a:rPr lang="zh-CN" altLang="en-US" dirty="0"/>
              <a:t>的实例列表。”</a:t>
            </a:r>
          </a:p>
          <a:p>
            <a:pPr marL="0" indent="0">
              <a:buNone/>
            </a:pPr>
            <a:endParaRPr lang="en-US" altLang="zh-CN" b="1" dirty="0"/>
          </a:p>
          <a:p>
            <a:pPr marL="0" indent="0">
              <a:buNone/>
            </a:pPr>
            <a:r>
              <a:rPr lang="en-US" altLang="zh-CN" b="1" dirty="0"/>
              <a:t>4. 【</a:t>
            </a:r>
            <a:r>
              <a:rPr lang="zh-CN" altLang="en-US" b="1" dirty="0"/>
              <a:t>服务选择</a:t>
            </a:r>
            <a:r>
              <a:rPr lang="en-US" altLang="zh-CN" b="1" dirty="0"/>
              <a:t>/</a:t>
            </a:r>
            <a:r>
              <a:rPr lang="zh-CN" altLang="en-US" b="1" dirty="0"/>
              <a:t>负载均衡</a:t>
            </a:r>
            <a:r>
              <a:rPr lang="en-US" altLang="zh-CN" b="1" dirty="0"/>
              <a:t>】Load Balancing - “</a:t>
            </a:r>
            <a:r>
              <a:rPr lang="zh-CN" altLang="en-US" b="1" dirty="0"/>
              <a:t>平台智能派单”</a:t>
            </a:r>
            <a:endParaRPr lang="zh-CN" altLang="en-US" dirty="0"/>
          </a:p>
          <a:p>
            <a:r>
              <a:rPr lang="zh-CN" altLang="en-US" dirty="0"/>
              <a:t>美团后台不会直接把所有店都扔给你。它会根据</a:t>
            </a:r>
            <a:r>
              <a:rPr lang="zh-CN" altLang="en-US" b="1" dirty="0"/>
              <a:t>负载均衡</a:t>
            </a:r>
            <a:r>
              <a:rPr lang="zh-CN" altLang="en-US" dirty="0"/>
              <a:t>策略和</a:t>
            </a:r>
            <a:r>
              <a:rPr lang="zh-CN" altLang="en-US" b="1" dirty="0"/>
              <a:t>智能路由</a:t>
            </a:r>
            <a:r>
              <a:rPr lang="zh-CN" altLang="en-US" dirty="0"/>
              <a:t>策略进行筛选：</a:t>
            </a:r>
          </a:p>
          <a:p>
            <a:r>
              <a:rPr lang="zh-CN" altLang="en-US" b="1" dirty="0"/>
              <a:t>基于位置：</a:t>
            </a:r>
            <a:r>
              <a:rPr lang="zh-CN" altLang="en-US" dirty="0"/>
              <a:t> 哪个店离你最近？（减少配送时间）</a:t>
            </a:r>
          </a:p>
          <a:p>
            <a:r>
              <a:rPr lang="zh-CN" altLang="en-US" b="1" dirty="0"/>
              <a:t>基于负载：</a:t>
            </a:r>
            <a:r>
              <a:rPr lang="zh-CN" altLang="en-US" dirty="0"/>
              <a:t> 哪个店当前订单最少，不那么忙？（避免某个店被压垮）</a:t>
            </a:r>
          </a:p>
          <a:p>
            <a:r>
              <a:rPr lang="zh-CN" altLang="en-US" b="1" dirty="0"/>
              <a:t>基于健康状态：</a:t>
            </a:r>
            <a:r>
              <a:rPr lang="zh-CN" altLang="en-US" dirty="0"/>
              <a:t> 哪个店网络正常，接单机没坏？（健康检查）</a:t>
            </a:r>
            <a:br>
              <a:rPr lang="zh-CN" altLang="en-US" dirty="0"/>
            </a:br>
            <a:r>
              <a:rPr lang="zh-CN" altLang="en-US" dirty="0"/>
              <a:t>最终，它选择</a:t>
            </a:r>
            <a:r>
              <a:rPr lang="zh-CN" altLang="en-US" b="1" dirty="0"/>
              <a:t>北门店</a:t>
            </a:r>
            <a:r>
              <a:rPr lang="zh-CN" altLang="en-US" dirty="0"/>
              <a:t>推荐给你。你看到的商家列表，其实就是经过了一次服务发现和负载均衡的结果。</a:t>
            </a:r>
          </a:p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Software Architecture</a:t>
            </a:r>
            <a:endParaRPr lang="en-AU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“黄焖鸡”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zh-CN" b="1" dirty="0"/>
              <a:t>5. 【</a:t>
            </a:r>
            <a:r>
              <a:rPr lang="zh-CN" altLang="en-US" b="1" dirty="0"/>
              <a:t>服务调用</a:t>
            </a:r>
            <a:r>
              <a:rPr lang="en-US" altLang="zh-CN" b="1" dirty="0"/>
              <a:t>】Service Invocation - “</a:t>
            </a:r>
            <a:r>
              <a:rPr lang="zh-CN" altLang="en-US" b="1" dirty="0"/>
              <a:t>做饭和送餐”</a:t>
            </a:r>
            <a:endParaRPr lang="zh-CN" altLang="en-US" dirty="0"/>
          </a:p>
          <a:p>
            <a:r>
              <a:rPr lang="zh-CN" altLang="en-US" dirty="0"/>
              <a:t>你下单了。订单被发送给</a:t>
            </a:r>
            <a:r>
              <a:rPr lang="zh-CN" altLang="en-US" b="1" dirty="0"/>
              <a:t>北门店</a:t>
            </a:r>
            <a:r>
              <a:rPr lang="zh-CN" altLang="en-US" dirty="0"/>
              <a:t>。后厨开始做饭。</a:t>
            </a:r>
          </a:p>
          <a:p>
            <a:r>
              <a:rPr lang="zh-CN" altLang="en-US" b="1" dirty="0"/>
              <a:t>这就相当于</a:t>
            </a:r>
            <a:r>
              <a:rPr lang="zh-CN" altLang="en-US" dirty="0"/>
              <a:t>：服务消费者（你）拿到了服务实例的具体地址（北门店），然后直接向它发起调用（下单请求）。</a:t>
            </a:r>
          </a:p>
          <a:p>
            <a:pPr marL="0" indent="0">
              <a:buNone/>
            </a:pPr>
            <a:r>
              <a:rPr lang="en-US" altLang="zh-CN" b="1" dirty="0"/>
              <a:t>6. 【</a:t>
            </a:r>
            <a:r>
              <a:rPr lang="zh-CN" altLang="en-US" b="1" dirty="0"/>
              <a:t>服务注销</a:t>
            </a:r>
            <a:r>
              <a:rPr lang="en-US" altLang="zh-CN" b="1" dirty="0"/>
              <a:t>/</a:t>
            </a:r>
            <a:r>
              <a:rPr lang="zh-CN" altLang="en-US" b="1" dirty="0"/>
              <a:t>故障发现</a:t>
            </a:r>
            <a:r>
              <a:rPr lang="en-US" altLang="zh-CN" b="1" dirty="0"/>
              <a:t>】Deregistration &amp; Failure Detection - “</a:t>
            </a:r>
            <a:r>
              <a:rPr lang="zh-CN" altLang="en-US" b="1" dirty="0"/>
              <a:t>关店或崩溃”</a:t>
            </a:r>
            <a:endParaRPr lang="zh-CN" altLang="en-US" dirty="0"/>
          </a:p>
          <a:p>
            <a:r>
              <a:rPr lang="zh-CN" altLang="en-US" b="1" dirty="0"/>
              <a:t>情景</a:t>
            </a:r>
            <a:r>
              <a:rPr lang="en-US" altLang="zh-CN" b="1" dirty="0"/>
              <a:t>A</a:t>
            </a:r>
            <a:r>
              <a:rPr lang="zh-CN" altLang="en-US" b="1" dirty="0"/>
              <a:t>：</a:t>
            </a:r>
            <a:r>
              <a:rPr lang="zh-CN" altLang="en-US" dirty="0"/>
              <a:t> 晚上</a:t>
            </a:r>
            <a:r>
              <a:rPr lang="en-US" altLang="zh-CN" dirty="0"/>
              <a:t>10</a:t>
            </a:r>
            <a:r>
              <a:rPr lang="zh-CN" altLang="en-US" dirty="0"/>
              <a:t>点北门店打烊了，店长点击“关闭营业”。</a:t>
            </a:r>
          </a:p>
          <a:p>
            <a:r>
              <a:rPr lang="zh-CN" altLang="en-US" b="1" dirty="0"/>
              <a:t>这就相当于</a:t>
            </a:r>
            <a:r>
              <a:rPr lang="zh-CN" altLang="en-US" dirty="0"/>
              <a:t>：服务实例</a:t>
            </a:r>
            <a:r>
              <a:rPr lang="zh-CN" altLang="en-US" b="1" dirty="0"/>
              <a:t>主动注销</a:t>
            </a:r>
            <a:r>
              <a:rPr lang="zh-CN" altLang="en-US" dirty="0"/>
              <a:t>，告诉注册中心：“我下线了，别再给我派单了。”</a:t>
            </a:r>
          </a:p>
          <a:p>
            <a:r>
              <a:rPr lang="zh-CN" altLang="en-US" b="1" dirty="0"/>
              <a:t>情景</a:t>
            </a:r>
            <a:r>
              <a:rPr lang="en-US" altLang="zh-CN" b="1" dirty="0"/>
              <a:t>B</a:t>
            </a:r>
            <a:r>
              <a:rPr lang="zh-CN" altLang="en-US" b="1" dirty="0"/>
              <a:t>：</a:t>
            </a:r>
            <a:r>
              <a:rPr lang="zh-CN" altLang="en-US" dirty="0"/>
              <a:t> 中午高峰期，南门店的微波炉炸了，整个店停电，美团商家端</a:t>
            </a:r>
            <a:r>
              <a:rPr lang="en-US" altLang="zh-CN" dirty="0"/>
              <a:t>App</a:t>
            </a:r>
            <a:r>
              <a:rPr lang="zh-CN" altLang="en-US" dirty="0"/>
              <a:t>掉线了。</a:t>
            </a:r>
          </a:p>
          <a:p>
            <a:r>
              <a:rPr lang="zh-CN" altLang="en-US" b="1" dirty="0"/>
              <a:t>这就相当于</a:t>
            </a:r>
            <a:r>
              <a:rPr lang="zh-CN" altLang="en-US" dirty="0"/>
              <a:t>：服务实例</a:t>
            </a:r>
            <a:r>
              <a:rPr lang="zh-CN" altLang="en-US" b="1" dirty="0"/>
              <a:t>故障</a:t>
            </a:r>
            <a:r>
              <a:rPr lang="zh-CN" altLang="en-US" dirty="0"/>
              <a:t>。注册中心（美团后台）会发现南门店很久没有发送心跳（比如：每</a:t>
            </a:r>
            <a:r>
              <a:rPr lang="en-US" altLang="zh-CN" dirty="0"/>
              <a:t>30</a:t>
            </a:r>
            <a:r>
              <a:rPr lang="zh-CN" altLang="en-US" dirty="0"/>
              <a:t>秒报告一次“我还活着”），于是标记它为</a:t>
            </a:r>
            <a:r>
              <a:rPr lang="zh-CN" altLang="en-US" b="1" dirty="0"/>
              <a:t>不健康</a:t>
            </a:r>
            <a:r>
              <a:rPr lang="zh-CN" altLang="en-US" dirty="0"/>
              <a:t>，并从可用列表里踢掉。后续的订单就不会再派给这家“失联”的店了。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Software Architecture</a:t>
            </a:r>
            <a:endParaRPr lang="en-AU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“黄焖鸡”</a:t>
            </a:r>
          </a:p>
        </p:txBody>
      </p:sp>
      <p:graphicFrame>
        <p:nvGraphicFramePr>
          <p:cNvPr id="5" name="内容占位符 4"/>
          <p:cNvGraphicFramePr>
            <a:graphicFrameLocks noGrp="1"/>
          </p:cNvGraphicFramePr>
          <p:nvPr>
            <p:ph idx="1"/>
          </p:nvPr>
        </p:nvGraphicFramePr>
        <p:xfrm>
          <a:off x="457200" y="1506538"/>
          <a:ext cx="8229600" cy="4381500"/>
        </p:xfrm>
        <a:graphic>
          <a:graphicData uri="http://schemas.openxmlformats.org/drawingml/2006/table">
            <a:tbl>
              <a:tblPr/>
              <a:tblGrid>
                <a:gridCol w="26606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44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44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  <a:latin typeface="quote-cjk-patch"/>
                        </a:rPr>
                        <a:t>服务发现中的概念</a:t>
                      </a: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  <a:latin typeface="quote-cjk-patch"/>
                        </a:rPr>
                        <a:t>外卖平台中的角色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  <a:latin typeface="quote-cjk-patch"/>
                        </a:rPr>
                        <a:t>作用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1">
                          <a:effectLst/>
                          <a:latin typeface="quote-cjk-patch"/>
                        </a:rPr>
                        <a:t>服务实例 </a:t>
                      </a:r>
                      <a:r>
                        <a:rPr lang="en-US" altLang="zh-CN" b="1">
                          <a:effectLst/>
                          <a:latin typeface="quote-cjk-patch"/>
                        </a:rPr>
                        <a:t>(</a:t>
                      </a:r>
                      <a:r>
                        <a:rPr lang="en-US" b="1">
                          <a:effectLst/>
                          <a:latin typeface="quote-cjk-patch"/>
                        </a:rPr>
                        <a:t>Service Instance)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1">
                          <a:effectLst/>
                          <a:latin typeface="quote-cjk-patch"/>
                        </a:rPr>
                        <a:t>一个个具体的商家餐馆</a:t>
                      </a:r>
                      <a:r>
                        <a:rPr lang="zh-CN" altLang="en-US" b="0">
                          <a:effectLst/>
                          <a:latin typeface="quote-cjk-patch"/>
                        </a:rPr>
                        <a:t>（如：</a:t>
                      </a:r>
                      <a:r>
                        <a:rPr lang="zh-CN" altLang="en-US" b="1">
                          <a:effectLst/>
                          <a:latin typeface="quote-cjk-patch"/>
                        </a:rPr>
                        <a:t>北门店</a:t>
                      </a:r>
                      <a:r>
                        <a:rPr lang="zh-CN" altLang="en-US" b="0">
                          <a:effectLst/>
                          <a:latin typeface="quote-cjk-patch"/>
                        </a:rPr>
                        <a:t>、</a:t>
                      </a:r>
                      <a:r>
                        <a:rPr lang="zh-CN" altLang="en-US" b="1">
                          <a:effectLst/>
                          <a:latin typeface="quote-cjk-patch"/>
                        </a:rPr>
                        <a:t>南门店</a:t>
                      </a:r>
                      <a:r>
                        <a:rPr lang="zh-CN" altLang="en-US" b="0">
                          <a:effectLst/>
                          <a:latin typeface="quote-cjk-patch"/>
                        </a:rPr>
                        <a:t>）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  <a:latin typeface="quote-cjk-patch"/>
                        </a:rPr>
                        <a:t>真正提供“做饭”服务的实体。每个店都有自己独立的地址和状态。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1">
                          <a:effectLst/>
                          <a:latin typeface="quote-cjk-patch"/>
                        </a:rPr>
                        <a:t>服务 </a:t>
                      </a:r>
                      <a:r>
                        <a:rPr lang="en-US" altLang="zh-CN" b="1">
                          <a:effectLst/>
                          <a:latin typeface="quote-cjk-patch"/>
                        </a:rPr>
                        <a:t>(</a:t>
                      </a:r>
                      <a:r>
                        <a:rPr lang="en-US" b="1">
                          <a:effectLst/>
                          <a:latin typeface="quote-cjk-patch"/>
                        </a:rPr>
                        <a:t>Service)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1">
                          <a:effectLst/>
                          <a:latin typeface="quote-cjk-patch"/>
                        </a:rPr>
                        <a:t>品牌</a:t>
                      </a:r>
                      <a:r>
                        <a:rPr lang="en-US" altLang="zh-CN" b="1">
                          <a:effectLst/>
                          <a:latin typeface="quote-cjk-patch"/>
                        </a:rPr>
                        <a:t>/</a:t>
                      </a:r>
                      <a:r>
                        <a:rPr lang="zh-CN" altLang="en-US" b="1">
                          <a:effectLst/>
                          <a:latin typeface="quote-cjk-patch"/>
                        </a:rPr>
                        <a:t>菜品类</a:t>
                      </a:r>
                      <a:r>
                        <a:rPr lang="zh-CN" altLang="en-US" b="0">
                          <a:effectLst/>
                          <a:latin typeface="quote-cjk-patch"/>
                        </a:rPr>
                        <a:t>（如：</a:t>
                      </a:r>
                      <a:r>
                        <a:rPr lang="zh-CN" altLang="en-US" b="1">
                          <a:effectLst/>
                          <a:latin typeface="quote-cjk-patch"/>
                        </a:rPr>
                        <a:t>杨铭宇黄焖鸡米饭</a:t>
                      </a:r>
                      <a:r>
                        <a:rPr lang="zh-CN" altLang="en-US" b="0">
                          <a:effectLst/>
                          <a:latin typeface="quote-cjk-patch"/>
                        </a:rPr>
                        <a:t>）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  <a:latin typeface="quote-cjk-patch"/>
                        </a:rPr>
                        <a:t>一个逻辑概念，代表一类相同的服务。用户认的是这个品牌，而不是具体某家店。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1">
                          <a:effectLst/>
                          <a:latin typeface="quote-cjk-patch"/>
                        </a:rPr>
                        <a:t>服务注册中心 </a:t>
                      </a:r>
                      <a:r>
                        <a:rPr lang="en-US" altLang="zh-CN" b="1">
                          <a:effectLst/>
                          <a:latin typeface="quote-cjk-patch"/>
                        </a:rPr>
                        <a:t>(</a:t>
                      </a:r>
                      <a:r>
                        <a:rPr lang="en-US" b="1">
                          <a:effectLst/>
                          <a:latin typeface="quote-cjk-patch"/>
                        </a:rPr>
                        <a:t>Registry)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1">
                          <a:effectLst/>
                          <a:latin typeface="quote-cjk-patch"/>
                        </a:rPr>
                        <a:t>美团平台的后台调度中心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  <a:latin typeface="quote-cjk-patch"/>
                        </a:rPr>
                        <a:t>它知道所有商家的实时状态：谁开业、谁打烊、谁爆单了。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1">
                          <a:effectLst/>
                          <a:latin typeface="quote-cjk-patch"/>
                        </a:rPr>
                        <a:t>服务消费者 </a:t>
                      </a:r>
                      <a:r>
                        <a:rPr lang="en-US" altLang="zh-CN" b="1">
                          <a:effectLst/>
                          <a:latin typeface="quote-cjk-patch"/>
                        </a:rPr>
                        <a:t>(</a:t>
                      </a:r>
                      <a:r>
                        <a:rPr lang="en-US" b="1">
                          <a:effectLst/>
                          <a:latin typeface="quote-cjk-patch"/>
                        </a:rPr>
                        <a:t>Consumer)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1">
                          <a:effectLst/>
                          <a:latin typeface="quote-cjk-patch"/>
                        </a:rPr>
                        <a:t>你（用户）和外卖小哥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  <a:latin typeface="quote-cjk-patch"/>
                        </a:rPr>
                        <a:t>需要找到“黄焖鸡”服务来下单和取餐。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1">
                          <a:effectLst/>
                          <a:latin typeface="quote-cjk-patch"/>
                        </a:rPr>
                        <a:t>服务发现 </a:t>
                      </a:r>
                      <a:r>
                        <a:rPr lang="en-US" altLang="zh-CN" b="1">
                          <a:effectLst/>
                          <a:latin typeface="quote-cjk-patch"/>
                        </a:rPr>
                        <a:t>(</a:t>
                      </a:r>
                      <a:r>
                        <a:rPr lang="en-US" b="1">
                          <a:effectLst/>
                          <a:latin typeface="quote-cjk-patch"/>
                        </a:rPr>
                        <a:t>Discovery)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1">
                          <a:effectLst/>
                          <a:latin typeface="quote-cjk-patch"/>
                        </a:rPr>
                        <a:t>整个“查找</a:t>
                      </a:r>
                      <a:r>
                        <a:rPr lang="en-US" altLang="zh-CN" b="1">
                          <a:effectLst/>
                          <a:latin typeface="quote-cjk-patch"/>
                        </a:rPr>
                        <a:t>-</a:t>
                      </a:r>
                      <a:r>
                        <a:rPr lang="zh-CN" altLang="en-US" b="1">
                          <a:effectLst/>
                          <a:latin typeface="quote-cjk-patch"/>
                        </a:rPr>
                        <a:t>路由”的过程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 dirty="0">
                          <a:effectLst/>
                          <a:latin typeface="quote-cjk-patch"/>
                        </a:rPr>
                        <a:t>根据你的位置，帮你找到一个能接单的、最好的店。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Software Architecture</a:t>
            </a:r>
            <a:endParaRPr lang="en-AU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“网约车”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zh-CN" altLang="en-US" b="1" dirty="0"/>
              <a:t>第</a:t>
            </a:r>
            <a:r>
              <a:rPr lang="en-US" altLang="zh-CN" b="1" dirty="0"/>
              <a:t>1</a:t>
            </a:r>
            <a:r>
              <a:rPr lang="zh-CN" altLang="en-US" b="1" dirty="0"/>
              <a:t>步：服务注册 </a:t>
            </a:r>
            <a:r>
              <a:rPr lang="en-US" altLang="zh-CN" b="1" dirty="0"/>
              <a:t>(Service Registration) - “</a:t>
            </a:r>
            <a:r>
              <a:rPr lang="zh-CN" altLang="en-US" b="1" dirty="0"/>
              <a:t>司机上线”</a:t>
            </a:r>
            <a:endParaRPr lang="zh-CN" altLang="en-US" dirty="0"/>
          </a:p>
          <a:p>
            <a:r>
              <a:rPr lang="zh-CN" altLang="en-US" dirty="0"/>
              <a:t>王师傅早上出车，打开</a:t>
            </a:r>
            <a:r>
              <a:rPr lang="zh-CN" altLang="en-US" b="1" dirty="0"/>
              <a:t>司机端</a:t>
            </a:r>
            <a:r>
              <a:rPr lang="en-US" altLang="zh-CN" b="1" dirty="0"/>
              <a:t>App</a:t>
            </a:r>
            <a:r>
              <a:rPr lang="zh-CN" altLang="en-US" dirty="0"/>
              <a:t>，登录成功。</a:t>
            </a:r>
            <a:r>
              <a:rPr lang="en-US" altLang="zh-CN" dirty="0"/>
              <a:t>App</a:t>
            </a:r>
            <a:r>
              <a:rPr lang="zh-CN" altLang="en-US" dirty="0"/>
              <a:t>自动将他的车辆信息（车牌、车型、当前位置）和状态（</a:t>
            </a:r>
            <a:r>
              <a:rPr lang="zh-CN" altLang="en-US" b="1" dirty="0"/>
              <a:t>空闲</a:t>
            </a:r>
            <a:r>
              <a:rPr lang="zh-CN" altLang="en-US" dirty="0"/>
              <a:t>）上报给滴滴的中央调度平台。</a:t>
            </a:r>
          </a:p>
          <a:p>
            <a:r>
              <a:rPr lang="zh-CN" altLang="en-US" b="1" dirty="0"/>
              <a:t>技术等价：</a:t>
            </a:r>
            <a:r>
              <a:rPr lang="zh-CN" altLang="en-US" dirty="0"/>
              <a:t> 一个“网约车”服务实例（王师傅的车）向服务注册中心（调度平台）注册了自己，并开始定期发送</a:t>
            </a:r>
            <a:r>
              <a:rPr lang="zh-CN" altLang="en-US" b="1" dirty="0"/>
              <a:t>心跳</a:t>
            </a:r>
            <a:r>
              <a:rPr lang="zh-CN" altLang="en-US" dirty="0"/>
              <a:t>（包含实时位置和状态），宣告：“我上线了，可以接单！”</a:t>
            </a:r>
          </a:p>
          <a:p>
            <a:endParaRPr lang="en-US" altLang="zh-CN" b="1" dirty="0"/>
          </a:p>
          <a:p>
            <a:pPr marL="0" indent="0">
              <a:buNone/>
            </a:pPr>
            <a:r>
              <a:rPr lang="zh-CN" altLang="en-US" b="1" dirty="0"/>
              <a:t>第</a:t>
            </a:r>
            <a:r>
              <a:rPr lang="en-US" altLang="zh-CN" b="1" dirty="0"/>
              <a:t>2</a:t>
            </a:r>
            <a:r>
              <a:rPr lang="zh-CN" altLang="en-US" b="1" dirty="0"/>
              <a:t>步：服务目录维护 </a:t>
            </a:r>
            <a:r>
              <a:rPr lang="en-US" altLang="zh-CN" b="1" dirty="0"/>
              <a:t>(Registry Maintenance) - “</a:t>
            </a:r>
            <a:r>
              <a:rPr lang="zh-CN" altLang="en-US" b="1" dirty="0"/>
              <a:t>平台全局视图”</a:t>
            </a:r>
            <a:endParaRPr lang="zh-CN" altLang="en-US" dirty="0"/>
          </a:p>
          <a:p>
            <a:r>
              <a:rPr lang="zh-CN" altLang="en-US" dirty="0"/>
              <a:t>滴滴的调度平台维护着一张巨大的</a:t>
            </a:r>
            <a:r>
              <a:rPr lang="zh-CN" altLang="en-US" b="1" dirty="0"/>
              <a:t>实时地图</a:t>
            </a:r>
            <a:r>
              <a:rPr lang="zh-CN" altLang="en-US" dirty="0"/>
              <a:t>，上面是所有已注册且健康的车辆。每个车都是一个可用的服务实例。</a:t>
            </a:r>
          </a:p>
          <a:p>
            <a:r>
              <a:rPr lang="zh-CN" altLang="en-US" dirty="0"/>
              <a:t>此时，李师傅、张师傅</a:t>
            </a:r>
            <a:r>
              <a:rPr lang="en-US" altLang="zh-CN" dirty="0"/>
              <a:t>...</a:t>
            </a:r>
            <a:r>
              <a:rPr lang="zh-CN" altLang="en-US" dirty="0"/>
              <a:t>成千上万辆车的状态都在这个列表中更新。</a:t>
            </a:r>
          </a:p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Software Architecture</a:t>
            </a:r>
            <a:endParaRPr lang="en-AU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“网约车”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zh-CN" altLang="en-US" sz="2000" b="1" dirty="0"/>
              <a:t>第</a:t>
            </a:r>
            <a:r>
              <a:rPr lang="en-US" altLang="zh-CN" sz="2000" b="1" dirty="0"/>
              <a:t>3</a:t>
            </a:r>
            <a:r>
              <a:rPr lang="zh-CN" altLang="en-US" sz="2000" b="1" dirty="0"/>
              <a:t>步：服务查找 </a:t>
            </a:r>
            <a:r>
              <a:rPr lang="en-US" altLang="zh-CN" sz="2000" b="1" dirty="0"/>
              <a:t>(Service Lookup) - “</a:t>
            </a:r>
            <a:r>
              <a:rPr lang="zh-CN" altLang="en-US" sz="2000" b="1" dirty="0"/>
              <a:t>你发出打车请求”</a:t>
            </a:r>
            <a:endParaRPr lang="zh-CN" altLang="en-US" sz="2000" dirty="0"/>
          </a:p>
          <a:p>
            <a:r>
              <a:rPr lang="zh-CN" altLang="en-US" sz="2000" dirty="0"/>
              <a:t>你在商场门口想回家，打开滴滴</a:t>
            </a:r>
            <a:r>
              <a:rPr lang="en-US" altLang="zh-CN" sz="2000" dirty="0"/>
              <a:t>App</a:t>
            </a:r>
            <a:r>
              <a:rPr lang="zh-CN" altLang="en-US" sz="2000" dirty="0"/>
              <a:t>，输入目的地，点击“呼叫快车”。</a:t>
            </a:r>
          </a:p>
          <a:p>
            <a:r>
              <a:rPr lang="zh-CN" altLang="en-US" sz="2000" b="1" dirty="0"/>
              <a:t>技术等价：</a:t>
            </a:r>
            <a:r>
              <a:rPr lang="zh-CN" altLang="en-US" sz="2000" dirty="0"/>
              <a:t> 服务消费者（你的乘客</a:t>
            </a:r>
            <a:r>
              <a:rPr lang="en-US" altLang="zh-CN" sz="2000" dirty="0"/>
              <a:t>App</a:t>
            </a:r>
            <a:r>
              <a:rPr lang="zh-CN" altLang="en-US" sz="2000" dirty="0"/>
              <a:t>）向注册中心（调度平台）发起一个查询请求：“我需要一个‘快车’服务，我在</a:t>
            </a:r>
            <a:r>
              <a:rPr lang="en-US" altLang="zh-CN" sz="2000" dirty="0"/>
              <a:t>[</a:t>
            </a:r>
            <a:r>
              <a:rPr lang="zh-CN" altLang="en-US" sz="2000" dirty="0"/>
              <a:t>商场门口坐标</a:t>
            </a:r>
            <a:r>
              <a:rPr lang="en-US" altLang="zh-CN" sz="2000" dirty="0"/>
              <a:t>]</a:t>
            </a:r>
            <a:r>
              <a:rPr lang="zh-CN" altLang="en-US" sz="2000" dirty="0"/>
              <a:t>，请给我附近所有</a:t>
            </a:r>
            <a:r>
              <a:rPr lang="zh-CN" altLang="en-US" sz="2000" b="1" dirty="0"/>
              <a:t>空闲</a:t>
            </a:r>
            <a:r>
              <a:rPr lang="zh-CN" altLang="en-US" sz="2000" dirty="0"/>
              <a:t>的快车列表”</a:t>
            </a:r>
            <a:endParaRPr lang="en-US" altLang="zh-CN" sz="2000" dirty="0"/>
          </a:p>
          <a:p>
            <a:pPr marL="0" indent="0">
              <a:buNone/>
            </a:pPr>
            <a:endParaRPr lang="zh-CN" altLang="en-US" sz="2000" dirty="0"/>
          </a:p>
          <a:p>
            <a:pPr marL="0" indent="0">
              <a:buNone/>
            </a:pPr>
            <a:r>
              <a:rPr lang="zh-CN" altLang="en-US" sz="2000" b="1" dirty="0"/>
              <a:t>第</a:t>
            </a:r>
            <a:r>
              <a:rPr lang="en-US" altLang="zh-CN" sz="2000" b="1" dirty="0"/>
              <a:t>4</a:t>
            </a:r>
            <a:r>
              <a:rPr lang="zh-CN" altLang="en-US" sz="2000" b="1" dirty="0"/>
              <a:t>步：服务选择与负载均衡 </a:t>
            </a:r>
            <a:r>
              <a:rPr lang="en-US" altLang="zh-CN" sz="2000" b="1" dirty="0"/>
              <a:t>(Selection &amp; Load Balancing) - “</a:t>
            </a:r>
            <a:r>
              <a:rPr lang="zh-CN" altLang="en-US" sz="2000" b="1" dirty="0"/>
              <a:t>智能派单算法”</a:t>
            </a:r>
            <a:endParaRPr lang="zh-CN" altLang="en-US" sz="2000" dirty="0"/>
          </a:p>
          <a:p>
            <a:r>
              <a:rPr lang="zh-CN" altLang="en-US" sz="2000" dirty="0"/>
              <a:t>调度平台</a:t>
            </a:r>
            <a:r>
              <a:rPr lang="zh-CN" altLang="en-US" sz="2000" b="1" dirty="0"/>
              <a:t>不会</a:t>
            </a:r>
            <a:r>
              <a:rPr lang="zh-CN" altLang="en-US" sz="2000" dirty="0"/>
              <a:t>把附近所有</a:t>
            </a:r>
            <a:r>
              <a:rPr lang="en-US" altLang="zh-CN" sz="2000" dirty="0"/>
              <a:t>100</a:t>
            </a:r>
            <a:r>
              <a:rPr lang="zh-CN" altLang="en-US" sz="2000" dirty="0"/>
              <a:t>个空车都告诉你。它会运行一个</a:t>
            </a:r>
            <a:r>
              <a:rPr lang="zh-CN" altLang="en-US" sz="2000" b="1" dirty="0"/>
              <a:t>智能派单算法</a:t>
            </a:r>
            <a:r>
              <a:rPr lang="zh-CN" altLang="en-US" sz="2000" dirty="0"/>
              <a:t>（这是一种高级的负载均衡策略）来选择一个“最佳”车辆：</a:t>
            </a:r>
          </a:p>
          <a:p>
            <a:r>
              <a:rPr lang="zh-CN" altLang="en-US" sz="2000" b="1" dirty="0"/>
              <a:t>基于位置（就近原则）：</a:t>
            </a:r>
            <a:r>
              <a:rPr lang="zh-CN" altLang="en-US" sz="2000" dirty="0"/>
              <a:t> 离你最近的车优先。（减少等待时间）</a:t>
            </a:r>
          </a:p>
          <a:p>
            <a:r>
              <a:rPr lang="zh-CN" altLang="en-US" sz="2000" b="1" dirty="0"/>
              <a:t>基于负载（公平性）：</a:t>
            </a:r>
            <a:r>
              <a:rPr lang="zh-CN" altLang="en-US" sz="2000" dirty="0"/>
              <a:t> 避免连续给同一个司机派单，让其他司机也有单接。（简单的负载均衡）</a:t>
            </a:r>
          </a:p>
          <a:p>
            <a:r>
              <a:rPr lang="zh-CN" altLang="en-US" sz="2000" b="1" dirty="0"/>
              <a:t>基于业务规则：</a:t>
            </a:r>
            <a:r>
              <a:rPr lang="zh-CN" altLang="en-US" sz="2000" dirty="0"/>
              <a:t> 是否派给“金牌司机”？是否优先派给电动车？（复杂的路由策略）</a:t>
            </a:r>
          </a:p>
          <a:p>
            <a:r>
              <a:rPr lang="zh-CN" altLang="en-US" sz="2000" b="1" dirty="0"/>
              <a:t>基于健康状态：</a:t>
            </a:r>
            <a:r>
              <a:rPr lang="zh-CN" altLang="en-US" sz="2000" dirty="0"/>
              <a:t> 司机的</a:t>
            </a:r>
            <a:r>
              <a:rPr lang="en-US" altLang="zh-CN" sz="2000" dirty="0"/>
              <a:t>App</a:t>
            </a:r>
            <a:r>
              <a:rPr lang="zh-CN" altLang="en-US" sz="2000" dirty="0"/>
              <a:t>网络连接是否稳定？车辆是否被报告过问题？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Software Architecture</a:t>
            </a:r>
            <a:endParaRPr lang="en-AU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“网约车”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zh-CN" altLang="en-US" sz="2000" b="1" dirty="0"/>
              <a:t>第</a:t>
            </a:r>
            <a:r>
              <a:rPr lang="en-US" altLang="zh-CN" sz="2000" b="1" dirty="0"/>
              <a:t>5</a:t>
            </a:r>
            <a:r>
              <a:rPr lang="zh-CN" altLang="en-US" sz="2000" b="1" dirty="0"/>
              <a:t>步：服务调用 </a:t>
            </a:r>
            <a:r>
              <a:rPr lang="en-US" altLang="zh-CN" sz="2000" b="1" dirty="0"/>
              <a:t>(Service Invocation) - “</a:t>
            </a:r>
            <a:r>
              <a:rPr lang="zh-CN" altLang="en-US" sz="2000" b="1" dirty="0"/>
              <a:t>派单与接单”</a:t>
            </a:r>
            <a:endParaRPr lang="zh-CN" altLang="en-US" sz="2000" dirty="0"/>
          </a:p>
          <a:p>
            <a:r>
              <a:rPr lang="zh-CN" altLang="en-US" sz="2000" dirty="0"/>
              <a:t>调度平台最终选择了</a:t>
            </a:r>
            <a:r>
              <a:rPr lang="zh-CN" altLang="en-US" sz="2000" b="1" dirty="0"/>
              <a:t>王师傅</a:t>
            </a:r>
            <a:r>
              <a:rPr lang="zh-CN" altLang="en-US" sz="2000" dirty="0"/>
              <a:t>的车。派单请求发送到王师傅的</a:t>
            </a:r>
            <a:r>
              <a:rPr lang="en-US" altLang="zh-CN" sz="2000" dirty="0"/>
              <a:t>App</a:t>
            </a:r>
            <a:r>
              <a:rPr lang="zh-CN" altLang="en-US" sz="2000" dirty="0"/>
              <a:t>上，他也点击了“接单”。</a:t>
            </a:r>
          </a:p>
          <a:p>
            <a:r>
              <a:rPr lang="zh-CN" altLang="en-US" sz="2000" b="1" dirty="0"/>
              <a:t>技术等价：</a:t>
            </a:r>
            <a:r>
              <a:rPr lang="zh-CN" altLang="en-US" sz="2000" dirty="0"/>
              <a:t> 注册中心将选中的服务实例的</a:t>
            </a:r>
            <a:r>
              <a:rPr lang="zh-CN" altLang="en-US" sz="2000" b="1" dirty="0"/>
              <a:t>具体地址</a:t>
            </a:r>
            <a:r>
              <a:rPr lang="zh-CN" altLang="en-US" sz="2000" dirty="0"/>
              <a:t>（王师傅的车牌、位置、联系方式）返回给消费者（你的</a:t>
            </a:r>
            <a:r>
              <a:rPr lang="en-US" altLang="zh-CN" sz="2000" dirty="0"/>
              <a:t>App</a:t>
            </a:r>
            <a:r>
              <a:rPr lang="zh-CN" altLang="en-US" sz="2000" dirty="0"/>
              <a:t>）。现在，消费者和服务实例之间建立了直接联系（你看到了车牌号，王师傅看到了你的手机尾号）。</a:t>
            </a:r>
            <a:endParaRPr lang="en-US" altLang="zh-CN" sz="2000" dirty="0"/>
          </a:p>
          <a:p>
            <a:endParaRPr lang="zh-CN" altLang="en-US" sz="2000" dirty="0"/>
          </a:p>
          <a:p>
            <a:pPr marL="0" indent="0">
              <a:buNone/>
            </a:pPr>
            <a:r>
              <a:rPr lang="zh-CN" altLang="en-US" sz="2000" b="1" dirty="0"/>
              <a:t>第</a:t>
            </a:r>
            <a:r>
              <a:rPr lang="en-US" altLang="zh-CN" sz="2000" b="1" dirty="0"/>
              <a:t>6</a:t>
            </a:r>
            <a:r>
              <a:rPr lang="zh-CN" altLang="en-US" sz="2000" b="1" dirty="0"/>
              <a:t>步：服务注销与故障发现 </a:t>
            </a:r>
            <a:r>
              <a:rPr lang="en-US" altLang="zh-CN" sz="2000" b="1" dirty="0"/>
              <a:t>(Deregistration &amp; Failure Detection) - “</a:t>
            </a:r>
            <a:r>
              <a:rPr lang="zh-CN" altLang="en-US" sz="2000" b="1" dirty="0"/>
              <a:t>司机下班或异常”</a:t>
            </a:r>
            <a:endParaRPr lang="zh-CN" altLang="en-US" sz="2000" dirty="0"/>
          </a:p>
          <a:p>
            <a:r>
              <a:rPr lang="zh-CN" altLang="en-US" sz="2000" b="1" dirty="0"/>
              <a:t>情景</a:t>
            </a:r>
            <a:r>
              <a:rPr lang="en-US" altLang="zh-CN" sz="2000" b="1" dirty="0"/>
              <a:t>A - </a:t>
            </a:r>
            <a:r>
              <a:rPr lang="zh-CN" altLang="en-US" sz="2000" b="1" dirty="0"/>
              <a:t>主动注销：</a:t>
            </a:r>
            <a:r>
              <a:rPr lang="zh-CN" altLang="en-US" sz="2000" dirty="0"/>
              <a:t> 王师傅收车了，他在</a:t>
            </a:r>
            <a:r>
              <a:rPr lang="en-US" altLang="zh-CN" sz="2000" dirty="0"/>
              <a:t>App</a:t>
            </a:r>
            <a:r>
              <a:rPr lang="zh-CN" altLang="en-US" sz="2000" dirty="0"/>
              <a:t>上点击“下线”。</a:t>
            </a:r>
          </a:p>
          <a:p>
            <a:r>
              <a:rPr lang="zh-CN" altLang="en-US" sz="2000" b="1" dirty="0"/>
              <a:t>技术等价：</a:t>
            </a:r>
            <a:r>
              <a:rPr lang="zh-CN" altLang="en-US" sz="2000" dirty="0"/>
              <a:t> 服务实例</a:t>
            </a:r>
            <a:r>
              <a:rPr lang="zh-CN" altLang="en-US" sz="2000" b="1" dirty="0"/>
              <a:t>主动注销</a:t>
            </a:r>
            <a:r>
              <a:rPr lang="zh-CN" altLang="en-US" sz="2000" dirty="0"/>
              <a:t>，通知注册中心：“我下线了，请把我从可用列表里移除。”</a:t>
            </a:r>
          </a:p>
          <a:p>
            <a:r>
              <a:rPr lang="zh-CN" altLang="en-US" sz="2000" b="1" dirty="0"/>
              <a:t>情景</a:t>
            </a:r>
            <a:r>
              <a:rPr lang="en-US" altLang="zh-CN" sz="2000" b="1" dirty="0"/>
              <a:t>B - </a:t>
            </a:r>
            <a:r>
              <a:rPr lang="zh-CN" altLang="en-US" sz="2000" b="1" dirty="0"/>
              <a:t>被动故障发现：</a:t>
            </a:r>
            <a:r>
              <a:rPr lang="zh-CN" altLang="en-US" sz="2000" dirty="0"/>
              <a:t> 李师傅开进隧道，网络中断超过</a:t>
            </a:r>
            <a:r>
              <a:rPr lang="en-US" altLang="zh-CN" sz="2000" dirty="0"/>
              <a:t>60</a:t>
            </a:r>
            <a:r>
              <a:rPr lang="zh-CN" altLang="en-US" sz="2000" dirty="0"/>
              <a:t>秒，无法发送心跳。</a:t>
            </a:r>
          </a:p>
          <a:p>
            <a:r>
              <a:rPr lang="zh-CN" altLang="en-US" sz="2000" b="1" dirty="0"/>
              <a:t>技术等价：</a:t>
            </a:r>
            <a:r>
              <a:rPr lang="zh-CN" altLang="en-US" sz="2000" dirty="0"/>
              <a:t> 注册中心通过</a:t>
            </a:r>
            <a:r>
              <a:rPr lang="zh-CN" altLang="en-US" sz="2000" b="1" dirty="0"/>
              <a:t>心跳超时</a:t>
            </a:r>
            <a:r>
              <a:rPr lang="zh-CN" altLang="en-US" sz="2000" dirty="0"/>
              <a:t>机制，检测到李师傅这个实例“失联”了，于是</a:t>
            </a:r>
            <a:r>
              <a:rPr lang="zh-CN" altLang="en-US" sz="2000" b="1" dirty="0"/>
              <a:t>主动将其标记为不健康</a:t>
            </a:r>
            <a:r>
              <a:rPr lang="zh-CN" altLang="en-US" sz="2000" dirty="0"/>
              <a:t>并剔除出可用列表，防止后续订单派给他导致失败。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Software Architecture</a:t>
            </a:r>
            <a:endParaRPr lang="en-AU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“网约车”</a:t>
            </a:r>
          </a:p>
        </p:txBody>
      </p:sp>
      <p:graphicFrame>
        <p:nvGraphicFramePr>
          <p:cNvPr id="5" name="内容占位符 4"/>
          <p:cNvGraphicFramePr>
            <a:graphicFrameLocks noGrp="1"/>
          </p:cNvGraphicFramePr>
          <p:nvPr>
            <p:ph idx="1"/>
          </p:nvPr>
        </p:nvGraphicFramePr>
        <p:xfrm>
          <a:off x="457200" y="1506538"/>
          <a:ext cx="8229600" cy="4381500"/>
        </p:xfrm>
        <a:graphic>
          <a:graphicData uri="http://schemas.openxmlformats.org/drawingml/2006/table">
            <a:tbl>
              <a:tblPr/>
              <a:tblGrid>
                <a:gridCol w="26606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44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44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  <a:latin typeface="quote-cjk-patch"/>
                        </a:rPr>
                        <a:t>服务发现中的概念</a:t>
                      </a: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  <a:latin typeface="quote-cjk-patch"/>
                        </a:rPr>
                        <a:t>网约车系统中的角色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  <a:latin typeface="quote-cjk-patch"/>
                        </a:rPr>
                        <a:t>作用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1">
                          <a:effectLst/>
                          <a:latin typeface="quote-cjk-patch"/>
                        </a:rPr>
                        <a:t>服务实例 </a:t>
                      </a:r>
                      <a:r>
                        <a:rPr lang="en-US" altLang="zh-CN" b="1">
                          <a:effectLst/>
                          <a:latin typeface="quote-cjk-patch"/>
                        </a:rPr>
                        <a:t>(</a:t>
                      </a:r>
                      <a:r>
                        <a:rPr lang="en-US" b="1">
                          <a:effectLst/>
                          <a:latin typeface="quote-cjk-patch"/>
                        </a:rPr>
                        <a:t>Service Instance)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1">
                          <a:effectLst/>
                          <a:latin typeface="quote-cjk-patch"/>
                        </a:rPr>
                        <a:t>一辆辆具体的网约车</a:t>
                      </a:r>
                      <a:r>
                        <a:rPr lang="zh-CN" altLang="en-US" b="0">
                          <a:effectLst/>
                          <a:latin typeface="quote-cjk-patch"/>
                        </a:rPr>
                        <a:t>（司机</a:t>
                      </a:r>
                      <a:r>
                        <a:rPr lang="en-US" altLang="zh-CN" b="0">
                          <a:effectLst/>
                          <a:latin typeface="quote-cjk-patch"/>
                        </a:rPr>
                        <a:t>+</a:t>
                      </a:r>
                      <a:r>
                        <a:rPr lang="zh-CN" altLang="en-US" b="0">
                          <a:effectLst/>
                          <a:latin typeface="quote-cjk-patch"/>
                        </a:rPr>
                        <a:t>车）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  <a:latin typeface="quote-cjk-patch"/>
                        </a:rPr>
                        <a:t>真正提供“出行”服务的实体。每辆车都有实时状态（位置、是否空闲）。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1">
                          <a:effectLst/>
                          <a:latin typeface="quote-cjk-patch"/>
                        </a:rPr>
                        <a:t>服务 </a:t>
                      </a:r>
                      <a:r>
                        <a:rPr lang="en-US" altLang="zh-CN" b="1">
                          <a:effectLst/>
                          <a:latin typeface="quote-cjk-patch"/>
                        </a:rPr>
                        <a:t>(</a:t>
                      </a:r>
                      <a:r>
                        <a:rPr lang="en-US" b="1">
                          <a:effectLst/>
                          <a:latin typeface="quote-cjk-patch"/>
                        </a:rPr>
                        <a:t>Service)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1">
                          <a:effectLst/>
                          <a:latin typeface="quote-cjk-patch"/>
                        </a:rPr>
                        <a:t>“网约车”这个服务品类</a:t>
                      </a:r>
                      <a:r>
                        <a:rPr lang="zh-CN" altLang="en-US" b="0">
                          <a:effectLst/>
                          <a:latin typeface="quote-cjk-patch"/>
                        </a:rPr>
                        <a:t>（如快车、专车）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  <a:latin typeface="quote-cjk-patch"/>
                        </a:rPr>
                        <a:t>一个逻辑分类，代表一类相同的服务。用户要的是“车”，而不是特定某辆车。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1">
                          <a:effectLst/>
                          <a:latin typeface="quote-cjk-patch"/>
                        </a:rPr>
                        <a:t>服务注册中心 </a:t>
                      </a:r>
                      <a:r>
                        <a:rPr lang="en-US" altLang="zh-CN" b="1">
                          <a:effectLst/>
                          <a:latin typeface="quote-cjk-patch"/>
                        </a:rPr>
                        <a:t>(</a:t>
                      </a:r>
                      <a:r>
                        <a:rPr lang="en-US" b="1">
                          <a:effectLst/>
                          <a:latin typeface="quote-cjk-patch"/>
                        </a:rPr>
                        <a:t>Registry)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1">
                          <a:effectLst/>
                          <a:latin typeface="quote-cjk-patch"/>
                        </a:rPr>
                        <a:t>滴滴</a:t>
                      </a:r>
                      <a:r>
                        <a:rPr lang="en-US" altLang="zh-CN" b="1">
                          <a:effectLst/>
                          <a:latin typeface="quote-cjk-patch"/>
                        </a:rPr>
                        <a:t>/</a:t>
                      </a:r>
                      <a:r>
                        <a:rPr lang="en-US" b="1">
                          <a:effectLst/>
                          <a:latin typeface="quote-cjk-patch"/>
                        </a:rPr>
                        <a:t>Uber</a:t>
                      </a:r>
                      <a:r>
                        <a:rPr lang="zh-CN" altLang="en-US" b="1">
                          <a:effectLst/>
                          <a:latin typeface="quote-cjk-patch"/>
                        </a:rPr>
                        <a:t>的中央调度平台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  <a:latin typeface="quote-cjk-patch"/>
                        </a:rPr>
                        <a:t>它知道所有车辆的实时状态：谁空车、谁载客、谁下线了。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1">
                          <a:effectLst/>
                          <a:latin typeface="quote-cjk-patch"/>
                        </a:rPr>
                        <a:t>服务消费者 </a:t>
                      </a:r>
                      <a:r>
                        <a:rPr lang="en-US" altLang="zh-CN" b="1">
                          <a:effectLst/>
                          <a:latin typeface="quote-cjk-patch"/>
                        </a:rPr>
                        <a:t>(</a:t>
                      </a:r>
                      <a:r>
                        <a:rPr lang="en-US" b="1">
                          <a:effectLst/>
                          <a:latin typeface="quote-cjk-patch"/>
                        </a:rPr>
                        <a:t>Consumer)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1">
                          <a:effectLst/>
                          <a:latin typeface="quote-cjk-patch"/>
                        </a:rPr>
                        <a:t>你（乘客）的</a:t>
                      </a:r>
                      <a:r>
                        <a:rPr lang="en-US" b="1">
                          <a:effectLst/>
                          <a:latin typeface="quote-cjk-patch"/>
                        </a:rPr>
                        <a:t>App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  <a:latin typeface="quote-cjk-patch"/>
                        </a:rPr>
                        <a:t>需要找到“网约车”服务来满足出行需求。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1">
                          <a:effectLst/>
                          <a:latin typeface="quote-cjk-patch"/>
                        </a:rPr>
                        <a:t>服务发现 </a:t>
                      </a:r>
                      <a:r>
                        <a:rPr lang="en-US" altLang="zh-CN" b="1">
                          <a:effectLst/>
                          <a:latin typeface="quote-cjk-patch"/>
                        </a:rPr>
                        <a:t>(</a:t>
                      </a:r>
                      <a:r>
                        <a:rPr lang="en-US" b="1">
                          <a:effectLst/>
                          <a:latin typeface="quote-cjk-patch"/>
                        </a:rPr>
                        <a:t>Discovery)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1">
                          <a:effectLst/>
                          <a:latin typeface="quote-cjk-patch"/>
                        </a:rPr>
                        <a:t>整个“匹配</a:t>
                      </a:r>
                      <a:r>
                        <a:rPr lang="en-US" altLang="zh-CN" b="1">
                          <a:effectLst/>
                          <a:latin typeface="quote-cjk-patch"/>
                        </a:rPr>
                        <a:t>-</a:t>
                      </a:r>
                      <a:r>
                        <a:rPr lang="zh-CN" altLang="en-US" b="1">
                          <a:effectLst/>
                          <a:latin typeface="quote-cjk-patch"/>
                        </a:rPr>
                        <a:t>派单”的过程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 dirty="0">
                          <a:effectLst/>
                          <a:latin typeface="quote-cjk-patch"/>
                        </a:rPr>
                        <a:t>根据你的位置，为你找到一个最近、最合适的空车。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Software Architecture</a:t>
            </a:r>
            <a:endParaRPr lang="en-AU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Interoperability Tactics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Software Architecture</a:t>
            </a:r>
            <a:endParaRPr lang="en-AU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t="3903" b="50663"/>
          <a:stretch>
            <a:fillRect/>
          </a:stretch>
        </p:blipFill>
        <p:spPr>
          <a:xfrm>
            <a:off x="1187624" y="1700808"/>
            <a:ext cx="6771508" cy="397994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Locate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chemeClr val="tx2"/>
                </a:solidFill>
              </a:rPr>
              <a:t>Service </a:t>
            </a:r>
            <a:r>
              <a:rPr lang="en-US" b="1" dirty="0">
                <a:solidFill>
                  <a:schemeClr val="tx2"/>
                </a:solidFill>
              </a:rPr>
              <a:t>Discovery </a:t>
            </a:r>
            <a:r>
              <a:rPr lang="en-US" dirty="0"/>
              <a:t>: Locate a service through searching </a:t>
            </a:r>
          </a:p>
          <a:p>
            <a:r>
              <a:rPr lang="en-US" altLang="zh-CN" dirty="0"/>
              <a:t>There are many </a:t>
            </a:r>
            <a:r>
              <a:rPr lang="en-US" altLang="zh-CN" b="1" dirty="0">
                <a:solidFill>
                  <a:schemeClr val="tx2"/>
                </a:solidFill>
              </a:rPr>
              <a:t>service discovery </a:t>
            </a:r>
            <a:r>
              <a:rPr lang="en-US" altLang="zh-CN" dirty="0"/>
              <a:t>mechanisms:</a:t>
            </a:r>
          </a:p>
          <a:p>
            <a:pPr lvl="1"/>
            <a:r>
              <a:rPr lang="en-US" altLang="zh-CN" dirty="0"/>
              <a:t>UDDI for Webservices</a:t>
            </a:r>
          </a:p>
          <a:p>
            <a:pPr lvl="1"/>
            <a:r>
              <a:rPr lang="en-US" altLang="zh-CN" dirty="0" err="1"/>
              <a:t>Jini</a:t>
            </a:r>
            <a:r>
              <a:rPr lang="en-US" altLang="zh-CN" dirty="0"/>
              <a:t> for </a:t>
            </a:r>
            <a:r>
              <a:rPr lang="en-US" altLang="zh-CN" dirty="0" err="1"/>
              <a:t>Jave</a:t>
            </a:r>
            <a:r>
              <a:rPr lang="en-US" altLang="zh-CN" dirty="0"/>
              <a:t> objects</a:t>
            </a:r>
          </a:p>
          <a:p>
            <a:pPr lvl="1"/>
            <a:r>
              <a:rPr lang="en-US" altLang="zh-CN" dirty="0"/>
              <a:t>Simple Service Discovery Protocol (SSDP) as used in Universal plug-and-play (UPnP)</a:t>
            </a:r>
          </a:p>
          <a:p>
            <a:pPr lvl="1"/>
            <a:r>
              <a:rPr lang="en-US" altLang="zh-CN" dirty="0"/>
              <a:t>DNS Service Discovery (DNS-SD)</a:t>
            </a:r>
          </a:p>
          <a:p>
            <a:pPr lvl="1"/>
            <a:r>
              <a:rPr lang="en-US" altLang="zh-CN" dirty="0"/>
              <a:t>Bluetooth Service Discovery Protocol (SDP)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Software Architecture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Service Discovery – Necessary conditions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The searcher wants to find the searched entity and the searched entity </a:t>
            </a:r>
            <a:r>
              <a:rPr lang="en-US" altLang="zh-CN" sz="3600" b="1" dirty="0"/>
              <a:t>wants to be found</a:t>
            </a:r>
          </a:p>
          <a:p>
            <a:r>
              <a:rPr lang="en-US" altLang="zh-CN" sz="3600" dirty="0"/>
              <a:t>The searched entity must have </a:t>
            </a:r>
            <a:r>
              <a:rPr lang="en-US" altLang="zh-CN" sz="3600" b="1" dirty="0"/>
              <a:t>identifiers</a:t>
            </a:r>
          </a:p>
          <a:p>
            <a:r>
              <a:rPr lang="en-US" altLang="zh-CN" sz="3600" dirty="0"/>
              <a:t>The searcher must acquire </a:t>
            </a:r>
            <a:r>
              <a:rPr lang="en-US" altLang="zh-CN" sz="3600" b="1" dirty="0"/>
              <a:t>sufficient identifiers</a:t>
            </a:r>
            <a:r>
              <a:rPr lang="en-US" altLang="zh-CN" sz="3600" dirty="0"/>
              <a:t> to identify the searched entity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Software Architecture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568952" cy="778098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Searching Method – Searcher’s initiative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CN" dirty="0"/>
              <a:t>Flood/Broadcast request</a:t>
            </a:r>
          </a:p>
          <a:p>
            <a:pPr lvl="1"/>
            <a:r>
              <a:rPr lang="en-US" altLang="zh-CN" dirty="0"/>
              <a:t>Ask every entity and wait for answer</a:t>
            </a:r>
          </a:p>
          <a:p>
            <a:r>
              <a:rPr lang="en-US" altLang="zh-CN" dirty="0"/>
              <a:t>Examples</a:t>
            </a:r>
          </a:p>
          <a:p>
            <a:pPr lvl="1"/>
            <a:r>
              <a:rPr lang="en-US" altLang="zh-CN" dirty="0"/>
              <a:t>Paging in the location area to find the mobile terminal</a:t>
            </a:r>
          </a:p>
          <a:p>
            <a:pPr lvl="1"/>
            <a:r>
              <a:rPr lang="en-US" altLang="zh-CN" dirty="0"/>
              <a:t>DHCP discover: the client broadcasts on the local subnet to find available servers to ask for IP address </a:t>
            </a:r>
          </a:p>
          <a:p>
            <a:r>
              <a:rPr lang="en-US" altLang="zh-CN" dirty="0"/>
              <a:t>Efficient and less resource consuming for the searcher</a:t>
            </a:r>
          </a:p>
          <a:p>
            <a:r>
              <a:rPr lang="en-US" altLang="zh-CN" dirty="0"/>
              <a:t>Low resource consuming for the searched</a:t>
            </a:r>
          </a:p>
          <a:p>
            <a:r>
              <a:rPr lang="en-US" altLang="zh-CN" dirty="0"/>
              <a:t>But disturbing and resource consuming for the environment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Software Architecture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275841"/>
            <a:ext cx="8568952" cy="4857403"/>
          </a:xfrm>
        </p:spPr>
        <p:txBody>
          <a:bodyPr/>
          <a:lstStyle/>
          <a:p>
            <a:r>
              <a:rPr lang="en-US" altLang="zh-CN" dirty="0"/>
              <a:t>Successive request:</a:t>
            </a:r>
          </a:p>
          <a:p>
            <a:pPr lvl="1"/>
            <a:r>
              <a:rPr lang="en-US" altLang="zh-CN" dirty="0"/>
              <a:t>Ask one entity at the time and perform matching</a:t>
            </a:r>
          </a:p>
          <a:p>
            <a:pPr lvl="1"/>
            <a:r>
              <a:rPr lang="en-US" altLang="zh-CN" dirty="0"/>
              <a:t>If no match, continue with next until finding a  match</a:t>
            </a:r>
          </a:p>
          <a:p>
            <a:r>
              <a:rPr lang="en-US" altLang="zh-CN" dirty="0"/>
              <a:t>Less efficient and high resource consuming for the searcher </a:t>
            </a:r>
          </a:p>
          <a:p>
            <a:r>
              <a:rPr lang="en-US" altLang="zh-CN" dirty="0"/>
              <a:t>But less disturbing and less resource consuming for the environment</a:t>
            </a:r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Software Architecture</a:t>
            </a:r>
            <a:endParaRPr lang="en-AU" dirty="0"/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568952" cy="778098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Searching Method – Searcher’s initiative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Searching Method – </a:t>
            </a:r>
            <a:r>
              <a:rPr lang="en-US" altLang="zh-CN" dirty="0" err="1"/>
              <a:t>Searched’s</a:t>
            </a:r>
            <a:r>
              <a:rPr lang="en-US" altLang="zh-CN" dirty="0"/>
              <a:t> initiative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275841"/>
            <a:ext cx="8363272" cy="4857403"/>
          </a:xfrm>
        </p:spPr>
        <p:txBody>
          <a:bodyPr/>
          <a:lstStyle/>
          <a:p>
            <a:r>
              <a:rPr lang="en-US" altLang="zh-CN" dirty="0"/>
              <a:t>Continuous/periodical advertisement:</a:t>
            </a:r>
          </a:p>
          <a:p>
            <a:pPr lvl="1"/>
            <a:r>
              <a:rPr lang="en-US" altLang="zh-CN" dirty="0"/>
              <a:t>Continuously or periodically publish advertisement such that every searcher can notice and respond</a:t>
            </a:r>
          </a:p>
          <a:p>
            <a:r>
              <a:rPr lang="en-US" altLang="zh-CN" dirty="0"/>
              <a:t>Efficient but high resource consuming for the searched</a:t>
            </a:r>
          </a:p>
          <a:p>
            <a:r>
              <a:rPr lang="en-US" altLang="zh-CN" dirty="0"/>
              <a:t>Low resource demanding for the searcher</a:t>
            </a:r>
          </a:p>
          <a:p>
            <a:r>
              <a:rPr lang="en-US" altLang="zh-CN" dirty="0"/>
              <a:t>Disturbing and resource consuming for the environment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Software Architecture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Searching Method – </a:t>
            </a:r>
            <a:r>
              <a:rPr lang="en-US" altLang="zh-CN" dirty="0" err="1"/>
              <a:t>Searched’s</a:t>
            </a:r>
            <a:r>
              <a:rPr lang="en-US" altLang="zh-CN" dirty="0"/>
              <a:t> initiative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275841"/>
            <a:ext cx="8363272" cy="4857403"/>
          </a:xfrm>
        </p:spPr>
        <p:txBody>
          <a:bodyPr>
            <a:normAutofit/>
          </a:bodyPr>
          <a:lstStyle/>
          <a:p>
            <a:r>
              <a:rPr lang="en-US" altLang="zh-CN" dirty="0"/>
              <a:t>Advertisement upon arrival of new entity</a:t>
            </a:r>
          </a:p>
          <a:p>
            <a:pPr lvl="1"/>
            <a:r>
              <a:rPr lang="en-US" altLang="zh-CN" dirty="0"/>
              <a:t>E.g., present himself when a new person enters the lobby</a:t>
            </a:r>
          </a:p>
          <a:p>
            <a:r>
              <a:rPr lang="en-US" altLang="zh-CN" dirty="0"/>
              <a:t>Require detection mechanism upon new entity arrival</a:t>
            </a:r>
          </a:p>
          <a:p>
            <a:r>
              <a:rPr lang="en-US" altLang="zh-CN" dirty="0"/>
              <a:t>Less resource consuming for the searched</a:t>
            </a:r>
          </a:p>
          <a:p>
            <a:r>
              <a:rPr lang="en-US" altLang="zh-CN" dirty="0"/>
              <a:t>Low resource demanding for the searcher</a:t>
            </a:r>
          </a:p>
          <a:p>
            <a:r>
              <a:rPr lang="en-US" altLang="zh-CN" dirty="0"/>
              <a:t>Less disturbing and resource consuming for the environment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Software Architecture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Searching Method – Registration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275841"/>
            <a:ext cx="8363272" cy="4857403"/>
          </a:xfrm>
        </p:spPr>
        <p:txBody>
          <a:bodyPr>
            <a:normAutofit/>
          </a:bodyPr>
          <a:lstStyle/>
          <a:p>
            <a:r>
              <a:rPr lang="en-US" altLang="zh-CN" dirty="0"/>
              <a:t>Introduction of the “middlemen”, registry</a:t>
            </a:r>
          </a:p>
          <a:p>
            <a:pPr lvl="1"/>
            <a:r>
              <a:rPr lang="en-US" altLang="zh-CN" dirty="0"/>
              <a:t>The searched entity registers to a registry</a:t>
            </a:r>
          </a:p>
          <a:p>
            <a:pPr lvl="1"/>
            <a:r>
              <a:rPr lang="en-US" altLang="zh-CN" dirty="0"/>
              <a:t>The searcher can address to the registry to get information and find the searched entity</a:t>
            </a:r>
          </a:p>
          <a:p>
            <a:r>
              <a:rPr lang="en-US" altLang="zh-CN" dirty="0"/>
              <a:t>Example</a:t>
            </a:r>
          </a:p>
          <a:p>
            <a:pPr lvl="1"/>
            <a:r>
              <a:rPr lang="en-US" altLang="zh-CN" dirty="0"/>
              <a:t>Service providers register their web services at UDDI registry which can be searched and found by Service Requestors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Software Architecture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Software Architecture</a:t>
            </a:r>
            <a:endParaRPr lang="en-AU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688" y="1131756"/>
            <a:ext cx="6404496" cy="4310370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Searching Method – Registration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498376" y="5156021"/>
            <a:ext cx="81472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Less resource consumption on both searchers, searched, and less disturbing to environment, but the registry must be available, reliable, and correct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Web Service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1305644"/>
            <a:ext cx="8784976" cy="4857403"/>
          </a:xfrm>
        </p:spPr>
        <p:txBody>
          <a:bodyPr>
            <a:normAutofit/>
          </a:bodyPr>
          <a:lstStyle/>
          <a:p>
            <a:r>
              <a:rPr lang="en-US" altLang="zh-CN" sz="2400" dirty="0"/>
              <a:t>Describes any computational</a:t>
            </a:r>
            <a:r>
              <a:rPr lang="zh-CN" altLang="en-US" sz="2400" dirty="0"/>
              <a:t> </a:t>
            </a:r>
            <a:r>
              <a:rPr lang="en-US" altLang="zh-CN" sz="2400" dirty="0"/>
              <a:t>functionality that can be found and invoked over any network (e.g. the Internet)</a:t>
            </a:r>
          </a:p>
          <a:p>
            <a:r>
              <a:rPr lang="en-US" altLang="zh-CN" sz="2400" dirty="0"/>
              <a:t>Represents a self-describing, self-contained application</a:t>
            </a:r>
          </a:p>
          <a:p>
            <a:r>
              <a:rPr lang="en-US" altLang="zh-CN" sz="2400" dirty="0"/>
              <a:t>Designed to be used by other programs or applications rather than humans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1043608" y="5344301"/>
            <a:ext cx="6336704" cy="365125"/>
          </a:xfrm>
        </p:spPr>
        <p:txBody>
          <a:bodyPr/>
          <a:lstStyle/>
          <a:p>
            <a:r>
              <a:rPr lang="en-US"/>
              <a:t>© Software Architecture</a:t>
            </a:r>
            <a:endParaRPr lang="en-AU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4005064"/>
            <a:ext cx="6818241" cy="2675944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835696" y="3928332"/>
            <a:ext cx="1512168" cy="5040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/>
          <p:cNvSpPr/>
          <p:nvPr/>
        </p:nvSpPr>
        <p:spPr>
          <a:xfrm>
            <a:off x="1475656" y="3752156"/>
            <a:ext cx="2160240" cy="68588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Web Service Architecture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Software Architecture</a:t>
            </a:r>
            <a:endParaRPr lang="en-AU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3" y="1683709"/>
            <a:ext cx="6868763" cy="4104456"/>
          </a:xfrm>
          <a:prstGeom prst="rect">
            <a:avLst/>
          </a:prstGeom>
        </p:spPr>
      </p:pic>
      <p:sp>
        <p:nvSpPr>
          <p:cNvPr id="6" name="矩形: 圆角 5"/>
          <p:cNvSpPr/>
          <p:nvPr/>
        </p:nvSpPr>
        <p:spPr>
          <a:xfrm>
            <a:off x="899592" y="1340768"/>
            <a:ext cx="2160240" cy="68588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Web Service Architecture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Software Architecture</a:t>
            </a:r>
            <a:endParaRPr lang="en-AU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1340768"/>
            <a:ext cx="6913674" cy="4931307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UDDI Registries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/>
              <a:t>A network of UDDI registries resembling the Domain Name System (DNS)</a:t>
            </a:r>
          </a:p>
          <a:p>
            <a:r>
              <a:rPr lang="en-US" altLang="zh-CN" sz="2800" dirty="0"/>
              <a:t>All UDDI registers exchange information</a:t>
            </a:r>
          </a:p>
          <a:p>
            <a:r>
              <a:rPr lang="en-US" altLang="zh-CN" sz="2800" dirty="0"/>
              <a:t>Accessing one registry provides all information contained in all registries</a:t>
            </a:r>
            <a:endParaRPr lang="zh-CN" altLang="en-US" sz="2800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Software Architecture</a:t>
            </a:r>
            <a:endParaRPr lang="en-AU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3715664"/>
            <a:ext cx="8037030" cy="247367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2800" b="0" i="0" u="none" strike="noStrike" baseline="0" dirty="0">
                <a:latin typeface="Times-Roman"/>
              </a:rPr>
              <a:t>Universal Description, Discovery, and Integration (UDDI) was touted as a discovery service, but commercial support for UDDI is being withdrawn.</a:t>
            </a:r>
          </a:p>
          <a:p>
            <a:pPr algn="l"/>
            <a:r>
              <a:rPr lang="en-US" altLang="zh-CN" sz="2800" b="0" i="0" u="none" strike="noStrike" baseline="0" dirty="0">
                <a:latin typeface="Times-Roman"/>
              </a:rPr>
              <a:t>Why do you suppose this is? Does it have anything to do with the quality attributes delivered or not delivered by UDDI solutions?</a:t>
            </a:r>
          </a:p>
          <a:p>
            <a:pPr lvl="1"/>
            <a:r>
              <a:rPr lang="zh-CN" altLang="en-US" dirty="0"/>
              <a:t>单中心</a:t>
            </a:r>
            <a:endParaRPr lang="en-US" altLang="zh-CN" dirty="0"/>
          </a:p>
          <a:p>
            <a:pPr lvl="1"/>
            <a:r>
              <a:rPr lang="zh-CN" altLang="en-US" sz="2800" dirty="0"/>
              <a:t>单点失败</a:t>
            </a:r>
            <a:endParaRPr lang="en-US" altLang="zh-CN" sz="2800" dirty="0"/>
          </a:p>
          <a:p>
            <a:pPr lvl="1"/>
            <a:r>
              <a:rPr lang="zh-CN" altLang="en-US" sz="2800" dirty="0"/>
              <a:t>瓶颈</a:t>
            </a:r>
            <a:endParaRPr lang="en-US" altLang="zh-CN" sz="2800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Software Architecture</a:t>
            </a:r>
            <a:endParaRPr lang="en-AU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服务发现方法的转变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zh-CN" b="1" dirty="0"/>
              <a:t>1. </a:t>
            </a:r>
            <a:r>
              <a:rPr lang="zh-CN" altLang="en-US" b="1" dirty="0"/>
              <a:t>范围与领域：从“全球互联网”到“特定域”</a:t>
            </a:r>
          </a:p>
          <a:p>
            <a:r>
              <a:rPr lang="en-US" altLang="zh-CN" b="1" dirty="0"/>
              <a:t>UDDI</a:t>
            </a:r>
            <a:r>
              <a:rPr lang="zh-CN" altLang="en-US" b="1" dirty="0"/>
              <a:t>（大范围）：</a:t>
            </a:r>
            <a:r>
              <a:rPr lang="zh-CN" altLang="en-US" dirty="0"/>
              <a:t> 它的雄心是成为整个互联网的</a:t>
            </a:r>
            <a:r>
              <a:rPr lang="zh-CN" altLang="en-US" b="1" dirty="0"/>
              <a:t>全球业务服务白皮书</a:t>
            </a:r>
            <a:r>
              <a:rPr lang="zh-CN" altLang="en-US" dirty="0"/>
              <a:t>。任何公司都可以在上面发布服务，任何客户都可以在全球范围内查找和发现。这是一个“一刀切”的宏大构想。</a:t>
            </a:r>
          </a:p>
          <a:p>
            <a:r>
              <a:rPr lang="zh-CN" altLang="en-US" b="1" dirty="0"/>
              <a:t>现代方案（小范围）：</a:t>
            </a:r>
            <a:endParaRPr lang="zh-CN" altLang="en-US" dirty="0"/>
          </a:p>
          <a:p>
            <a:pPr lvl="1"/>
            <a:r>
              <a:rPr lang="zh-CN" altLang="en-US" b="1" dirty="0"/>
              <a:t>微服务注册中心（如</a:t>
            </a:r>
            <a:r>
              <a:rPr lang="en-US" altLang="zh-CN" b="1" dirty="0"/>
              <a:t>Eureka</a:t>
            </a:r>
            <a:r>
              <a:rPr lang="zh-CN" altLang="en-US" b="1" dirty="0"/>
              <a:t>）：</a:t>
            </a:r>
            <a:r>
              <a:rPr lang="zh-CN" altLang="en-US" dirty="0"/>
              <a:t> 作用范围仅限于</a:t>
            </a:r>
            <a:r>
              <a:rPr lang="zh-CN" altLang="en-US" b="1" dirty="0"/>
              <a:t>一个应用系统内部</a:t>
            </a:r>
            <a:r>
              <a:rPr lang="zh-CN" altLang="en-US" dirty="0"/>
              <a:t>或</a:t>
            </a:r>
            <a:r>
              <a:rPr lang="zh-CN" altLang="en-US" b="1" dirty="0"/>
              <a:t>一个业务域内</a:t>
            </a:r>
            <a:r>
              <a:rPr lang="zh-CN" altLang="en-US" dirty="0"/>
              <a:t>的几十上百个微服务。它不关心系统外的服务。</a:t>
            </a:r>
          </a:p>
          <a:p>
            <a:pPr lvl="1"/>
            <a:r>
              <a:rPr lang="en-US" altLang="zh-CN" b="1" dirty="0" err="1"/>
              <a:t>mDNS</a:t>
            </a:r>
            <a:r>
              <a:rPr lang="en-US" altLang="zh-CN" b="1" dirty="0"/>
              <a:t>/DNS-SD</a:t>
            </a:r>
            <a:r>
              <a:rPr lang="zh-CN" altLang="en-US" b="1" dirty="0"/>
              <a:t>（如打印机发现）：</a:t>
            </a:r>
            <a:r>
              <a:rPr lang="zh-CN" altLang="en-US" dirty="0"/>
              <a:t> 作用范围仅限于</a:t>
            </a:r>
            <a:r>
              <a:rPr lang="zh-CN" altLang="en-US" b="1" dirty="0"/>
              <a:t>一个局域网</a:t>
            </a:r>
            <a:r>
              <a:rPr lang="zh-CN" altLang="en-US" dirty="0"/>
              <a:t>（比如你的家或办公室）。它完美解决小范围“即插即用”的问题，但根本无法、也不需要跨互联网工作。</a:t>
            </a:r>
          </a:p>
          <a:p>
            <a:pPr lvl="1"/>
            <a:r>
              <a:rPr lang="en-US" altLang="zh-CN" b="1" dirty="0"/>
              <a:t>API</a:t>
            </a:r>
            <a:r>
              <a:rPr lang="zh-CN" altLang="en-US" b="1" dirty="0"/>
              <a:t>网关的目录：</a:t>
            </a:r>
            <a:r>
              <a:rPr lang="zh-CN" altLang="en-US" dirty="0"/>
              <a:t> 作用范围是</a:t>
            </a:r>
            <a:r>
              <a:rPr lang="zh-CN" altLang="en-US" b="1" dirty="0"/>
              <a:t>一个企业或一个平台</a:t>
            </a:r>
            <a:r>
              <a:rPr lang="zh-CN" altLang="en-US" dirty="0"/>
              <a:t>对外暴露的所有</a:t>
            </a:r>
            <a:r>
              <a:rPr lang="en-US" altLang="zh-CN" dirty="0"/>
              <a:t>API</a:t>
            </a:r>
            <a:r>
              <a:rPr lang="zh-CN" altLang="en-US" dirty="0"/>
              <a:t>，是一个受控的、内部的服务目录。</a:t>
            </a:r>
          </a:p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Software Architecture</a:t>
            </a:r>
            <a:endParaRPr lang="en-AU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服务发现方法的转变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zh-CN" b="1" dirty="0"/>
              <a:t>2. </a:t>
            </a:r>
            <a:r>
              <a:rPr lang="zh-CN" altLang="en-US" b="1" dirty="0"/>
              <a:t>复杂度与协议：从“重量级”到“轻量级”</a:t>
            </a:r>
          </a:p>
          <a:p>
            <a:r>
              <a:rPr lang="en-US" altLang="zh-CN" b="1" dirty="0"/>
              <a:t>UDDI</a:t>
            </a:r>
            <a:r>
              <a:rPr lang="zh-CN" altLang="en-US" b="1" dirty="0"/>
              <a:t>（重量级）：</a:t>
            </a:r>
            <a:r>
              <a:rPr lang="zh-CN" altLang="en-US" dirty="0"/>
              <a:t> 基于</a:t>
            </a:r>
            <a:r>
              <a:rPr lang="en-US" altLang="zh-CN" dirty="0"/>
              <a:t>SOAP/XML</a:t>
            </a:r>
            <a:r>
              <a:rPr lang="zh-CN" altLang="en-US" dirty="0"/>
              <a:t>，协议规范复杂，搭建和运维一个公共的</a:t>
            </a:r>
            <a:r>
              <a:rPr lang="en-US" altLang="zh-CN" dirty="0"/>
              <a:t>UDDI</a:t>
            </a:r>
            <a:r>
              <a:rPr lang="zh-CN" altLang="en-US" dirty="0"/>
              <a:t>注册中心成本高昂。</a:t>
            </a:r>
          </a:p>
          <a:p>
            <a:r>
              <a:rPr lang="zh-CN" altLang="en-US" b="1" dirty="0"/>
              <a:t>现代方案（轻量级）：</a:t>
            </a:r>
            <a:endParaRPr lang="zh-CN" altLang="en-US" dirty="0"/>
          </a:p>
          <a:p>
            <a:pPr lvl="1"/>
            <a:r>
              <a:rPr lang="zh-CN" altLang="en-US" dirty="0"/>
              <a:t>普遍基于 </a:t>
            </a:r>
            <a:r>
              <a:rPr lang="en-US" altLang="zh-CN" b="1" dirty="0"/>
              <a:t>RESTful JSON</a:t>
            </a:r>
            <a:r>
              <a:rPr lang="zh-CN" altLang="en-US" dirty="0"/>
              <a:t> 或简单的 </a:t>
            </a:r>
            <a:r>
              <a:rPr lang="en-US" altLang="zh-CN" b="1" dirty="0"/>
              <a:t>DNS</a:t>
            </a:r>
            <a:r>
              <a:rPr lang="zh-CN" altLang="en-US" b="1" dirty="0"/>
              <a:t>协议扩展</a:t>
            </a:r>
            <a:r>
              <a:rPr lang="zh-CN" altLang="en-US" dirty="0"/>
              <a:t>，非常轻便，易于理解和实现。</a:t>
            </a:r>
          </a:p>
          <a:p>
            <a:pPr lvl="1"/>
            <a:r>
              <a:rPr lang="zh-CN" altLang="en-US" dirty="0"/>
              <a:t>例如，</a:t>
            </a:r>
            <a:r>
              <a:rPr lang="en-US" altLang="zh-CN" dirty="0"/>
              <a:t>Consul</a:t>
            </a:r>
            <a:r>
              <a:rPr lang="zh-CN" altLang="en-US" dirty="0"/>
              <a:t>或</a:t>
            </a:r>
            <a:r>
              <a:rPr lang="en-US" altLang="zh-CN" dirty="0" err="1"/>
              <a:t>Nacos</a:t>
            </a:r>
            <a:r>
              <a:rPr lang="zh-CN" altLang="en-US" dirty="0"/>
              <a:t>，可能只需要一个轻量的</a:t>
            </a:r>
            <a:r>
              <a:rPr lang="en-US" altLang="zh-CN" dirty="0"/>
              <a:t>Jar</a:t>
            </a:r>
            <a:r>
              <a:rPr lang="zh-CN" altLang="en-US" dirty="0"/>
              <a:t>包或容器即可启动一个发现节点，与</a:t>
            </a:r>
            <a:r>
              <a:rPr lang="en-US" altLang="zh-CN" dirty="0"/>
              <a:t>UDDI</a:t>
            </a:r>
            <a:r>
              <a:rPr lang="zh-CN" altLang="en-US" dirty="0"/>
              <a:t>时代的庞大规范形成鲜明对比。</a:t>
            </a:r>
          </a:p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Software Architecture</a:t>
            </a:r>
            <a:endParaRPr lang="en-AU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服务发现方法的转变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CN" b="1" dirty="0"/>
              <a:t>3. </a:t>
            </a:r>
            <a:r>
              <a:rPr lang="zh-CN" altLang="en-US" b="1" dirty="0"/>
              <a:t>治理模式：从“中心化登记”到“去中心化自发”</a:t>
            </a:r>
          </a:p>
          <a:p>
            <a:r>
              <a:rPr lang="en-US" altLang="zh-CN" b="1" dirty="0"/>
              <a:t>UDDI</a:t>
            </a:r>
            <a:r>
              <a:rPr lang="zh-CN" altLang="en-US" b="1" dirty="0"/>
              <a:t>（中心化）：</a:t>
            </a:r>
            <a:r>
              <a:rPr lang="zh-CN" altLang="en-US" dirty="0"/>
              <a:t> 设想的是几个公共的、中心化的根节点（类似</a:t>
            </a:r>
            <a:r>
              <a:rPr lang="en-US" altLang="zh-CN" dirty="0"/>
              <a:t>DNS</a:t>
            </a:r>
            <a:r>
              <a:rPr lang="zh-CN" altLang="en-US" dirty="0"/>
              <a:t>根服务器），所有服务都需要去那里“登记在册”。</a:t>
            </a:r>
          </a:p>
          <a:p>
            <a:r>
              <a:rPr lang="zh-CN" altLang="en-US" b="1" dirty="0"/>
              <a:t>现代方案（去中心化</a:t>
            </a:r>
            <a:r>
              <a:rPr lang="en-US" altLang="zh-CN" b="1" dirty="0"/>
              <a:t>/</a:t>
            </a:r>
            <a:r>
              <a:rPr lang="zh-CN" altLang="en-US" b="1" dirty="0"/>
              <a:t>联邦化）：</a:t>
            </a:r>
            <a:endParaRPr lang="zh-CN" altLang="en-US" dirty="0"/>
          </a:p>
          <a:p>
            <a:pPr lvl="1"/>
            <a:r>
              <a:rPr lang="zh-CN" altLang="en-US" b="1" dirty="0"/>
              <a:t>微服务：</a:t>
            </a:r>
            <a:r>
              <a:rPr lang="zh-CN" altLang="en-US" dirty="0"/>
              <a:t> 每个系统都有自己的注册中心，是去中心化的。</a:t>
            </a:r>
          </a:p>
          <a:p>
            <a:pPr lvl="1"/>
            <a:r>
              <a:rPr lang="en-US" altLang="zh-CN" b="1" dirty="0" err="1"/>
              <a:t>mDNS</a:t>
            </a:r>
            <a:r>
              <a:rPr lang="zh-CN" altLang="en-US" b="1" dirty="0"/>
              <a:t>：</a:t>
            </a:r>
            <a:r>
              <a:rPr lang="zh-CN" altLang="en-US" dirty="0"/>
              <a:t> 完全是点对点的广播，没有任何中心服务器。</a:t>
            </a:r>
          </a:p>
          <a:p>
            <a:pPr lvl="1"/>
            <a:r>
              <a:rPr lang="en-US" altLang="zh-CN" b="1" dirty="0"/>
              <a:t>API</a:t>
            </a:r>
            <a:r>
              <a:rPr lang="zh-CN" altLang="en-US" b="1" dirty="0"/>
              <a:t>网关：</a:t>
            </a:r>
            <a:r>
              <a:rPr lang="zh-CN" altLang="en-US" dirty="0"/>
              <a:t> 虽然网关本身是中心化的入口，但其背后的服务注册发现机制通常是分布式的。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Software Architecture</a:t>
            </a:r>
            <a:endParaRPr lang="en-AU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Interoperability Tactics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Software Architecture</a:t>
            </a:r>
            <a:endParaRPr lang="en-AU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t="3903" b="50663"/>
          <a:stretch>
            <a:fillRect/>
          </a:stretch>
        </p:blipFill>
        <p:spPr>
          <a:xfrm>
            <a:off x="1187624" y="1700808"/>
            <a:ext cx="6771508" cy="397994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b="1" dirty="0"/>
              <a:t>场景：</a:t>
            </a:r>
            <a:r>
              <a:rPr lang="zh-CN" altLang="en-US" dirty="0"/>
              <a:t> 你在便利店用支付宝扫描二维码购买一瓶水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Software Architecture</a:t>
            </a:r>
            <a:endParaRPr lang="en-AU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zh-CN" altLang="en-US" b="1" dirty="0"/>
              <a:t>参与者：</a:t>
            </a:r>
            <a:endParaRPr lang="zh-CN" altLang="en-US" dirty="0"/>
          </a:p>
          <a:p>
            <a:pPr lvl="1"/>
            <a:r>
              <a:rPr lang="zh-CN" altLang="en-US" b="1" dirty="0"/>
              <a:t>系统</a:t>
            </a:r>
            <a:r>
              <a:rPr lang="en-US" altLang="zh-CN" b="1" dirty="0"/>
              <a:t>A</a:t>
            </a:r>
            <a:r>
              <a:rPr lang="zh-CN" altLang="en-US" b="1" dirty="0"/>
              <a:t>：</a:t>
            </a:r>
            <a:r>
              <a:rPr lang="zh-CN" altLang="en-US" dirty="0"/>
              <a:t> 你的支付宝</a:t>
            </a:r>
            <a:r>
              <a:rPr lang="en-US" altLang="zh-CN" dirty="0"/>
              <a:t>App (iOS/Android)</a:t>
            </a:r>
          </a:p>
          <a:p>
            <a:pPr lvl="1"/>
            <a:r>
              <a:rPr lang="zh-CN" altLang="en-US" b="1" dirty="0"/>
              <a:t>系统</a:t>
            </a:r>
            <a:r>
              <a:rPr lang="en-US" altLang="zh-CN" b="1" dirty="0"/>
              <a:t>B</a:t>
            </a:r>
            <a:r>
              <a:rPr lang="zh-CN" altLang="en-US" b="1" dirty="0"/>
              <a:t>：</a:t>
            </a:r>
            <a:r>
              <a:rPr lang="zh-CN" altLang="en-US" dirty="0"/>
              <a:t> 便利店的收银系统 </a:t>
            </a:r>
            <a:r>
              <a:rPr lang="en-US" altLang="zh-CN" dirty="0"/>
              <a:t>(</a:t>
            </a:r>
            <a:r>
              <a:rPr lang="zh-CN" altLang="en-US" dirty="0"/>
              <a:t>可能是</a:t>
            </a:r>
            <a:r>
              <a:rPr lang="en-US" altLang="zh-CN" dirty="0"/>
              <a:t>Windows)</a:t>
            </a:r>
          </a:p>
          <a:p>
            <a:pPr lvl="1"/>
            <a:r>
              <a:rPr lang="zh-CN" altLang="en-US" b="1" dirty="0"/>
              <a:t>系统</a:t>
            </a:r>
            <a:r>
              <a:rPr lang="en-US" altLang="zh-CN" b="1" dirty="0"/>
              <a:t>C</a:t>
            </a:r>
            <a:r>
              <a:rPr lang="zh-CN" altLang="en-US" b="1" dirty="0"/>
              <a:t>：</a:t>
            </a:r>
            <a:r>
              <a:rPr lang="zh-CN" altLang="en-US" dirty="0"/>
              <a:t> 银行的支付网关 </a:t>
            </a:r>
            <a:r>
              <a:rPr lang="en-US" altLang="zh-CN" dirty="0"/>
              <a:t>(</a:t>
            </a:r>
            <a:r>
              <a:rPr lang="zh-CN" altLang="en-US" dirty="0"/>
              <a:t>大型机</a:t>
            </a:r>
            <a:r>
              <a:rPr lang="en-US" altLang="zh-CN" dirty="0"/>
              <a:t>/Linux)</a:t>
            </a:r>
          </a:p>
          <a:p>
            <a:r>
              <a:rPr lang="zh-CN" altLang="en-US" b="1" dirty="0"/>
              <a:t>如何实现互操作？</a:t>
            </a:r>
            <a:endParaRPr lang="zh-CN" altLang="en-US" dirty="0"/>
          </a:p>
          <a:p>
            <a:pPr lvl="1"/>
            <a:r>
              <a:rPr lang="zh-CN" altLang="en-US" b="1" dirty="0"/>
              <a:t>技术互操作：</a:t>
            </a:r>
            <a:r>
              <a:rPr lang="zh-CN" altLang="en-US" dirty="0"/>
              <a:t> 各方都使用</a:t>
            </a:r>
            <a:r>
              <a:rPr lang="en-US" altLang="zh-CN" b="1" dirty="0"/>
              <a:t>HTTP/HTTPS</a:t>
            </a:r>
            <a:r>
              <a:rPr lang="zh-CN" altLang="en-US" b="1" dirty="0"/>
              <a:t>协议</a:t>
            </a:r>
            <a:r>
              <a:rPr lang="zh-CN" altLang="en-US" dirty="0"/>
              <a:t> </a:t>
            </a:r>
            <a:r>
              <a:rPr lang="en-US" altLang="zh-CN" dirty="0"/>
              <a:t>over Internet</a:t>
            </a:r>
            <a:r>
              <a:rPr lang="zh-CN" altLang="en-US" dirty="0"/>
              <a:t>。这是共同的“通信基础”。你的手机和收银机可能硬件、操作系统完全不同，但都能听懂</a:t>
            </a:r>
            <a:r>
              <a:rPr lang="en-US" altLang="zh-CN" dirty="0"/>
              <a:t>HTTP</a:t>
            </a:r>
            <a:r>
              <a:rPr lang="zh-CN" altLang="en-US" dirty="0"/>
              <a:t>这个“世界语”。</a:t>
            </a:r>
          </a:p>
          <a:p>
            <a:pPr lvl="1"/>
            <a:r>
              <a:rPr lang="zh-CN" altLang="en-US" b="1" dirty="0"/>
              <a:t>语法互操作：</a:t>
            </a:r>
            <a:r>
              <a:rPr lang="zh-CN" altLang="en-US" dirty="0"/>
              <a:t> 各方传输的数据都采用</a:t>
            </a:r>
            <a:r>
              <a:rPr lang="en-US" altLang="zh-CN" b="1" dirty="0"/>
              <a:t>JSON</a:t>
            </a:r>
            <a:r>
              <a:rPr lang="zh-CN" altLang="en-US" b="1" dirty="0"/>
              <a:t>格式</a:t>
            </a:r>
            <a:r>
              <a:rPr lang="zh-CN" altLang="en-US" dirty="0"/>
              <a:t>。</a:t>
            </a:r>
            <a:r>
              <a:rPr lang="en-US" altLang="zh-CN" dirty="0"/>
              <a:t>JSON</a:t>
            </a:r>
            <a:r>
              <a:rPr lang="zh-CN" altLang="en-US" dirty="0"/>
              <a:t>是一种轻量级、易于人阅读和机器解析的数据交换格式。支付宝发送的支付请求、银行返回的支付成功消息，都是结构化的</a:t>
            </a:r>
            <a:r>
              <a:rPr lang="en-US" altLang="zh-CN" dirty="0"/>
              <a:t>JSON</a:t>
            </a:r>
            <a:r>
              <a:rPr lang="zh-CN" altLang="en-US" dirty="0"/>
              <a:t>字符串。</a:t>
            </a:r>
          </a:p>
          <a:p>
            <a:pPr lvl="1"/>
            <a:r>
              <a:rPr lang="zh-CN" altLang="en-US" b="1" dirty="0"/>
              <a:t>（初级的）语义互操作：</a:t>
            </a:r>
            <a:r>
              <a:rPr lang="zh-CN" altLang="en-US" dirty="0"/>
              <a:t> 各方对字段名称和值的含义有约定俗成的理解。例如，返回的</a:t>
            </a:r>
            <a:r>
              <a:rPr lang="en-US" altLang="zh-CN" dirty="0"/>
              <a:t>JSON</a:t>
            </a:r>
            <a:r>
              <a:rPr lang="zh-CN" altLang="en-US" dirty="0"/>
              <a:t>数据中有一个字段 </a:t>
            </a:r>
            <a:r>
              <a:rPr lang="en-US" altLang="zh-CN" dirty="0"/>
              <a:t>"code": 10000</a:t>
            </a:r>
            <a:r>
              <a:rPr lang="zh-CN" altLang="en-US" dirty="0"/>
              <a:t>，双方都知道这代表“成功”。如果是 </a:t>
            </a:r>
            <a:r>
              <a:rPr lang="en-US" altLang="zh-CN" dirty="0"/>
              <a:t>20000</a:t>
            </a:r>
            <a:r>
              <a:rPr lang="zh-CN" altLang="en-US" dirty="0"/>
              <a:t> 则代表“失败”。</a:t>
            </a:r>
            <a:endParaRPr lang="en-US" altLang="zh-CN" dirty="0"/>
          </a:p>
          <a:p>
            <a:pPr lvl="1"/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收银系统暴露一个“生成订单”的</a:t>
            </a:r>
            <a:r>
              <a:rPr lang="en-US" altLang="zh-CN" dirty="0"/>
              <a:t>API</a:t>
            </a:r>
            <a:r>
              <a:rPr lang="zh-CN" altLang="en-US" dirty="0"/>
              <a:t>，支付宝调用一个“支付”的</a:t>
            </a:r>
            <a:r>
              <a:rPr lang="en-US" altLang="zh-CN" dirty="0"/>
              <a:t>API</a:t>
            </a:r>
            <a:r>
              <a:rPr lang="zh-CN" altLang="en-US" dirty="0"/>
              <a:t>。</a:t>
            </a:r>
            <a:r>
              <a:rPr lang="en-US" altLang="zh-CN" dirty="0"/>
              <a:t>API</a:t>
            </a:r>
            <a:r>
              <a:rPr lang="zh-CN" altLang="en-US" dirty="0"/>
              <a:t>是实现互操作的契约和界面。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Manage Interfaces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Orchestrate</a:t>
            </a:r>
            <a:r>
              <a:rPr lang="en-US" dirty="0"/>
              <a:t>: uses a control mechanism to coordinate, manage and sequence the invocation of services.  </a:t>
            </a:r>
          </a:p>
          <a:p>
            <a:r>
              <a:rPr lang="en-US" dirty="0"/>
              <a:t>Orchestration is used when systems must interact in a complex fashion to accomplish a complex task.</a:t>
            </a:r>
          </a:p>
          <a:p>
            <a:r>
              <a:rPr lang="en-US" b="1" dirty="0">
                <a:solidFill>
                  <a:schemeClr val="tx2"/>
                </a:solidFill>
              </a:rPr>
              <a:t>Tailor Interface</a:t>
            </a:r>
            <a:r>
              <a:rPr lang="en-US" dirty="0"/>
              <a:t>: add or remove capabilities to an interface such as translation, buffering, or data-smoothing.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Software Architecture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Interoperability refers to the ability of systems to usefully exchange information. </a:t>
            </a:r>
          </a:p>
          <a:p>
            <a:r>
              <a:rPr lang="en-US" dirty="0"/>
              <a:t>Achieving interoperability involves the relevant systems locating each other and then managing the interfaces so that they can exchange information.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403648" y="6309328"/>
            <a:ext cx="6336704" cy="365125"/>
          </a:xfrm>
        </p:spPr>
        <p:txBody>
          <a:bodyPr/>
          <a:lstStyle/>
          <a:p>
            <a:r>
              <a:rPr lang="en-AU"/>
              <a:t>© Software Architecture</a:t>
            </a:r>
            <a:endParaRPr lang="en-AU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Tc5NWIxYzdjOTUxYjQ2ZjMyNzFmMjc2NjMyZjhmNjk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512</TotalTime>
  <Words>5015</Words>
  <Application>Microsoft Office PowerPoint</Application>
  <PresentationFormat>全屏显示(4:3)</PresentationFormat>
  <Paragraphs>340</Paragraphs>
  <Slides>41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50" baseType="lpstr">
      <vt:lpstr>quote-cjk-patch</vt:lpstr>
      <vt:lpstr>Times-Roman</vt:lpstr>
      <vt:lpstr>等线</vt:lpstr>
      <vt:lpstr>Arial</vt:lpstr>
      <vt:lpstr>Calibri</vt:lpstr>
      <vt:lpstr>Symbol</vt:lpstr>
      <vt:lpstr>Times</vt:lpstr>
      <vt:lpstr>Times New Roman</vt:lpstr>
      <vt:lpstr>Office Theme</vt:lpstr>
      <vt:lpstr>Chapter 6: Interoperability</vt:lpstr>
      <vt:lpstr>What is Interoperability?</vt:lpstr>
      <vt:lpstr>What is Interoperability?</vt:lpstr>
      <vt:lpstr>What is Interoperability?</vt:lpstr>
      <vt:lpstr>Motivation</vt:lpstr>
      <vt:lpstr>Two Important Aspects of Interoperability</vt:lpstr>
      <vt:lpstr>Interoperability General Scenario</vt:lpstr>
      <vt:lpstr>Sample Concrete Interoperability Scenario</vt:lpstr>
      <vt:lpstr>SOAP v.s. REST</vt:lpstr>
      <vt:lpstr>PowerPoint 演示文稿</vt:lpstr>
      <vt:lpstr>PowerPoint 演示文稿</vt:lpstr>
      <vt:lpstr>Goal of Interoperability Tactics</vt:lpstr>
      <vt:lpstr>“黄焖鸡”</vt:lpstr>
      <vt:lpstr>“黄焖鸡”</vt:lpstr>
      <vt:lpstr>“黄焖鸡”</vt:lpstr>
      <vt:lpstr>“黄焖鸡”</vt:lpstr>
      <vt:lpstr>“网约车”</vt:lpstr>
      <vt:lpstr>“网约车”</vt:lpstr>
      <vt:lpstr>“网约车”</vt:lpstr>
      <vt:lpstr>“网约车”</vt:lpstr>
      <vt:lpstr>Interoperability Tactics</vt:lpstr>
      <vt:lpstr>Locate</vt:lpstr>
      <vt:lpstr>Service Discovery – Necessary conditions</vt:lpstr>
      <vt:lpstr>Searching Method – Searcher’s initiative</vt:lpstr>
      <vt:lpstr>Searching Method – Searcher’s initiative</vt:lpstr>
      <vt:lpstr>Searching Method – Searched’s initiative</vt:lpstr>
      <vt:lpstr>Searching Method – Searched’s initiative</vt:lpstr>
      <vt:lpstr>Searching Method – Registration</vt:lpstr>
      <vt:lpstr>Searching Method – Registration</vt:lpstr>
      <vt:lpstr>Web Service</vt:lpstr>
      <vt:lpstr>Web Service Architecture</vt:lpstr>
      <vt:lpstr>Web Service Architecture</vt:lpstr>
      <vt:lpstr>UDDI Registries</vt:lpstr>
      <vt:lpstr>PowerPoint 演示文稿</vt:lpstr>
      <vt:lpstr>服务发现方法的转变</vt:lpstr>
      <vt:lpstr>服务发现方法的转变</vt:lpstr>
      <vt:lpstr>服务发现方法的转变</vt:lpstr>
      <vt:lpstr>Interoperability Tactics</vt:lpstr>
      <vt:lpstr>场景： 你在便利店用支付宝扫描二维码购买一瓶水</vt:lpstr>
      <vt:lpstr>Manage Interfaces</vt:lpstr>
      <vt:lpstr>Summary</vt:lpstr>
    </vt:vector>
  </TitlesOfParts>
  <Company>NICTA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 Bass</dc:creator>
  <cp:lastModifiedBy>祥博 孙</cp:lastModifiedBy>
  <cp:revision>389</cp:revision>
  <dcterms:created xsi:type="dcterms:W3CDTF">2023-09-18T02:34:00Z</dcterms:created>
  <dcterms:modified xsi:type="dcterms:W3CDTF">2026-10-24T12:41:50Z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181375587313C39307D1FE648731B93F</vt:lpwstr>
  </property>
  <property fmtid="{D5CDD505-2E9C-101B-9397-08002B2CF9AE}" pid="3" name="KSOProductBuildVer">
    <vt:lpwstr>2052-12.1.0.22529</vt:lpwstr>
  </property>
</Properties>
</file>