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1"/>
  </p:notesMasterIdLst>
  <p:handoutMasterIdLst>
    <p:handoutMasterId r:id="rId62"/>
  </p:handoutMasterIdLst>
  <p:sldIdLst>
    <p:sldId id="551" r:id="rId2"/>
    <p:sldId id="553" r:id="rId3"/>
    <p:sldId id="1437" r:id="rId4"/>
    <p:sldId id="1439" r:id="rId5"/>
    <p:sldId id="1440" r:id="rId6"/>
    <p:sldId id="1438" r:id="rId7"/>
    <p:sldId id="554" r:id="rId8"/>
    <p:sldId id="1555" r:id="rId9"/>
    <p:sldId id="1557" r:id="rId10"/>
    <p:sldId id="555" r:id="rId11"/>
    <p:sldId id="1558" r:id="rId12"/>
    <p:sldId id="572" r:id="rId13"/>
    <p:sldId id="1441" r:id="rId14"/>
    <p:sldId id="1559" r:id="rId15"/>
    <p:sldId id="1442" r:id="rId16"/>
    <p:sldId id="1560" r:id="rId17"/>
    <p:sldId id="556" r:id="rId18"/>
    <p:sldId id="571" r:id="rId19"/>
    <p:sldId id="558" r:id="rId20"/>
    <p:sldId id="1561" r:id="rId21"/>
    <p:sldId id="559" r:id="rId22"/>
    <p:sldId id="1562" r:id="rId23"/>
    <p:sldId id="1481" r:id="rId24"/>
    <p:sldId id="1510" r:id="rId25"/>
    <p:sldId id="560" r:id="rId26"/>
    <p:sldId id="1563" r:id="rId27"/>
    <p:sldId id="573" r:id="rId28"/>
    <p:sldId id="1564" r:id="rId29"/>
    <p:sldId id="561" r:id="rId30"/>
    <p:sldId id="574" r:id="rId31"/>
    <p:sldId id="1565" r:id="rId32"/>
    <p:sldId id="562" r:id="rId33"/>
    <p:sldId id="575" r:id="rId34"/>
    <p:sldId id="1566" r:id="rId35"/>
    <p:sldId id="1568" r:id="rId36"/>
    <p:sldId id="1567" r:id="rId37"/>
    <p:sldId id="1513" r:id="rId38"/>
    <p:sldId id="1569" r:id="rId39"/>
    <p:sldId id="578" r:id="rId40"/>
    <p:sldId id="579" r:id="rId41"/>
    <p:sldId id="580" r:id="rId42"/>
    <p:sldId id="581" r:id="rId43"/>
    <p:sldId id="1512" r:id="rId44"/>
    <p:sldId id="584" r:id="rId45"/>
    <p:sldId id="1386" r:id="rId46"/>
    <p:sldId id="585" r:id="rId47"/>
    <p:sldId id="1479" r:id="rId48"/>
    <p:sldId id="586" r:id="rId49"/>
    <p:sldId id="587" r:id="rId50"/>
    <p:sldId id="588" r:id="rId51"/>
    <p:sldId id="1571" r:id="rId52"/>
    <p:sldId id="1573" r:id="rId53"/>
    <p:sldId id="1574" r:id="rId54"/>
    <p:sldId id="1572" r:id="rId55"/>
    <p:sldId id="1578" r:id="rId56"/>
    <p:sldId id="589" r:id="rId57"/>
    <p:sldId id="1231" r:id="rId58"/>
    <p:sldId id="1213" r:id="rId59"/>
    <p:sldId id="570" r:id="rId60"/>
  </p:sldIdLst>
  <p:sldSz cx="9144000" cy="6858000" type="screen4x3"/>
  <p:notesSz cx="6858000" cy="9144000"/>
  <p:custDataLst>
    <p:tags r:id="rId6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enovo" initials="l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6D3288D-28B8-4913-B81C-7B6A2FC6D6F0}" v="197" dt="2026-10-07T05:55:56.70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15" autoAdjust="0"/>
    <p:restoredTop sz="91292" autoAdjust="0"/>
  </p:normalViewPr>
  <p:slideViewPr>
    <p:cSldViewPr showGuides="1">
      <p:cViewPr varScale="1">
        <p:scale>
          <a:sx n="145" d="100"/>
          <a:sy n="145" d="100"/>
        </p:scale>
        <p:origin x="2088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691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41" d="100"/>
        <a:sy n="141" d="100"/>
      </p:scale>
      <p:origin x="0" y="12256"/>
    </p:cViewPr>
  </p:sorterViewPr>
  <p:notesViewPr>
    <p:cSldViewPr>
      <p:cViewPr varScale="1">
        <p:scale>
          <a:sx n="59" d="100"/>
          <a:sy n="59" d="100"/>
        </p:scale>
        <p:origin x="3065" y="45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tags" Target="tags/tag1.xml"/><Relationship Id="rId68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notesMaster" Target="notesMasters/notesMaster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commentAuthors" Target="commentAuthors.xml"/><Relationship Id="rId69" Type="http://schemas.microsoft.com/office/2015/10/relationships/revisionInfo" Target="revisionInfo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2DDFBD-3A00-4189-8C8D-78071B1A5DE3}" type="datetimeFigureOut">
              <a:rPr lang="zh-CN" altLang="en-US" smtClean="0"/>
              <a:t>2026/10/24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568E1B-F273-4987-A84E-DC035A03CDB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9B1F14-2969-4234-94C2-84FB01E3AC7A}" type="datetimeFigureOut">
              <a:rPr lang="en-AU" smtClean="0"/>
              <a:t>24/10/2026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95789E-32BF-4BCD-9509-3BAE69BCF054}" type="slidenum">
              <a:rPr lang="en-AU" smtClean="0"/>
              <a:t>‹#›</a:t>
            </a:fld>
            <a:endParaRPr lang="en-A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95789E-32BF-4BCD-9509-3BAE69BCF054}" type="slidenum">
              <a:rPr lang="en-AU" smtClean="0"/>
              <a:t>21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040769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7651" name="Notes Placeholder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zh-CN">
                <a:latin typeface="Arial" panose="020B0604020202020204" pitchFamily="34" charset="0"/>
              </a:rPr>
              <a:t>First in first out.</a:t>
            </a:r>
          </a:p>
        </p:txBody>
      </p:sp>
      <p:sp>
        <p:nvSpPr>
          <p:cNvPr id="2765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605">
              <a:defRPr sz="2400">
                <a:solidFill>
                  <a:schemeClr val="tx1"/>
                </a:solidFill>
                <a:latin typeface="Tahoma" panose="020B0604030504040204" pitchFamily="34" charset="0"/>
                <a:ea typeface="Arial Unicode MS" panose="020B0604020202020204" pitchFamily="34" charset="-122"/>
                <a:cs typeface="Arial Unicode MS" panose="020B0604020202020204" pitchFamily="34" charset="-122"/>
              </a:defRPr>
            </a:lvl1pPr>
            <a:lvl2pPr marL="742950" indent="-285750" defTabSz="903605">
              <a:defRPr sz="2400">
                <a:solidFill>
                  <a:schemeClr val="tx1"/>
                </a:solidFill>
                <a:latin typeface="Tahoma" panose="020B0604030504040204" pitchFamily="34" charset="0"/>
                <a:ea typeface="Arial Unicode MS" panose="020B0604020202020204" pitchFamily="34" charset="-122"/>
                <a:cs typeface="Arial Unicode MS" panose="020B0604020202020204" pitchFamily="34" charset="-122"/>
              </a:defRPr>
            </a:lvl2pPr>
            <a:lvl3pPr marL="1143000" indent="-228600" defTabSz="903605">
              <a:defRPr sz="2400">
                <a:solidFill>
                  <a:schemeClr val="tx1"/>
                </a:solidFill>
                <a:latin typeface="Tahoma" panose="020B0604030504040204" pitchFamily="34" charset="0"/>
                <a:ea typeface="Arial Unicode MS" panose="020B0604020202020204" pitchFamily="34" charset="-122"/>
                <a:cs typeface="Arial Unicode MS" panose="020B0604020202020204" pitchFamily="34" charset="-122"/>
              </a:defRPr>
            </a:lvl3pPr>
            <a:lvl4pPr marL="1600200" indent="-228600" defTabSz="903605">
              <a:defRPr sz="2400">
                <a:solidFill>
                  <a:schemeClr val="tx1"/>
                </a:solidFill>
                <a:latin typeface="Tahoma" panose="020B0604030504040204" pitchFamily="34" charset="0"/>
                <a:ea typeface="Arial Unicode MS" panose="020B0604020202020204" pitchFamily="34" charset="-122"/>
                <a:cs typeface="Arial Unicode MS" panose="020B0604020202020204" pitchFamily="34" charset="-122"/>
              </a:defRPr>
            </a:lvl4pPr>
            <a:lvl5pPr marL="2057400" indent="-228600" defTabSz="903605">
              <a:defRPr sz="2400">
                <a:solidFill>
                  <a:schemeClr val="tx1"/>
                </a:solidFill>
                <a:latin typeface="Tahoma" panose="020B0604030504040204" pitchFamily="34" charset="0"/>
                <a:ea typeface="Arial Unicode MS" panose="020B0604020202020204" pitchFamily="34" charset="-122"/>
                <a:cs typeface="Arial Unicode MS" panose="020B0604020202020204" pitchFamily="34" charset="-122"/>
              </a:defRPr>
            </a:lvl5pPr>
            <a:lvl6pPr marL="2514600" indent="-228600" defTabSz="90360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Arial Unicode MS" panose="020B0604020202020204" pitchFamily="34" charset="-122"/>
                <a:cs typeface="Arial Unicode MS" panose="020B0604020202020204" pitchFamily="34" charset="-122"/>
              </a:defRPr>
            </a:lvl6pPr>
            <a:lvl7pPr marL="2971800" indent="-228600" defTabSz="90360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Arial Unicode MS" panose="020B0604020202020204" pitchFamily="34" charset="-122"/>
                <a:cs typeface="Arial Unicode MS" panose="020B0604020202020204" pitchFamily="34" charset="-122"/>
              </a:defRPr>
            </a:lvl7pPr>
            <a:lvl8pPr marL="3429000" indent="-228600" defTabSz="90360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Arial Unicode MS" panose="020B0604020202020204" pitchFamily="34" charset="-122"/>
                <a:cs typeface="Arial Unicode MS" panose="020B0604020202020204" pitchFamily="34" charset="-122"/>
              </a:defRPr>
            </a:lvl8pPr>
            <a:lvl9pPr marL="3886200" indent="-228600" defTabSz="90360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Arial Unicode MS" panose="020B0604020202020204" pitchFamily="34" charset="-122"/>
                <a:cs typeface="Arial Unicode MS" panose="020B0604020202020204" pitchFamily="34" charset="-122"/>
              </a:defRPr>
            </a:lvl9pPr>
          </a:lstStyle>
          <a:p>
            <a:fld id="{718BFF8D-8360-4514-A6CE-2ACEC1F0315E}" type="slidenum">
              <a:rPr lang="zh-TW" altLang="en-US" sz="1200" smtClean="0">
                <a:ea typeface="PMingLiU" panose="02020500000000000000" pitchFamily="18" charset="-120"/>
              </a:rPr>
              <a:t>44</a:t>
            </a:fld>
            <a:endParaRPr lang="en-US" altLang="zh-TW" sz="1200">
              <a:ea typeface="PMingLiU" panose="02020500000000000000" pitchFamily="18" charset="-12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9699" name="Notes Placeholder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2970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605">
              <a:defRPr sz="2400">
                <a:solidFill>
                  <a:schemeClr val="tx1"/>
                </a:solidFill>
                <a:latin typeface="Tahoma" panose="020B0604030504040204" pitchFamily="34" charset="0"/>
                <a:ea typeface="Arial Unicode MS" panose="020B0604020202020204" pitchFamily="34" charset="-122"/>
                <a:cs typeface="Arial Unicode MS" panose="020B0604020202020204" pitchFamily="34" charset="-122"/>
              </a:defRPr>
            </a:lvl1pPr>
            <a:lvl2pPr marL="742950" indent="-285750" defTabSz="903605">
              <a:defRPr sz="2400">
                <a:solidFill>
                  <a:schemeClr val="tx1"/>
                </a:solidFill>
                <a:latin typeface="Tahoma" panose="020B0604030504040204" pitchFamily="34" charset="0"/>
                <a:ea typeface="Arial Unicode MS" panose="020B0604020202020204" pitchFamily="34" charset="-122"/>
                <a:cs typeface="Arial Unicode MS" panose="020B0604020202020204" pitchFamily="34" charset="-122"/>
              </a:defRPr>
            </a:lvl2pPr>
            <a:lvl3pPr marL="1143000" indent="-228600" defTabSz="903605">
              <a:defRPr sz="2400">
                <a:solidFill>
                  <a:schemeClr val="tx1"/>
                </a:solidFill>
                <a:latin typeface="Tahoma" panose="020B0604030504040204" pitchFamily="34" charset="0"/>
                <a:ea typeface="Arial Unicode MS" panose="020B0604020202020204" pitchFamily="34" charset="-122"/>
                <a:cs typeface="Arial Unicode MS" panose="020B0604020202020204" pitchFamily="34" charset="-122"/>
              </a:defRPr>
            </a:lvl3pPr>
            <a:lvl4pPr marL="1600200" indent="-228600" defTabSz="903605">
              <a:defRPr sz="2400">
                <a:solidFill>
                  <a:schemeClr val="tx1"/>
                </a:solidFill>
                <a:latin typeface="Tahoma" panose="020B0604030504040204" pitchFamily="34" charset="0"/>
                <a:ea typeface="Arial Unicode MS" panose="020B0604020202020204" pitchFamily="34" charset="-122"/>
                <a:cs typeface="Arial Unicode MS" panose="020B0604020202020204" pitchFamily="34" charset="-122"/>
              </a:defRPr>
            </a:lvl4pPr>
            <a:lvl5pPr marL="2057400" indent="-228600" defTabSz="903605">
              <a:defRPr sz="2400">
                <a:solidFill>
                  <a:schemeClr val="tx1"/>
                </a:solidFill>
                <a:latin typeface="Tahoma" panose="020B0604030504040204" pitchFamily="34" charset="0"/>
                <a:ea typeface="Arial Unicode MS" panose="020B0604020202020204" pitchFamily="34" charset="-122"/>
                <a:cs typeface="Arial Unicode MS" panose="020B0604020202020204" pitchFamily="34" charset="-122"/>
              </a:defRPr>
            </a:lvl5pPr>
            <a:lvl6pPr marL="2514600" indent="-228600" defTabSz="90360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Arial Unicode MS" panose="020B0604020202020204" pitchFamily="34" charset="-122"/>
                <a:cs typeface="Arial Unicode MS" panose="020B0604020202020204" pitchFamily="34" charset="-122"/>
              </a:defRPr>
            </a:lvl6pPr>
            <a:lvl7pPr marL="2971800" indent="-228600" defTabSz="90360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Arial Unicode MS" panose="020B0604020202020204" pitchFamily="34" charset="-122"/>
                <a:cs typeface="Arial Unicode MS" panose="020B0604020202020204" pitchFamily="34" charset="-122"/>
              </a:defRPr>
            </a:lvl7pPr>
            <a:lvl8pPr marL="3429000" indent="-228600" defTabSz="90360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Arial Unicode MS" panose="020B0604020202020204" pitchFamily="34" charset="-122"/>
                <a:cs typeface="Arial Unicode MS" panose="020B0604020202020204" pitchFamily="34" charset="-122"/>
              </a:defRPr>
            </a:lvl8pPr>
            <a:lvl9pPr marL="3886200" indent="-228600" defTabSz="90360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Arial Unicode MS" panose="020B0604020202020204" pitchFamily="34" charset="-122"/>
                <a:cs typeface="Arial Unicode MS" panose="020B0604020202020204" pitchFamily="34" charset="-122"/>
              </a:defRPr>
            </a:lvl9pPr>
          </a:lstStyle>
          <a:p>
            <a:fld id="{90C69BD7-9215-4836-A93E-B1730430CE3C}" type="slidenum">
              <a:rPr lang="zh-TW" altLang="en-US" sz="1200" smtClean="0">
                <a:ea typeface="PMingLiU" panose="02020500000000000000" pitchFamily="18" charset="-120"/>
              </a:rPr>
              <a:t>46</a:t>
            </a:fld>
            <a:endParaRPr lang="en-US" altLang="zh-TW" sz="1200">
              <a:ea typeface="PMingLiU" panose="02020500000000000000" pitchFamily="18" charset="-12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9699" name="Notes Placeholder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2970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605">
              <a:defRPr sz="2400">
                <a:solidFill>
                  <a:schemeClr val="tx1"/>
                </a:solidFill>
                <a:latin typeface="Tahoma" panose="020B0604030504040204" pitchFamily="34" charset="0"/>
                <a:ea typeface="Arial Unicode MS" panose="020B0604020202020204" pitchFamily="34" charset="-122"/>
                <a:cs typeface="Arial Unicode MS" panose="020B0604020202020204" pitchFamily="34" charset="-122"/>
              </a:defRPr>
            </a:lvl1pPr>
            <a:lvl2pPr marL="742950" indent="-285750" defTabSz="903605">
              <a:defRPr sz="2400">
                <a:solidFill>
                  <a:schemeClr val="tx1"/>
                </a:solidFill>
                <a:latin typeface="Tahoma" panose="020B0604030504040204" pitchFamily="34" charset="0"/>
                <a:ea typeface="Arial Unicode MS" panose="020B0604020202020204" pitchFamily="34" charset="-122"/>
                <a:cs typeface="Arial Unicode MS" panose="020B0604020202020204" pitchFamily="34" charset="-122"/>
              </a:defRPr>
            </a:lvl2pPr>
            <a:lvl3pPr marL="1143000" indent="-228600" defTabSz="903605">
              <a:defRPr sz="2400">
                <a:solidFill>
                  <a:schemeClr val="tx1"/>
                </a:solidFill>
                <a:latin typeface="Tahoma" panose="020B0604030504040204" pitchFamily="34" charset="0"/>
                <a:ea typeface="Arial Unicode MS" panose="020B0604020202020204" pitchFamily="34" charset="-122"/>
                <a:cs typeface="Arial Unicode MS" panose="020B0604020202020204" pitchFamily="34" charset="-122"/>
              </a:defRPr>
            </a:lvl3pPr>
            <a:lvl4pPr marL="1600200" indent="-228600" defTabSz="903605">
              <a:defRPr sz="2400">
                <a:solidFill>
                  <a:schemeClr val="tx1"/>
                </a:solidFill>
                <a:latin typeface="Tahoma" panose="020B0604030504040204" pitchFamily="34" charset="0"/>
                <a:ea typeface="Arial Unicode MS" panose="020B0604020202020204" pitchFamily="34" charset="-122"/>
                <a:cs typeface="Arial Unicode MS" panose="020B0604020202020204" pitchFamily="34" charset="-122"/>
              </a:defRPr>
            </a:lvl4pPr>
            <a:lvl5pPr marL="2057400" indent="-228600" defTabSz="903605">
              <a:defRPr sz="2400">
                <a:solidFill>
                  <a:schemeClr val="tx1"/>
                </a:solidFill>
                <a:latin typeface="Tahoma" panose="020B0604030504040204" pitchFamily="34" charset="0"/>
                <a:ea typeface="Arial Unicode MS" panose="020B0604020202020204" pitchFamily="34" charset="-122"/>
                <a:cs typeface="Arial Unicode MS" panose="020B0604020202020204" pitchFamily="34" charset="-122"/>
              </a:defRPr>
            </a:lvl5pPr>
            <a:lvl6pPr marL="2514600" indent="-228600" defTabSz="90360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Arial Unicode MS" panose="020B0604020202020204" pitchFamily="34" charset="-122"/>
                <a:cs typeface="Arial Unicode MS" panose="020B0604020202020204" pitchFamily="34" charset="-122"/>
              </a:defRPr>
            </a:lvl6pPr>
            <a:lvl7pPr marL="2971800" indent="-228600" defTabSz="90360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Arial Unicode MS" panose="020B0604020202020204" pitchFamily="34" charset="-122"/>
                <a:cs typeface="Arial Unicode MS" panose="020B0604020202020204" pitchFamily="34" charset="-122"/>
              </a:defRPr>
            </a:lvl7pPr>
            <a:lvl8pPr marL="3429000" indent="-228600" defTabSz="90360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Arial Unicode MS" panose="020B0604020202020204" pitchFamily="34" charset="-122"/>
                <a:cs typeface="Arial Unicode MS" panose="020B0604020202020204" pitchFamily="34" charset="-122"/>
              </a:defRPr>
            </a:lvl8pPr>
            <a:lvl9pPr marL="3886200" indent="-228600" defTabSz="90360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Arial Unicode MS" panose="020B0604020202020204" pitchFamily="34" charset="-122"/>
                <a:cs typeface="Arial Unicode MS" panose="020B0604020202020204" pitchFamily="34" charset="-122"/>
              </a:defRPr>
            </a:lvl9pPr>
          </a:lstStyle>
          <a:p>
            <a:fld id="{90C69BD7-9215-4836-A93E-B1730430CE3C}" type="slidenum">
              <a:rPr lang="zh-TW" altLang="en-US" sz="1200" smtClean="0">
                <a:ea typeface="PMingLiU" panose="02020500000000000000" pitchFamily="18" charset="-120"/>
              </a:rPr>
              <a:t>47</a:t>
            </a:fld>
            <a:endParaRPr lang="en-US" altLang="zh-TW" sz="1200">
              <a:ea typeface="PMingLiU" panose="02020500000000000000" pitchFamily="18" charset="-12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1747" name="Notes Placeholder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3174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605">
              <a:defRPr sz="2400">
                <a:solidFill>
                  <a:schemeClr val="tx1"/>
                </a:solidFill>
                <a:latin typeface="Tahoma" panose="020B0604030504040204" pitchFamily="34" charset="0"/>
                <a:ea typeface="Arial Unicode MS" panose="020B0604020202020204" pitchFamily="34" charset="-122"/>
                <a:cs typeface="Arial Unicode MS" panose="020B0604020202020204" pitchFamily="34" charset="-122"/>
              </a:defRPr>
            </a:lvl1pPr>
            <a:lvl2pPr marL="742950" indent="-285750" defTabSz="903605">
              <a:defRPr sz="2400">
                <a:solidFill>
                  <a:schemeClr val="tx1"/>
                </a:solidFill>
                <a:latin typeface="Tahoma" panose="020B0604030504040204" pitchFamily="34" charset="0"/>
                <a:ea typeface="Arial Unicode MS" panose="020B0604020202020204" pitchFamily="34" charset="-122"/>
                <a:cs typeface="Arial Unicode MS" panose="020B0604020202020204" pitchFamily="34" charset="-122"/>
              </a:defRPr>
            </a:lvl2pPr>
            <a:lvl3pPr marL="1143000" indent="-228600" defTabSz="903605">
              <a:defRPr sz="2400">
                <a:solidFill>
                  <a:schemeClr val="tx1"/>
                </a:solidFill>
                <a:latin typeface="Tahoma" panose="020B0604030504040204" pitchFamily="34" charset="0"/>
                <a:ea typeface="Arial Unicode MS" panose="020B0604020202020204" pitchFamily="34" charset="-122"/>
                <a:cs typeface="Arial Unicode MS" panose="020B0604020202020204" pitchFamily="34" charset="-122"/>
              </a:defRPr>
            </a:lvl3pPr>
            <a:lvl4pPr marL="1600200" indent="-228600" defTabSz="903605">
              <a:defRPr sz="2400">
                <a:solidFill>
                  <a:schemeClr val="tx1"/>
                </a:solidFill>
                <a:latin typeface="Tahoma" panose="020B0604030504040204" pitchFamily="34" charset="0"/>
                <a:ea typeface="Arial Unicode MS" panose="020B0604020202020204" pitchFamily="34" charset="-122"/>
                <a:cs typeface="Arial Unicode MS" panose="020B0604020202020204" pitchFamily="34" charset="-122"/>
              </a:defRPr>
            </a:lvl4pPr>
            <a:lvl5pPr marL="2057400" indent="-228600" defTabSz="903605">
              <a:defRPr sz="2400">
                <a:solidFill>
                  <a:schemeClr val="tx1"/>
                </a:solidFill>
                <a:latin typeface="Tahoma" panose="020B0604030504040204" pitchFamily="34" charset="0"/>
                <a:ea typeface="Arial Unicode MS" panose="020B0604020202020204" pitchFamily="34" charset="-122"/>
                <a:cs typeface="Arial Unicode MS" panose="020B0604020202020204" pitchFamily="34" charset="-122"/>
              </a:defRPr>
            </a:lvl5pPr>
            <a:lvl6pPr marL="2514600" indent="-228600" defTabSz="90360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Arial Unicode MS" panose="020B0604020202020204" pitchFamily="34" charset="-122"/>
                <a:cs typeface="Arial Unicode MS" panose="020B0604020202020204" pitchFamily="34" charset="-122"/>
              </a:defRPr>
            </a:lvl6pPr>
            <a:lvl7pPr marL="2971800" indent="-228600" defTabSz="90360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Arial Unicode MS" panose="020B0604020202020204" pitchFamily="34" charset="-122"/>
                <a:cs typeface="Arial Unicode MS" panose="020B0604020202020204" pitchFamily="34" charset="-122"/>
              </a:defRPr>
            </a:lvl7pPr>
            <a:lvl8pPr marL="3429000" indent="-228600" defTabSz="90360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Arial Unicode MS" panose="020B0604020202020204" pitchFamily="34" charset="-122"/>
                <a:cs typeface="Arial Unicode MS" panose="020B0604020202020204" pitchFamily="34" charset="-122"/>
              </a:defRPr>
            </a:lvl8pPr>
            <a:lvl9pPr marL="3886200" indent="-228600" defTabSz="90360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Arial Unicode MS" panose="020B0604020202020204" pitchFamily="34" charset="-122"/>
                <a:cs typeface="Arial Unicode MS" panose="020B0604020202020204" pitchFamily="34" charset="-122"/>
              </a:defRPr>
            </a:lvl9pPr>
          </a:lstStyle>
          <a:p>
            <a:fld id="{54A7F846-23C1-499D-BDD2-794FB97EC31F}" type="slidenum">
              <a:rPr lang="zh-TW" altLang="en-US" sz="1200" smtClean="0">
                <a:ea typeface="PMingLiU" panose="02020500000000000000" pitchFamily="18" charset="-120"/>
              </a:rPr>
              <a:t>48</a:t>
            </a:fld>
            <a:endParaRPr lang="en-US" altLang="zh-TW" sz="1200">
              <a:ea typeface="PMingLiU" panose="02020500000000000000" pitchFamily="18" charset="-12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3795" name="Notes Placeholder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3379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605">
              <a:defRPr sz="2400">
                <a:solidFill>
                  <a:schemeClr val="tx1"/>
                </a:solidFill>
                <a:latin typeface="Tahoma" panose="020B0604030504040204" pitchFamily="34" charset="0"/>
                <a:ea typeface="Arial Unicode MS" panose="020B0604020202020204" pitchFamily="34" charset="-122"/>
                <a:cs typeface="Arial Unicode MS" panose="020B0604020202020204" pitchFamily="34" charset="-122"/>
              </a:defRPr>
            </a:lvl1pPr>
            <a:lvl2pPr marL="742950" indent="-285750" defTabSz="903605">
              <a:defRPr sz="2400">
                <a:solidFill>
                  <a:schemeClr val="tx1"/>
                </a:solidFill>
                <a:latin typeface="Tahoma" panose="020B0604030504040204" pitchFamily="34" charset="0"/>
                <a:ea typeface="Arial Unicode MS" panose="020B0604020202020204" pitchFamily="34" charset="-122"/>
                <a:cs typeface="Arial Unicode MS" panose="020B0604020202020204" pitchFamily="34" charset="-122"/>
              </a:defRPr>
            </a:lvl2pPr>
            <a:lvl3pPr marL="1143000" indent="-228600" defTabSz="903605">
              <a:defRPr sz="2400">
                <a:solidFill>
                  <a:schemeClr val="tx1"/>
                </a:solidFill>
                <a:latin typeface="Tahoma" panose="020B0604030504040204" pitchFamily="34" charset="0"/>
                <a:ea typeface="Arial Unicode MS" panose="020B0604020202020204" pitchFamily="34" charset="-122"/>
                <a:cs typeface="Arial Unicode MS" panose="020B0604020202020204" pitchFamily="34" charset="-122"/>
              </a:defRPr>
            </a:lvl3pPr>
            <a:lvl4pPr marL="1600200" indent="-228600" defTabSz="903605">
              <a:defRPr sz="2400">
                <a:solidFill>
                  <a:schemeClr val="tx1"/>
                </a:solidFill>
                <a:latin typeface="Tahoma" panose="020B0604030504040204" pitchFamily="34" charset="0"/>
                <a:ea typeface="Arial Unicode MS" panose="020B0604020202020204" pitchFamily="34" charset="-122"/>
                <a:cs typeface="Arial Unicode MS" panose="020B0604020202020204" pitchFamily="34" charset="-122"/>
              </a:defRPr>
            </a:lvl4pPr>
            <a:lvl5pPr marL="2057400" indent="-228600" defTabSz="903605">
              <a:defRPr sz="2400">
                <a:solidFill>
                  <a:schemeClr val="tx1"/>
                </a:solidFill>
                <a:latin typeface="Tahoma" panose="020B0604030504040204" pitchFamily="34" charset="0"/>
                <a:ea typeface="Arial Unicode MS" panose="020B0604020202020204" pitchFamily="34" charset="-122"/>
                <a:cs typeface="Arial Unicode MS" panose="020B0604020202020204" pitchFamily="34" charset="-122"/>
              </a:defRPr>
            </a:lvl5pPr>
            <a:lvl6pPr marL="2514600" indent="-228600" defTabSz="90360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Arial Unicode MS" panose="020B0604020202020204" pitchFamily="34" charset="-122"/>
                <a:cs typeface="Arial Unicode MS" panose="020B0604020202020204" pitchFamily="34" charset="-122"/>
              </a:defRPr>
            </a:lvl6pPr>
            <a:lvl7pPr marL="2971800" indent="-228600" defTabSz="90360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Arial Unicode MS" panose="020B0604020202020204" pitchFamily="34" charset="-122"/>
                <a:cs typeface="Arial Unicode MS" panose="020B0604020202020204" pitchFamily="34" charset="-122"/>
              </a:defRPr>
            </a:lvl7pPr>
            <a:lvl8pPr marL="3429000" indent="-228600" defTabSz="90360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Arial Unicode MS" panose="020B0604020202020204" pitchFamily="34" charset="-122"/>
                <a:cs typeface="Arial Unicode MS" panose="020B0604020202020204" pitchFamily="34" charset="-122"/>
              </a:defRPr>
            </a:lvl8pPr>
            <a:lvl9pPr marL="3886200" indent="-228600" defTabSz="90360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Arial Unicode MS" panose="020B0604020202020204" pitchFamily="34" charset="-122"/>
                <a:cs typeface="Arial Unicode MS" panose="020B0604020202020204" pitchFamily="34" charset="-122"/>
              </a:defRPr>
            </a:lvl9pPr>
          </a:lstStyle>
          <a:p>
            <a:fld id="{DE22068D-34DE-4786-BE1C-D8109A649113}" type="slidenum">
              <a:rPr lang="zh-TW" altLang="en-US" sz="1200" smtClean="0">
                <a:ea typeface="PMingLiU" panose="02020500000000000000" pitchFamily="18" charset="-120"/>
              </a:rPr>
              <a:t>49</a:t>
            </a:fld>
            <a:endParaRPr lang="en-US" altLang="zh-TW" sz="1200">
              <a:ea typeface="PMingLiU" panose="02020500000000000000" pitchFamily="18" charset="-12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5843" name="Notes Placeholder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3584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605">
              <a:defRPr sz="2400">
                <a:solidFill>
                  <a:schemeClr val="tx1"/>
                </a:solidFill>
                <a:latin typeface="Tahoma" panose="020B0604030504040204" pitchFamily="34" charset="0"/>
                <a:ea typeface="Arial Unicode MS" panose="020B0604020202020204" pitchFamily="34" charset="-122"/>
                <a:cs typeface="Arial Unicode MS" panose="020B0604020202020204" pitchFamily="34" charset="-122"/>
              </a:defRPr>
            </a:lvl1pPr>
            <a:lvl2pPr marL="742950" indent="-285750" defTabSz="903605">
              <a:defRPr sz="2400">
                <a:solidFill>
                  <a:schemeClr val="tx1"/>
                </a:solidFill>
                <a:latin typeface="Tahoma" panose="020B0604030504040204" pitchFamily="34" charset="0"/>
                <a:ea typeface="Arial Unicode MS" panose="020B0604020202020204" pitchFamily="34" charset="-122"/>
                <a:cs typeface="Arial Unicode MS" panose="020B0604020202020204" pitchFamily="34" charset="-122"/>
              </a:defRPr>
            </a:lvl2pPr>
            <a:lvl3pPr marL="1143000" indent="-228600" defTabSz="903605">
              <a:defRPr sz="2400">
                <a:solidFill>
                  <a:schemeClr val="tx1"/>
                </a:solidFill>
                <a:latin typeface="Tahoma" panose="020B0604030504040204" pitchFamily="34" charset="0"/>
                <a:ea typeface="Arial Unicode MS" panose="020B0604020202020204" pitchFamily="34" charset="-122"/>
                <a:cs typeface="Arial Unicode MS" panose="020B0604020202020204" pitchFamily="34" charset="-122"/>
              </a:defRPr>
            </a:lvl3pPr>
            <a:lvl4pPr marL="1600200" indent="-228600" defTabSz="903605">
              <a:defRPr sz="2400">
                <a:solidFill>
                  <a:schemeClr val="tx1"/>
                </a:solidFill>
                <a:latin typeface="Tahoma" panose="020B0604030504040204" pitchFamily="34" charset="0"/>
                <a:ea typeface="Arial Unicode MS" panose="020B0604020202020204" pitchFamily="34" charset="-122"/>
                <a:cs typeface="Arial Unicode MS" panose="020B0604020202020204" pitchFamily="34" charset="-122"/>
              </a:defRPr>
            </a:lvl4pPr>
            <a:lvl5pPr marL="2057400" indent="-228600" defTabSz="903605">
              <a:defRPr sz="2400">
                <a:solidFill>
                  <a:schemeClr val="tx1"/>
                </a:solidFill>
                <a:latin typeface="Tahoma" panose="020B0604030504040204" pitchFamily="34" charset="0"/>
                <a:ea typeface="Arial Unicode MS" panose="020B0604020202020204" pitchFamily="34" charset="-122"/>
                <a:cs typeface="Arial Unicode MS" panose="020B0604020202020204" pitchFamily="34" charset="-122"/>
              </a:defRPr>
            </a:lvl5pPr>
            <a:lvl6pPr marL="2514600" indent="-228600" defTabSz="90360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Arial Unicode MS" panose="020B0604020202020204" pitchFamily="34" charset="-122"/>
                <a:cs typeface="Arial Unicode MS" panose="020B0604020202020204" pitchFamily="34" charset="-122"/>
              </a:defRPr>
            </a:lvl6pPr>
            <a:lvl7pPr marL="2971800" indent="-228600" defTabSz="90360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Arial Unicode MS" panose="020B0604020202020204" pitchFamily="34" charset="-122"/>
                <a:cs typeface="Arial Unicode MS" panose="020B0604020202020204" pitchFamily="34" charset="-122"/>
              </a:defRPr>
            </a:lvl7pPr>
            <a:lvl8pPr marL="3429000" indent="-228600" defTabSz="90360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Arial Unicode MS" panose="020B0604020202020204" pitchFamily="34" charset="-122"/>
                <a:cs typeface="Arial Unicode MS" panose="020B0604020202020204" pitchFamily="34" charset="-122"/>
              </a:defRPr>
            </a:lvl8pPr>
            <a:lvl9pPr marL="3886200" indent="-228600" defTabSz="90360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Arial Unicode MS" panose="020B0604020202020204" pitchFamily="34" charset="-122"/>
                <a:cs typeface="Arial Unicode MS" panose="020B0604020202020204" pitchFamily="34" charset="-122"/>
              </a:defRPr>
            </a:lvl9pPr>
          </a:lstStyle>
          <a:p>
            <a:fld id="{38EB40AD-ED45-4BF9-A91C-FA8023EDED3A}" type="slidenum">
              <a:rPr lang="zh-TW" altLang="en-US" sz="1200" smtClean="0">
                <a:ea typeface="PMingLiU" panose="02020500000000000000" pitchFamily="18" charset="-120"/>
              </a:rPr>
              <a:t>50</a:t>
            </a:fld>
            <a:endParaRPr lang="en-US" altLang="zh-TW" sz="1200">
              <a:ea typeface="PMingLiU" panose="02020500000000000000" pitchFamily="18" charset="-12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© Software Architecture</a:t>
            </a:r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8C58C-0836-46C6-8F9A-AF87B5CA09C9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78098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1403648" y="6356350"/>
            <a:ext cx="6336704" cy="365125"/>
          </a:xfrm>
        </p:spPr>
        <p:txBody>
          <a:bodyPr/>
          <a:lstStyle/>
          <a:p>
            <a:r>
              <a:rPr lang="en-US"/>
              <a:t>© Software Architecture</a:t>
            </a:r>
            <a:endParaRPr lang="en-AU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© Software Architecture</a:t>
            </a:r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8C58C-0836-46C6-8F9A-AF87B5CA09C9}" type="slidenum">
              <a:rPr lang="en-AU" smtClean="0"/>
              <a:t>‹#›</a:t>
            </a:fld>
            <a:endParaRPr lang="en-AU"/>
          </a:p>
        </p:txBody>
      </p:sp>
      <p:pic>
        <p:nvPicPr>
          <p:cNvPr id="7" name="Picture 2" descr="C:\Users\lbass\Documents\SAP3\SAP3 cover.jp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96" y="116632"/>
            <a:ext cx="1872208" cy="1872208"/>
          </a:xfrm>
          <a:prstGeom prst="rect">
            <a:avLst/>
          </a:prstGeom>
          <a:noFill/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9592" y="274638"/>
            <a:ext cx="7787208" cy="778098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68760"/>
            <a:ext cx="4038600" cy="485740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68760"/>
            <a:ext cx="4038600" cy="485740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© Software Architecture</a:t>
            </a:r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8C58C-0836-46C6-8F9A-AF87B5CA09C9}" type="slidenum">
              <a:rPr lang="en-AU" smtClean="0"/>
              <a:t>‹#›</a:t>
            </a:fld>
            <a:endParaRPr lang="en-AU"/>
          </a:p>
        </p:txBody>
      </p:sp>
      <p:pic>
        <p:nvPicPr>
          <p:cNvPr id="8" name="Picture 2" descr="C:\Users\lbass\Documents\SAP3\SAP3 cover.jp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96" y="116632"/>
            <a:ext cx="953592" cy="953592"/>
          </a:xfrm>
          <a:prstGeom prst="rect">
            <a:avLst/>
          </a:prstGeom>
          <a:noFill/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600" y="274638"/>
            <a:ext cx="7715200" cy="778098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© Software Architecture</a:t>
            </a:r>
            <a:endParaRPr lang="en-A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8C58C-0836-46C6-8F9A-AF87B5CA09C9}" type="slidenum">
              <a:rPr lang="en-AU" smtClean="0"/>
              <a:t>‹#›</a:t>
            </a:fld>
            <a:endParaRPr lang="en-AU"/>
          </a:p>
        </p:txBody>
      </p:sp>
      <p:pic>
        <p:nvPicPr>
          <p:cNvPr id="10" name="Picture 2" descr="C:\Users\lbass\Documents\SAP3\SAP3 cover.jp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96" y="116632"/>
            <a:ext cx="953592" cy="953592"/>
          </a:xfrm>
          <a:prstGeom prst="rect">
            <a:avLst/>
          </a:prstGeom>
          <a:noFill/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9592" y="274638"/>
            <a:ext cx="7787208" cy="778098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Software Architecture</a:t>
            </a:r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8C58C-0836-46C6-8F9A-AF87B5CA09C9}" type="slidenum">
              <a:rPr lang="en-AU" smtClean="0"/>
              <a:t>‹#›</a:t>
            </a:fld>
            <a:endParaRPr lang="en-AU"/>
          </a:p>
        </p:txBody>
      </p:sp>
      <p:pic>
        <p:nvPicPr>
          <p:cNvPr id="6" name="Picture 2" descr="C:\Users\lbass\Documents\SAP3\SAP3 cover.jp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96" y="116632"/>
            <a:ext cx="953592" cy="953592"/>
          </a:xfrm>
          <a:prstGeom prst="rect">
            <a:avLst/>
          </a:prstGeom>
          <a:noFill/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Software Architecture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8C58C-0836-46C6-8F9A-AF87B5CA09C9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Software Architecture</a:t>
            </a:r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8C58C-0836-46C6-8F9A-AF87B5CA09C9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Software Architecture</a:t>
            </a:r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8C58C-0836-46C6-8F9A-AF87B5CA09C9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Software Architecture</a:t>
            </a:r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8C58C-0836-46C6-8F9A-AF87B5CA09C9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U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Software Architecture</a:t>
            </a:r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8C58C-0836-46C6-8F9A-AF87B5CA09C9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780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68760"/>
            <a:ext cx="8229600" cy="48574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U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© Software Architecture</a:t>
            </a:r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E8C58C-0836-46C6-8F9A-AF87B5CA09C9}" type="slidenum">
              <a:rPr lang="en-AU" smtClean="0"/>
              <a:t>‹#›</a:t>
            </a:fld>
            <a:endParaRPr lang="en-A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ctr" defTabSz="914400" rtl="0" eaLnBrk="1" latinLnBrk="0" hangingPunct="1">
        <a:lnSpc>
          <a:spcPct val="8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7" Type="http://schemas.openxmlformats.org/officeDocument/2006/relationships/image" Target="../media/image38.e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emf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/>
              <a:t>Chapter 8: Performance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Software Architecture</a:t>
            </a:r>
            <a:endParaRPr lang="en-A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Performance?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4922" y="1275841"/>
            <a:ext cx="8229600" cy="4857403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It is about time</a:t>
            </a:r>
          </a:p>
          <a:p>
            <a:r>
              <a:rPr lang="en-US" dirty="0"/>
              <a:t>Performance is about time and the software system’s ability to meet timing requirements</a:t>
            </a:r>
          </a:p>
          <a:p>
            <a:r>
              <a:rPr lang="en-US" dirty="0"/>
              <a:t>When events occur, the system must respond to them in time</a:t>
            </a:r>
          </a:p>
          <a:p>
            <a:pPr lvl="1"/>
            <a:r>
              <a:rPr lang="en-US" altLang="zh-CN" dirty="0"/>
              <a:t>Events include interrupts, messages, requests from users or other systems, or clock events marking the passage of time</a:t>
            </a:r>
            <a:r>
              <a:rPr lang="en-US" dirty="0"/>
              <a:t>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Software Architecture</a:t>
            </a:r>
            <a:endParaRPr lang="en-A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955"/>
            <a:ext cx="8229600" cy="777875"/>
          </a:xfrm>
        </p:spPr>
        <p:txBody>
          <a:bodyPr/>
          <a:lstStyle/>
          <a:p>
            <a:r>
              <a:rPr lang="en-US" altLang="zh-CN"/>
              <a:t>Why is Performance Important?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7500"/>
          </a:bodyPr>
          <a:lstStyle/>
          <a:p>
            <a:r>
              <a:rPr lang="en-US" dirty="0">
                <a:sym typeface="+mn-ea"/>
              </a:rPr>
              <a:t>There are some important problems that we know how to solve with computers, but we can't solve them because we can't do them fast enough.</a:t>
            </a:r>
            <a:endParaRPr lang="en-US" dirty="0"/>
          </a:p>
          <a:p>
            <a:r>
              <a:rPr lang="zh-CN" altLang="en-US"/>
              <a:t>All systems have performance requirements, even if they are not stated explicitly. </a:t>
            </a:r>
          </a:p>
          <a:p>
            <a:pPr lvl="1"/>
            <a:r>
              <a:rPr lang="en-US" altLang="zh-CN"/>
              <a:t>A</a:t>
            </a:r>
            <a:r>
              <a:rPr lang="zh-CN" altLang="en-US"/>
              <a:t> </a:t>
            </a:r>
            <a:r>
              <a:rPr lang="en-US" altLang="zh-CN"/>
              <a:t>typing</a:t>
            </a:r>
            <a:r>
              <a:rPr lang="zh-CN" altLang="en-US"/>
              <a:t> processor may not have any explicit performance requirements, but waiting an hour (or a minute or a second) before seeing typed characters appear on the screen is unacceptable.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Software Architecture</a:t>
            </a:r>
            <a:endParaRPr lang="en-AU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955"/>
            <a:ext cx="8229600" cy="777875"/>
          </a:xfrm>
        </p:spPr>
        <p:txBody>
          <a:bodyPr/>
          <a:lstStyle/>
          <a:p>
            <a:r>
              <a:rPr lang="en-US" altLang="zh-CN">
                <a:sym typeface="+mn-ea"/>
              </a:rPr>
              <a:t>Why is Performance Important?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Typically, once a system is built and performance is found to be insufficient, performance improvements are </a:t>
            </a:r>
            <a:r>
              <a:rPr lang="en-US" altLang="zh-CN"/>
              <a:t>required</a:t>
            </a:r>
            <a:r>
              <a:rPr lang="zh-CN" altLang="en-US"/>
              <a:t>. </a:t>
            </a:r>
          </a:p>
          <a:p>
            <a:pPr lvl="1"/>
            <a:r>
              <a:rPr lang="zh-CN" altLang="en-US"/>
              <a:t>If performance is considered </a:t>
            </a:r>
            <a:r>
              <a:rPr lang="zh-CN" altLang="en-US" b="1">
                <a:solidFill>
                  <a:srgbClr val="FF0000"/>
                </a:solidFill>
              </a:rPr>
              <a:t>in advance</a:t>
            </a:r>
            <a:r>
              <a:rPr lang="zh-CN" altLang="en-US"/>
              <a:t> when the system is designed</a:t>
            </a:r>
            <a:r>
              <a:rPr lang="en-US" altLang="zh-CN"/>
              <a:t>,</a:t>
            </a:r>
            <a:r>
              <a:rPr lang="zh-CN" altLang="en-US"/>
              <a:t> the size of the resource pool can be simply increased. Otherwise, your options are very limited.</a:t>
            </a:r>
          </a:p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Software Architecture</a:t>
            </a:r>
            <a:endParaRPr lang="en-AU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955"/>
            <a:ext cx="8229600" cy="777875"/>
          </a:xfrm>
        </p:spPr>
        <p:txBody>
          <a:bodyPr/>
          <a:lstStyle/>
          <a:p>
            <a:r>
              <a:rPr lang="en-US" altLang="zh-CN"/>
              <a:t>How to measure?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>
                <a:sym typeface="+mn-ea"/>
              </a:rPr>
              <a:t>A system timing log can help you determine where time is wasted, so that you can focus on improving the performance of the key parts of the system.</a:t>
            </a:r>
          </a:p>
          <a:p>
            <a:pPr lvl="1"/>
            <a:r>
              <a:rPr lang="zh-CN" altLang="en-US">
                <a:sym typeface="+mn-ea"/>
              </a:rPr>
              <a:t>It is not worthwhile to spend a lot of time optimizing for only a small performance gain.</a:t>
            </a:r>
            <a:endParaRPr lang="zh-CN" altLang="en-US"/>
          </a:p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Software Architecture</a:t>
            </a:r>
            <a:endParaRPr lang="en-AU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49580" y="274955"/>
            <a:ext cx="8237220" cy="777875"/>
          </a:xfrm>
        </p:spPr>
        <p:txBody>
          <a:bodyPr/>
          <a:lstStyle/>
          <a:p>
            <a:r>
              <a:rPr lang="en-US" altLang="zh-CN"/>
              <a:t>Trade-Off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/>
              <a:t>I</a:t>
            </a:r>
            <a:r>
              <a:rPr lang="zh-CN" altLang="en-US"/>
              <a:t>t has frequently compromised the achievement of all other qualities. </a:t>
            </a:r>
          </a:p>
          <a:p>
            <a:pPr lvl="1"/>
            <a:r>
              <a:rPr lang="en-US" altLang="zh-CN">
                <a:sym typeface="+mn-ea"/>
              </a:rPr>
              <a:t>S</a:t>
            </a:r>
            <a:r>
              <a:rPr lang="zh-CN" altLang="en-US">
                <a:sym typeface="+mn-ea"/>
              </a:rPr>
              <a:t>calability</a:t>
            </a:r>
            <a:r>
              <a:rPr lang="en-US" altLang="zh-CN">
                <a:sym typeface="+mn-ea"/>
              </a:rPr>
              <a:t>, e.g., </a:t>
            </a:r>
            <a:r>
              <a:rPr lang="zh-CN" altLang="en-US">
                <a:sym typeface="+mn-ea"/>
              </a:rPr>
              <a:t>increasing your system</a:t>
            </a:r>
            <a:r>
              <a:rPr lang="en-US" altLang="zh-CN">
                <a:sym typeface="+mn-ea"/>
              </a:rPr>
              <a:t>’</a:t>
            </a:r>
            <a:r>
              <a:rPr lang="zh-CN" altLang="en-US">
                <a:sym typeface="+mn-ea"/>
              </a:rPr>
              <a:t>s</a:t>
            </a:r>
            <a:r>
              <a:rPr lang="en-US" altLang="zh-CN">
                <a:sym typeface="+mn-ea"/>
              </a:rPr>
              <a:t> </a:t>
            </a:r>
            <a:r>
              <a:rPr lang="zh-CN" altLang="en-US">
                <a:sym typeface="+mn-ea"/>
              </a:rPr>
              <a:t>capacity for work, while still performing well</a:t>
            </a:r>
          </a:p>
          <a:p>
            <a:pPr lvl="1"/>
            <a:r>
              <a:rPr lang="en-US" altLang="zh-CN">
                <a:sym typeface="+mn-ea"/>
              </a:rPr>
              <a:t>Modifiablity</a:t>
            </a:r>
            <a:endParaRPr lang="en-US" altLang="zh-CN"/>
          </a:p>
          <a:p>
            <a:pPr lvl="1"/>
            <a:r>
              <a:rPr lang="en-US" altLang="zh-CN">
                <a:sym typeface="+mn-ea"/>
              </a:rPr>
              <a:t>Security</a:t>
            </a:r>
            <a:endParaRPr lang="en-US" altLang="zh-CN"/>
          </a:p>
          <a:p>
            <a:pPr lvl="1"/>
            <a:r>
              <a:rPr lang="en-US" altLang="zh-CN">
                <a:sym typeface="+mn-ea"/>
              </a:rPr>
              <a:t>Interoperability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Software Architecture</a:t>
            </a:r>
            <a:endParaRPr lang="en-AU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Performance General Scenario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Software Architecture</a:t>
            </a:r>
            <a:endParaRPr lang="en-AU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67544" y="1556792"/>
          <a:ext cx="8424428" cy="39604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32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923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07534">
                <a:tc>
                  <a:txBody>
                    <a:bodyPr/>
                    <a:lstStyle/>
                    <a:p>
                      <a:pPr marL="0" marR="0">
                        <a:lnSpc>
                          <a:spcPct val="8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en-US" sz="2000" b="1" dirty="0">
                          <a:effectLst/>
                        </a:rPr>
                        <a:t>Portion of Scenario</a:t>
                      </a:r>
                      <a:endParaRPr lang="en-US" sz="2000" b="1" dirty="0">
                        <a:effectLst/>
                        <a:latin typeface="Times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8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en-US" sz="2000" b="1" dirty="0">
                          <a:effectLst/>
                        </a:rPr>
                        <a:t>Possible Values</a:t>
                      </a:r>
                      <a:endParaRPr lang="en-US" sz="2000" b="1" dirty="0">
                        <a:effectLst/>
                        <a:latin typeface="Times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5358">
                <a:tc>
                  <a:txBody>
                    <a:bodyPr/>
                    <a:lstStyle/>
                    <a:p>
                      <a:pPr marL="0" marR="0">
                        <a:lnSpc>
                          <a:spcPct val="11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en-US" sz="2000" b="1" dirty="0">
                          <a:solidFill>
                            <a:schemeClr val="tx2"/>
                          </a:solidFill>
                          <a:effectLst/>
                        </a:rPr>
                        <a:t>Source</a:t>
                      </a:r>
                      <a:endParaRPr lang="en-US" sz="2000" b="1" dirty="0">
                        <a:solidFill>
                          <a:schemeClr val="tx2"/>
                        </a:solidFill>
                        <a:effectLst/>
                        <a:latin typeface="Times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en-US" sz="2000" dirty="0">
                          <a:effectLst/>
                        </a:rPr>
                        <a:t>Internal or external to the system </a:t>
                      </a:r>
                      <a:endParaRPr lang="en-US" sz="2000" dirty="0">
                        <a:effectLst/>
                        <a:latin typeface="Times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5358">
                <a:tc>
                  <a:txBody>
                    <a:bodyPr/>
                    <a:lstStyle/>
                    <a:p>
                      <a:pPr marL="0" marR="0">
                        <a:lnSpc>
                          <a:spcPct val="11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en-US" sz="2000" b="1" dirty="0">
                          <a:solidFill>
                            <a:schemeClr val="tx2"/>
                          </a:solidFill>
                          <a:effectLst/>
                        </a:rPr>
                        <a:t>Stimulus</a:t>
                      </a:r>
                      <a:endParaRPr lang="en-US" sz="2000" b="1" dirty="0">
                        <a:solidFill>
                          <a:schemeClr val="tx2"/>
                        </a:solidFill>
                        <a:effectLst/>
                        <a:latin typeface="Times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en-US" sz="2000" dirty="0">
                          <a:effectLst/>
                        </a:rPr>
                        <a:t>Arrival of a periodic, sporadic, or stochastic event</a:t>
                      </a:r>
                      <a:endParaRPr lang="en-US" sz="2000" dirty="0">
                        <a:effectLst/>
                        <a:latin typeface="Times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5358">
                <a:tc>
                  <a:txBody>
                    <a:bodyPr/>
                    <a:lstStyle/>
                    <a:p>
                      <a:pPr marL="0" marR="0">
                        <a:lnSpc>
                          <a:spcPct val="11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en-US" sz="2000" b="1" dirty="0">
                          <a:solidFill>
                            <a:schemeClr val="tx2"/>
                          </a:solidFill>
                          <a:effectLst/>
                        </a:rPr>
                        <a:t>Artifact</a:t>
                      </a:r>
                      <a:endParaRPr lang="en-US" sz="2000" b="1" dirty="0">
                        <a:solidFill>
                          <a:schemeClr val="tx2"/>
                        </a:solidFill>
                        <a:effectLst/>
                        <a:latin typeface="Times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en-US" sz="2000" dirty="0">
                          <a:effectLst/>
                        </a:rPr>
                        <a:t>System or one or more components in the system.</a:t>
                      </a:r>
                      <a:endParaRPr lang="en-US" sz="2000" dirty="0">
                        <a:effectLst/>
                        <a:latin typeface="Times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7015">
                <a:tc>
                  <a:txBody>
                    <a:bodyPr/>
                    <a:lstStyle/>
                    <a:p>
                      <a:pPr marL="0" marR="0">
                        <a:lnSpc>
                          <a:spcPct val="11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en-US" sz="2000" b="1" dirty="0">
                          <a:solidFill>
                            <a:schemeClr val="tx2"/>
                          </a:solidFill>
                          <a:effectLst/>
                        </a:rPr>
                        <a:t>Environment</a:t>
                      </a:r>
                      <a:endParaRPr lang="en-US" sz="2000" b="1" dirty="0">
                        <a:solidFill>
                          <a:schemeClr val="tx2"/>
                        </a:solidFill>
                        <a:effectLst/>
                        <a:latin typeface="Times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en-US" sz="2000" dirty="0">
                          <a:effectLst/>
                        </a:rPr>
                        <a:t>Operational mode:  normal, emergency, peak load, overload.</a:t>
                      </a:r>
                      <a:endParaRPr lang="en-US" sz="2000" dirty="0">
                        <a:effectLst/>
                        <a:latin typeface="Times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3490">
                <a:tc>
                  <a:txBody>
                    <a:bodyPr/>
                    <a:lstStyle/>
                    <a:p>
                      <a:pPr marL="0" marR="0">
                        <a:lnSpc>
                          <a:spcPct val="11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en-US" sz="2000" b="1" dirty="0">
                          <a:solidFill>
                            <a:schemeClr val="tx2"/>
                          </a:solidFill>
                          <a:effectLst/>
                        </a:rPr>
                        <a:t>Response</a:t>
                      </a:r>
                      <a:endParaRPr lang="en-US" sz="2000" b="1" dirty="0">
                        <a:solidFill>
                          <a:schemeClr val="tx2"/>
                        </a:solidFill>
                        <a:effectLst/>
                        <a:latin typeface="Times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en-US" sz="2000" dirty="0">
                          <a:effectLst/>
                        </a:rPr>
                        <a:t>Process events, change level of service</a:t>
                      </a:r>
                      <a:endParaRPr lang="en-US" sz="2000" dirty="0">
                        <a:effectLst/>
                        <a:latin typeface="Times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26327">
                <a:tc>
                  <a:txBody>
                    <a:bodyPr/>
                    <a:lstStyle/>
                    <a:p>
                      <a:pPr marL="0" marR="0">
                        <a:lnSpc>
                          <a:spcPct val="8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en-US" sz="2000" b="1" dirty="0">
                          <a:solidFill>
                            <a:schemeClr val="tx2"/>
                          </a:solidFill>
                          <a:effectLst/>
                        </a:rPr>
                        <a:t>Response Measure</a:t>
                      </a:r>
                      <a:endParaRPr lang="en-US" sz="2000" b="1" dirty="0">
                        <a:solidFill>
                          <a:schemeClr val="tx2"/>
                        </a:solidFill>
                        <a:effectLst/>
                        <a:latin typeface="Times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en-US" sz="2000" dirty="0">
                          <a:effectLst/>
                        </a:rPr>
                        <a:t>Latency, deadline, throughput, jitter, miss rate</a:t>
                      </a:r>
                      <a:endParaRPr lang="en-US" sz="2000" dirty="0">
                        <a:effectLst/>
                        <a:latin typeface="Times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36D160E-4C73-E42F-405F-A03F6F2D23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Performance General Scenario</a:t>
            </a:r>
            <a:endParaRPr lang="zh-CN" altLang="en-US" dirty="0"/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93D2AC8E-7470-C5FC-6C36-35F167F7F1B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14223" y="1268413"/>
            <a:ext cx="6515553" cy="4857750"/>
          </a:xfrm>
          <a:prstGeom prst="rect">
            <a:avLst/>
          </a:prstGeom>
        </p:spPr>
      </p:pic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76AB3C0-A3A2-7458-A82D-0E3887B01A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Software Architecture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8609787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65FF84-037C-A126-69DC-BFCE8E2B86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54D8DE4-14AC-5143-ECB6-1CAF50B97D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Performance General Scenario</a:t>
            </a:r>
            <a:endParaRPr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D8F2230-DC1F-0184-8CA7-19BD84A996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Software Architecture</a:t>
            </a:r>
            <a:endParaRPr lang="en-AU" dirty="0"/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FC0A7A21-2E8D-2903-D0DC-8A0E660B2C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E70B9393-911C-0705-0ED8-CCB9EE57FB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84" y="2060848"/>
            <a:ext cx="7380312" cy="3179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31633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Sample Concrete Performance Scenario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Users initiate transactions under normal operations. </a:t>
            </a:r>
            <a:r>
              <a:rPr lang="en-US" b="1" dirty="0">
                <a:solidFill>
                  <a:schemeClr val="tx2"/>
                </a:solidFill>
              </a:rPr>
              <a:t>The system </a:t>
            </a:r>
            <a:r>
              <a:rPr lang="en-US" dirty="0"/>
              <a:t>processes the transactions with an average latency of two seconds.</a:t>
            </a:r>
          </a:p>
          <a:p>
            <a:pPr lvl="1"/>
            <a:r>
              <a:rPr lang="en-US" dirty="0"/>
              <a:t>Stimulus: transaction arrivals</a:t>
            </a:r>
          </a:p>
          <a:p>
            <a:pPr lvl="1"/>
            <a:r>
              <a:rPr lang="en-US" altLang="zh-CN" dirty="0"/>
              <a:t>Source: users</a:t>
            </a:r>
          </a:p>
          <a:p>
            <a:pPr lvl="1"/>
            <a:r>
              <a:rPr lang="en-US" dirty="0"/>
              <a:t>Artifact: </a:t>
            </a:r>
            <a:r>
              <a:rPr lang="en-US" b="1" dirty="0">
                <a:solidFill>
                  <a:schemeClr val="tx2"/>
                </a:solidFill>
              </a:rPr>
              <a:t>the system</a:t>
            </a:r>
          </a:p>
          <a:p>
            <a:pPr lvl="1"/>
            <a:r>
              <a:rPr lang="en-US" dirty="0"/>
              <a:t>Response: process the transactions</a:t>
            </a:r>
          </a:p>
          <a:p>
            <a:pPr lvl="1"/>
            <a:r>
              <a:rPr lang="en-US" dirty="0"/>
              <a:t>Response measure: average latency of two seconds</a:t>
            </a:r>
          </a:p>
          <a:p>
            <a:pPr lvl="1"/>
            <a:r>
              <a:rPr lang="en-US" dirty="0"/>
              <a:t>Environment: under normal operation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Software Architecture</a:t>
            </a:r>
            <a:endParaRPr lang="en-A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F37535D-8219-9E71-0453-DFEF769422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Sample Concrete Performance Scenario</a:t>
            </a:r>
            <a:endParaRPr lang="zh-CN" altLang="en-US" dirty="0"/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504CD5AB-C365-A309-5117-5CA2B3192E2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4857" y="2216335"/>
            <a:ext cx="8114286" cy="2961905"/>
          </a:xfrm>
          <a:prstGeom prst="rect">
            <a:avLst/>
          </a:prstGeom>
        </p:spPr>
      </p:pic>
      <p:sp>
        <p:nvSpPr>
          <p:cNvPr id="4" name="页脚占位符 3">
            <a:extLst>
              <a:ext uri="{FF2B5EF4-FFF2-40B4-BE49-F238E27FC236}">
                <a16:creationId xmlns:a16="http://schemas.microsoft.com/office/drawing/2014/main" id="{3F53E13F-529D-985E-6F0C-3F62BE8AD5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Software Architecture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6564311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Performance Modeling 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Two basic contributors to the response time</a:t>
            </a:r>
          </a:p>
          <a:p>
            <a:r>
              <a:rPr lang="en-US" altLang="zh-CN" b="1" dirty="0">
                <a:solidFill>
                  <a:schemeClr val="tx2"/>
                </a:solidFill>
              </a:rPr>
              <a:t>Processing time </a:t>
            </a:r>
            <a:r>
              <a:rPr lang="en-US" altLang="zh-CN" dirty="0"/>
              <a:t>is the time that the system is working to respond</a:t>
            </a:r>
          </a:p>
          <a:p>
            <a:r>
              <a:rPr lang="en-US" altLang="zh-CN" b="1" dirty="0">
                <a:solidFill>
                  <a:schemeClr val="tx2"/>
                </a:solidFill>
              </a:rPr>
              <a:t>Blocked time </a:t>
            </a:r>
            <a:r>
              <a:rPr lang="en-US" altLang="zh-CN" dirty="0"/>
              <a:t>is the time that the system is unable to respond</a:t>
            </a:r>
          </a:p>
          <a:p>
            <a:endParaRPr lang="en-US" altLang="zh-CN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Software Architecture</a:t>
            </a:r>
            <a:endParaRPr lang="en-A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955"/>
            <a:ext cx="8229600" cy="777875"/>
          </a:xfrm>
        </p:spPr>
        <p:txBody>
          <a:bodyPr/>
          <a:lstStyle/>
          <a:p>
            <a:r>
              <a:rPr lang="en-US" altLang="zh-CN" b="1" dirty="0">
                <a:solidFill>
                  <a:schemeClr val="tx2"/>
                </a:solidFill>
                <a:sym typeface="+mn-ea"/>
              </a:rPr>
              <a:t>Processing time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5000" lnSpcReduction="10000"/>
          </a:bodyPr>
          <a:lstStyle/>
          <a:p>
            <a:pPr marL="0" indent="0">
              <a:buNone/>
            </a:pPr>
            <a:r>
              <a:rPr lang="en-US" altLang="zh-CN" dirty="0"/>
              <a:t>Suppose a message is generated by one component. </a:t>
            </a:r>
          </a:p>
          <a:p>
            <a:r>
              <a:rPr lang="en-US" altLang="zh-CN" dirty="0"/>
              <a:t>It might be placed on the network, after which it arrives at another component. It is then placed in a buffer; transformed in some fashion; processed according to some algorithm; transformed for output; placed in an output buffer; and sent onward to another component, another system, or some actor. </a:t>
            </a:r>
          </a:p>
          <a:p>
            <a:pPr marL="0" indent="0">
              <a:buNone/>
            </a:pPr>
            <a:r>
              <a:rPr lang="en-US" altLang="zh-CN" dirty="0"/>
              <a:t>Each of these steps consumes resources and time and contributes to the overall latency of the processing of that event.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Software Architecture</a:t>
            </a:r>
            <a:endParaRPr lang="en-AU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F334FBD-0D73-F39D-20A2-E3562612BB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solidFill>
                  <a:schemeClr val="tx2"/>
                </a:solidFill>
                <a:sym typeface="+mn-ea"/>
              </a:rPr>
              <a:t>Processing time</a:t>
            </a:r>
            <a:endParaRPr lang="zh-CN" altLang="en-US" dirty="0"/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8BB05D2D-6383-CBBB-7EE6-B5C7DAC4452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556792"/>
            <a:ext cx="8229600" cy="2664068"/>
          </a:xfrm>
          <a:prstGeom prst="rect">
            <a:avLst/>
          </a:prstGeom>
        </p:spPr>
      </p:pic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B4DC819-EBFB-0547-A6F7-9EFFA4AD00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Software Architecture</a:t>
            </a:r>
            <a:endParaRPr lang="en-AU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F3FABE7A-665E-FB18-7249-3FC01B1F18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344" y="4221088"/>
            <a:ext cx="7920880" cy="1041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31963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955"/>
            <a:ext cx="8229600" cy="777875"/>
          </a:xfrm>
        </p:spPr>
        <p:txBody>
          <a:bodyPr/>
          <a:lstStyle/>
          <a:p>
            <a:r>
              <a:rPr lang="en-US" altLang="zh-CN" b="1" dirty="0">
                <a:solidFill>
                  <a:schemeClr val="tx2"/>
                </a:solidFill>
                <a:sym typeface="+mn-ea"/>
              </a:rPr>
              <a:t>Blocked time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7500" lnSpcReduction="10000"/>
          </a:bodyPr>
          <a:lstStyle/>
          <a:p>
            <a:pPr marL="0" indent="0">
              <a:buNone/>
            </a:pPr>
            <a:r>
              <a:rPr lang="en-US" altLang="zh-CN" sz="2800" dirty="0">
                <a:sym typeface="+mn-ea"/>
              </a:rPr>
              <a:t>Blocked time is caused by</a:t>
            </a:r>
            <a:endParaRPr lang="en-US" altLang="zh-CN" sz="2800" dirty="0"/>
          </a:p>
          <a:p>
            <a:pPr lvl="1"/>
            <a:r>
              <a:rPr lang="en-US" altLang="zh-CN" b="1" dirty="0">
                <a:sym typeface="+mn-ea"/>
              </a:rPr>
              <a:t>Contention for resources</a:t>
            </a:r>
            <a:r>
              <a:rPr lang="en-US" altLang="zh-CN" dirty="0">
                <a:sym typeface="+mn-ea"/>
              </a:rPr>
              <a:t>: </a:t>
            </a:r>
            <a:r>
              <a:rPr lang="en-US" altLang="zh-CN" dirty="0"/>
              <a:t>Many resources can only be used by a single client at a time. This means that other clients must wait for access to those resources.</a:t>
            </a:r>
            <a:endParaRPr lang="en-US" altLang="zh-CN" sz="2400" dirty="0"/>
          </a:p>
          <a:p>
            <a:pPr lvl="1"/>
            <a:r>
              <a:rPr lang="en-US" altLang="zh-CN" b="1" dirty="0">
                <a:sym typeface="+mn-ea"/>
              </a:rPr>
              <a:t>Availability of resources</a:t>
            </a:r>
            <a:r>
              <a:rPr lang="en-US" altLang="zh-CN" dirty="0">
                <a:sym typeface="+mn-ea"/>
              </a:rPr>
              <a:t>: Even in the absence of contention, computation </a:t>
            </a:r>
            <a:r>
              <a:rPr lang="en-US" altLang="zh-CN" dirty="0"/>
              <a:t>cannot proceed if a resource is unavailable.</a:t>
            </a:r>
          </a:p>
          <a:p>
            <a:pPr lvl="1"/>
            <a:r>
              <a:rPr lang="en-US" altLang="zh-CN" b="1" dirty="0">
                <a:sym typeface="+mn-ea"/>
              </a:rPr>
              <a:t>Dependency on other computations</a:t>
            </a:r>
            <a:r>
              <a:rPr lang="en-US" altLang="zh-CN" dirty="0">
                <a:sym typeface="+mn-ea"/>
              </a:rPr>
              <a:t>: it must synchronize with the results of another computation or because it is waiting for the results of a computation that it initiated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Software Architecture</a:t>
            </a:r>
            <a:endParaRPr lang="en-AU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A92435-C775-E3E3-CE5D-CAF8DD8F66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E31B23A-3C2A-A8E2-A62D-79EE79687A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955"/>
            <a:ext cx="8229600" cy="777875"/>
          </a:xfrm>
        </p:spPr>
        <p:txBody>
          <a:bodyPr/>
          <a:lstStyle/>
          <a:p>
            <a:r>
              <a:rPr lang="en-US" altLang="zh-CN" b="1" dirty="0">
                <a:solidFill>
                  <a:schemeClr val="tx2"/>
                </a:solidFill>
                <a:sym typeface="+mn-ea"/>
              </a:rPr>
              <a:t>Blocked time</a:t>
            </a:r>
            <a:endParaRPr lang="zh-CN" altLang="en-US" dirty="0"/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E3412A05-AD4B-93D4-17A0-11720B3D6BC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691267"/>
            <a:ext cx="8229600" cy="4012041"/>
          </a:xfrm>
          <a:prstGeom prst="rect">
            <a:avLst/>
          </a:prstGeom>
        </p:spPr>
      </p:pic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0A13E85-9E5B-4D1F-41C8-30ABCC3CF6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Software Architecture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247590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Goal of Performance Tactics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To generate a response to an event arriving the system within some time-based constraint</a:t>
            </a:r>
          </a:p>
          <a:p>
            <a:r>
              <a:rPr lang="en-US" dirty="0"/>
              <a:t>The event can be single or a stream, and is the trigger to perform computation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Software Architecture</a:t>
            </a:r>
            <a:endParaRPr lang="en-AU" dirty="0"/>
          </a:p>
        </p:txBody>
      </p:sp>
      <p:pic>
        <p:nvPicPr>
          <p:cNvPr id="5" name="Picture 5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71600" y="4797152"/>
            <a:ext cx="7560840" cy="16522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999944B9-6A79-6752-782F-DA47F9086E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3728" y="3340789"/>
            <a:ext cx="5133333" cy="145714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Two Tactic Categories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zh-CN" dirty="0"/>
              <a:t>Control resource demand</a:t>
            </a:r>
          </a:p>
          <a:p>
            <a:pPr lvl="1"/>
            <a:r>
              <a:rPr lang="en-US" altLang="zh-CN" dirty="0"/>
              <a:t>To produce smaller demand on the resources</a:t>
            </a:r>
          </a:p>
          <a:p>
            <a:pPr lvl="1"/>
            <a:r>
              <a:rPr lang="en-US" altLang="zh-CN" dirty="0"/>
              <a:t>Operate on the demand side</a:t>
            </a:r>
          </a:p>
          <a:p>
            <a:r>
              <a:rPr lang="en-US" altLang="zh-CN" dirty="0"/>
              <a:t>Manage resources</a:t>
            </a:r>
          </a:p>
          <a:p>
            <a:pPr lvl="1"/>
            <a:r>
              <a:rPr lang="en-US" altLang="zh-CN" dirty="0"/>
              <a:t>To make the resources at hand work more effectively in handling the demands</a:t>
            </a:r>
          </a:p>
          <a:p>
            <a:pPr lvl="1"/>
            <a:r>
              <a:rPr lang="en-US" altLang="zh-CN" dirty="0"/>
              <a:t>Operate on the response side</a:t>
            </a:r>
          </a:p>
          <a:p>
            <a:r>
              <a:rPr lang="en-US" altLang="zh-CN" dirty="0"/>
              <a:t>Resources</a:t>
            </a:r>
          </a:p>
          <a:p>
            <a:pPr lvl="1"/>
            <a:r>
              <a:rPr lang="en-US" altLang="zh-CN" dirty="0"/>
              <a:t>Hardware resources, e.g., CPU, data stores, network bandwidth, and memory</a:t>
            </a:r>
          </a:p>
          <a:p>
            <a:pPr lvl="1"/>
            <a:r>
              <a:rPr lang="en-US" altLang="zh-CN" dirty="0"/>
              <a:t>Software resources, e.g., buffers, or critical sections</a:t>
            </a:r>
          </a:p>
          <a:p>
            <a:pPr lvl="1"/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Software Architecture</a:t>
            </a:r>
            <a:endParaRPr lang="en-A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Performance Tactics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Software Architecture</a:t>
            </a:r>
            <a:endParaRPr lang="en-AU" dirty="0"/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en-US"/>
          </a:p>
        </p:txBody>
      </p:sp>
      <p:pic>
        <p:nvPicPr>
          <p:cNvPr id="6" name="Picture 5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27584" y="1484784"/>
            <a:ext cx="7488832" cy="4608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8D4ABA-354F-8051-5C16-95B5FE5E13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414AC-1345-82C9-59E9-34AC119238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Performance Tactics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EC9CA0C-4940-E346-FC82-B168C7BF16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Software Architecture</a:t>
            </a:r>
            <a:endParaRPr lang="en-AU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ECAD9ED-BEF7-BC66-60FA-582ECF1146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54C5DB83-670F-29DA-E3A7-A2D048DA71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6285" y="1900428"/>
            <a:ext cx="4371429" cy="3057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428217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/>
              <a:t>Control Resource Demand </a:t>
            </a:r>
            <a:r>
              <a:rPr lang="zh-CN" altLang="en-US" sz="3600" dirty="0"/>
              <a:t>控制资源需求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385" y="1267213"/>
            <a:ext cx="8229600" cy="4857403"/>
          </a:xfrm>
        </p:spPr>
        <p:txBody>
          <a:bodyPr>
            <a:normAutofit/>
          </a:bodyPr>
          <a:lstStyle/>
          <a:p>
            <a:pPr lvl="0"/>
            <a:r>
              <a:rPr lang="en-US" b="1" dirty="0">
                <a:solidFill>
                  <a:schemeClr val="tx2"/>
                </a:solidFill>
              </a:rPr>
              <a:t>Manage Sampling Rate</a:t>
            </a:r>
            <a:r>
              <a:rPr lang="en-US" dirty="0"/>
              <a:t>: to reduce the sampling frequency at which a stream of data is captured</a:t>
            </a:r>
          </a:p>
          <a:p>
            <a:pPr lvl="1"/>
            <a:r>
              <a:rPr lang="en-US" dirty="0"/>
              <a:t>For example, signal processing systems; trade-off between accuracy and latency</a:t>
            </a:r>
            <a:r>
              <a:rPr lang="zh-CN" altLang="en-US" dirty="0"/>
              <a:t>、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Software Architecture</a:t>
            </a:r>
            <a:endParaRPr lang="en-AU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4779986B-9A74-01EC-568C-023DF29173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512" y="3789040"/>
            <a:ext cx="8600000" cy="2228571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3D64972D-1E96-0AE2-54E7-808CFCB79E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552" y="6021288"/>
            <a:ext cx="3024336" cy="352578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5FADA9-CFBC-CFAB-C5CC-D2CE9BFC98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CAA02E-6C1C-42A2-DF39-41693BF353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zh-CN" sz="3600" dirty="0"/>
              <a:t>Control Resource Demand </a:t>
            </a:r>
            <a:r>
              <a:rPr lang="zh-CN" altLang="en-US" sz="3600" dirty="0"/>
              <a:t>控制资源需求</a:t>
            </a: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5D975F-411B-4AD1-0FC3-CB2E364038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US" b="1" dirty="0">
                <a:solidFill>
                  <a:schemeClr val="tx2"/>
                </a:solidFill>
              </a:rPr>
              <a:t>Limit event response:</a:t>
            </a:r>
            <a:r>
              <a:rPr lang="en-US" dirty="0"/>
              <a:t> When discrete events arrive at the system (or element) too rapidly to be processed, then the events must be queued until they can be processed.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B789BB-5635-787F-644A-A9C0D74305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Software Architecture</a:t>
            </a:r>
            <a:endParaRPr lang="en-AU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ECB5AF4F-87FA-3B29-E8B8-61FA3D076A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501008"/>
            <a:ext cx="9144000" cy="2575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79090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zh-CN" sz="3600" dirty="0"/>
              <a:t>Control Resource Demand </a:t>
            </a:r>
            <a:r>
              <a:rPr lang="zh-CN" altLang="en-US" sz="3600" dirty="0"/>
              <a:t>控制资源需求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US" b="1" dirty="0">
                <a:solidFill>
                  <a:schemeClr val="tx2"/>
                </a:solidFill>
              </a:rPr>
              <a:t>Prioritize Events</a:t>
            </a:r>
            <a:r>
              <a:rPr lang="en-US" dirty="0"/>
              <a:t>:</a:t>
            </a:r>
            <a:r>
              <a:rPr lang="zh-CN" altLang="en-US" dirty="0"/>
              <a:t> </a:t>
            </a:r>
            <a:r>
              <a:rPr lang="en-US" dirty="0"/>
              <a:t>to impose a priority scheme that ranks events according to the importance</a:t>
            </a:r>
          </a:p>
          <a:p>
            <a:pPr lvl="1"/>
            <a:r>
              <a:rPr lang="en-US" sz="2400" dirty="0"/>
              <a:t>Ignore low-priority events when resources are not enough</a:t>
            </a:r>
          </a:p>
          <a:p>
            <a:pPr lvl="1"/>
            <a:r>
              <a:rPr lang="en-US" sz="2400" dirty="0"/>
              <a:t>For example, a building management system may raise a variety of alarms. Life-threatening alarms such as a fire alarm should be given higher priority than informational alarms such as a room is too cold.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Software Architecture</a:t>
            </a:r>
            <a:endParaRPr lang="en-AU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F5FD0207-CB54-CC79-0E82-2B0BE71518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221088"/>
            <a:ext cx="9144000" cy="2184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zh-CN" sz="3600" dirty="0"/>
              <a:t>Control Resource Demand </a:t>
            </a:r>
            <a:r>
              <a:rPr lang="zh-CN" altLang="en-US" sz="3600" dirty="0"/>
              <a:t>控制资源需求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b="1" dirty="0">
                <a:solidFill>
                  <a:schemeClr val="tx2"/>
                </a:solidFill>
              </a:rPr>
              <a:t>Bound Execution Times</a:t>
            </a:r>
            <a:r>
              <a:rPr lang="en-US" altLang="zh-CN" dirty="0"/>
              <a:t>: Place a limit on how much execution time is used to respond to an event.</a:t>
            </a:r>
          </a:p>
          <a:p>
            <a:pPr lvl="1"/>
            <a:r>
              <a:rPr lang="en-US" altLang="zh-CN" dirty="0"/>
              <a:t>In algorithm design, limiting the number of iterations is a method for bounding exec. time</a:t>
            </a:r>
          </a:p>
          <a:p>
            <a:pPr lvl="1"/>
            <a:r>
              <a:rPr lang="en-US" altLang="zh-CN" dirty="0"/>
              <a:t>Trade-off between the performance and accuracy</a:t>
            </a:r>
          </a:p>
          <a:p>
            <a:pPr lvl="2"/>
            <a:r>
              <a:rPr lang="en-US" altLang="zh-CN" sz="2400" dirty="0"/>
              <a:t>progressive, approximate</a:t>
            </a:r>
            <a:endParaRPr lang="en-US" altLang="zh-CN" dirty="0"/>
          </a:p>
          <a:p>
            <a:pPr lvl="0"/>
            <a:endParaRPr lang="en-US" dirty="0"/>
          </a:p>
          <a:p>
            <a:pPr lvl="0"/>
            <a:endParaRPr lang="en-US" dirty="0"/>
          </a:p>
          <a:p>
            <a:pPr lvl="0"/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Software Architecture</a:t>
            </a:r>
            <a:endParaRPr lang="en-AU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10294D9E-8D08-E9BF-A87B-107BC7DF10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797152"/>
            <a:ext cx="9144000" cy="1116280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FFB09CB5-AA19-AC15-4259-566701A084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535" y="5844184"/>
            <a:ext cx="5596281" cy="39312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zh-CN" sz="3600" dirty="0"/>
              <a:t>Control Resource Demand </a:t>
            </a:r>
            <a:r>
              <a:rPr lang="zh-CN" altLang="en-US" sz="3600" dirty="0"/>
              <a:t>控制资源需求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0000"/>
          </a:bodyPr>
          <a:lstStyle/>
          <a:p>
            <a:pPr lvl="0"/>
            <a:r>
              <a:rPr lang="en-US" b="1" dirty="0">
                <a:solidFill>
                  <a:schemeClr val="tx2"/>
                </a:solidFill>
              </a:rPr>
              <a:t>Reduce Overhead</a:t>
            </a:r>
            <a:r>
              <a:rPr lang="en-US" dirty="0"/>
              <a:t>: The use of intermediaries increases the resources consumed in processing an event stream; removing them improves latency. </a:t>
            </a:r>
          </a:p>
          <a:p>
            <a:pPr lvl="1"/>
            <a:r>
              <a:rPr lang="en-US" dirty="0"/>
              <a:t>The use of intermediaries increases the resources consumed in processing an event stream, and so removing them improves latency (Tradeoff between the modifiability and performance)</a:t>
            </a:r>
          </a:p>
          <a:p>
            <a:pPr lvl="1"/>
            <a:r>
              <a:rPr lang="en-US" dirty="0"/>
              <a:t>A strategy for reducing computational overhead is to co-locate resources. Co-location may mean hosting cooperating components on the same processor to avoid the time delay of network communication</a:t>
            </a:r>
          </a:p>
          <a:p>
            <a:pPr lvl="0"/>
            <a:endParaRPr lang="en-US" dirty="0"/>
          </a:p>
          <a:p>
            <a:pPr lvl="0"/>
            <a:endParaRPr lang="en-US" dirty="0"/>
          </a:p>
          <a:p>
            <a:pPr lvl="0"/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Software Architecture</a:t>
            </a:r>
            <a:endParaRPr lang="en-AU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A07A920-9A20-A3C0-4A83-5713E02427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zh-CN" sz="3600" dirty="0"/>
              <a:t>Control Resource Demand </a:t>
            </a:r>
            <a:r>
              <a:rPr lang="zh-CN" altLang="en-US" sz="3600" dirty="0"/>
              <a:t>控制资源需求</a:t>
            </a:r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F00C6200-5CFB-6617-CDF9-F381FA8517E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90281" y="1268413"/>
            <a:ext cx="6763437" cy="4857750"/>
          </a:xfrm>
          <a:prstGeom prst="rect">
            <a:avLst/>
          </a:prstGeom>
        </p:spPr>
      </p:pic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9B6025C-364F-51B3-144C-7794BE443E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Software Architecture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30359248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zh-CN" sz="3600" dirty="0"/>
              <a:t>Control Resource Demand </a:t>
            </a:r>
            <a:r>
              <a:rPr lang="zh-CN" altLang="en-US" sz="3600" dirty="0"/>
              <a:t>控制资源需求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US" b="1" dirty="0">
                <a:solidFill>
                  <a:schemeClr val="tx2"/>
                </a:solidFill>
              </a:rPr>
              <a:t>Increase Resource Efficiency</a:t>
            </a:r>
            <a:r>
              <a:rPr lang="en-US" dirty="0"/>
              <a:t>: Improving the algorithms used in critical areas will decrease latency. </a:t>
            </a:r>
          </a:p>
          <a:p>
            <a:pPr lvl="0"/>
            <a:r>
              <a:rPr lang="en-US" dirty="0"/>
              <a:t>To reduce the complexity of the algorithm</a:t>
            </a:r>
          </a:p>
          <a:p>
            <a:pPr lvl="0"/>
            <a:r>
              <a:rPr lang="en-US" dirty="0"/>
              <a:t>Index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Software Architecture</a:t>
            </a:r>
            <a:endParaRPr lang="en-AU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59D0E6EC-B912-B985-0AB5-C966A33506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293096"/>
            <a:ext cx="9144000" cy="1508042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A6BA75-7362-49FE-217F-F630D3A8E3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92A7D1-37D6-1003-A38F-70DA0C968B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Manage Resources </a:t>
            </a:r>
            <a:r>
              <a:rPr lang="zh-CN" altLang="en-US" dirty="0"/>
              <a:t>管理资源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315C3D-FBCD-02B0-5117-9FC5188244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chemeClr val="tx2"/>
                </a:solidFill>
              </a:rPr>
              <a:t>Increase Resources</a:t>
            </a:r>
            <a:r>
              <a:rPr lang="en-US" dirty="0"/>
              <a:t>: Faster processors, additional processors, additional memory, and faster networks all have the potential for reducing latency.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390D4D-92D4-51C7-09D6-3F85A07B43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Software Architecture</a:t>
            </a:r>
            <a:endParaRPr lang="en-AU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CF9BBFC7-2C1B-AE90-9DD6-26C16E760C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61048"/>
            <a:ext cx="9144000" cy="9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83164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Manage Resources </a:t>
            </a:r>
            <a:r>
              <a:rPr lang="zh-CN" altLang="en-US" dirty="0"/>
              <a:t>管理资源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chemeClr val="tx2"/>
                </a:solidFill>
              </a:rPr>
              <a:t>Increase Concurrency</a:t>
            </a:r>
            <a:r>
              <a:rPr lang="en-US" dirty="0"/>
              <a:t>: If requests can be processed in parallel, the blocked time can be reduced.</a:t>
            </a:r>
          </a:p>
          <a:p>
            <a:r>
              <a:rPr lang="en-US" dirty="0"/>
              <a:t>Concurrency can be introduced by processing different streams of events on different threads 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Software Architecture</a:t>
            </a:r>
            <a:endParaRPr lang="en-AU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41E41508-BAD4-DBE2-EA8A-3D060C287A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725144"/>
            <a:ext cx="9144000" cy="109632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Manage Resources </a:t>
            </a:r>
            <a:r>
              <a:rPr lang="zh-CN" altLang="en-US" dirty="0"/>
              <a:t>管理资源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68760"/>
            <a:ext cx="8507288" cy="4857403"/>
          </a:xfrm>
        </p:spPr>
        <p:txBody>
          <a:bodyPr>
            <a:normAutofit/>
          </a:bodyPr>
          <a:lstStyle/>
          <a:p>
            <a:r>
              <a:rPr lang="en-US" altLang="zh-CN" b="1" dirty="0">
                <a:solidFill>
                  <a:schemeClr val="accent1"/>
                </a:solidFill>
              </a:rPr>
              <a:t>Maintain Multiple Copies of Computations</a:t>
            </a:r>
            <a:r>
              <a:rPr lang="zh-CN" altLang="en-US" dirty="0"/>
              <a:t>：</a:t>
            </a:r>
            <a:r>
              <a:rPr lang="en-US" dirty="0"/>
              <a:t>The purpose of replicas is to reduce the resource contention on a single server</a:t>
            </a:r>
          </a:p>
          <a:p>
            <a:r>
              <a:rPr lang="en-US" dirty="0"/>
              <a:t>Load balancer assigns new work to one of the duplicate server</a:t>
            </a:r>
          </a:p>
          <a:p>
            <a:pPr marL="457200" lvl="1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Software Architecture</a:t>
            </a:r>
            <a:endParaRPr lang="en-AU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4874" y="3434236"/>
            <a:ext cx="4451939" cy="340389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66650F1-19C4-71C2-C6EA-84A9E0852C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Manage Resources </a:t>
            </a:r>
            <a:r>
              <a:rPr lang="zh-CN" altLang="en-US" dirty="0"/>
              <a:t>管理资源</a:t>
            </a:r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FC335F8B-8CEF-0B32-EC33-9007AE6DD92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2926414"/>
            <a:ext cx="8229600" cy="1541748"/>
          </a:xfrm>
          <a:prstGeom prst="rect">
            <a:avLst/>
          </a:prstGeom>
        </p:spPr>
      </p:pic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052FF68-728F-D029-C6E9-45FA5A4E2B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Software Architecture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91667919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Manage Resources </a:t>
            </a:r>
            <a:r>
              <a:rPr lang="zh-CN" altLang="en-US" dirty="0"/>
              <a:t>管理资源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68760"/>
            <a:ext cx="8507288" cy="4857403"/>
          </a:xfrm>
        </p:spPr>
        <p:txBody>
          <a:bodyPr>
            <a:normAutofit fontScale="90000" lnSpcReduction="10000"/>
          </a:bodyPr>
          <a:lstStyle/>
          <a:p>
            <a:r>
              <a:rPr lang="en-US" b="1" dirty="0">
                <a:solidFill>
                  <a:schemeClr val="tx2"/>
                </a:solidFill>
              </a:rPr>
              <a:t>Data caching </a:t>
            </a:r>
            <a:r>
              <a:rPr lang="en-US" dirty="0"/>
              <a:t>is to keep copies of data on storage with different access speeds.  </a:t>
            </a:r>
          </a:p>
          <a:p>
            <a:pPr lvl="1"/>
            <a:r>
              <a:rPr lang="en-US" dirty="0"/>
              <a:t>E.g., memory access </a:t>
            </a:r>
            <a:r>
              <a:rPr lang="en-US" dirty="0" err="1"/>
              <a:t>v.s</a:t>
            </a:r>
            <a:r>
              <a:rPr lang="en-US" dirty="0"/>
              <a:t>. disk access</a:t>
            </a:r>
          </a:p>
          <a:p>
            <a:pPr lvl="1"/>
            <a:r>
              <a:rPr lang="en-US" dirty="0"/>
              <a:t>Local access </a:t>
            </a:r>
            <a:r>
              <a:rPr lang="en-US" dirty="0" err="1"/>
              <a:t>v.s</a:t>
            </a:r>
            <a:r>
              <a:rPr lang="en-US" dirty="0"/>
              <a:t>. remote access via networks</a:t>
            </a:r>
          </a:p>
          <a:p>
            <a:r>
              <a:rPr lang="en-US" b="1" dirty="0">
                <a:solidFill>
                  <a:schemeClr val="tx2"/>
                </a:solidFill>
              </a:rPr>
              <a:t>Data replication </a:t>
            </a:r>
            <a:r>
              <a:rPr lang="en-US" dirty="0"/>
              <a:t>is to keep separate copies of data to reduce the contention from multiple simultaneous accesses</a:t>
            </a:r>
          </a:p>
          <a:p>
            <a:r>
              <a:rPr lang="en-US" dirty="0"/>
              <a:t>How to choose the data to be cached/replicated</a:t>
            </a:r>
          </a:p>
          <a:p>
            <a:pPr lvl="1"/>
            <a:r>
              <a:rPr lang="en-US" sz="2800" dirty="0"/>
              <a:t>frequently accessed</a:t>
            </a:r>
            <a:endParaRPr lang="en-US" dirty="0"/>
          </a:p>
          <a:p>
            <a:r>
              <a:rPr lang="en-US" dirty="0"/>
              <a:t>How to guarantee the consistency of multiple copies</a:t>
            </a:r>
          </a:p>
          <a:p>
            <a:pPr lvl="1"/>
            <a:r>
              <a:rPr lang="en-US" dirty="0"/>
              <a:t>Strong Consistency/Eventual Consistency 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Software Architecture</a:t>
            </a:r>
            <a:endParaRPr lang="en-A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Manage Resources </a:t>
            </a:r>
            <a:r>
              <a:rPr lang="zh-CN" altLang="en-US" dirty="0"/>
              <a:t>管理资源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b="1" dirty="0">
                <a:solidFill>
                  <a:schemeClr val="accent1"/>
                </a:solidFill>
              </a:rPr>
              <a:t>Scheduling</a:t>
            </a:r>
            <a:r>
              <a:rPr lang="en-US" altLang="zh-CN" dirty="0"/>
              <a:t>: </a:t>
            </a:r>
            <a:r>
              <a:rPr lang="en-US" dirty="0"/>
              <a:t>When there is contention for a resource, the resource must be scheduled. </a:t>
            </a:r>
          </a:p>
          <a:p>
            <a:pPr lvl="1"/>
            <a:r>
              <a:rPr lang="en-US" dirty="0"/>
              <a:t>Processors needs to be scheduled</a:t>
            </a:r>
          </a:p>
          <a:p>
            <a:pPr lvl="1"/>
            <a:r>
              <a:rPr lang="en-US" dirty="0"/>
              <a:t>Buffers needs to be scheduled</a:t>
            </a:r>
          </a:p>
          <a:p>
            <a:pPr lvl="1"/>
            <a:r>
              <a:rPr lang="en-US" dirty="0"/>
              <a:t>Networks are scheduled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Software Architecture</a:t>
            </a:r>
            <a:endParaRPr lang="en-AU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37C9A805-CB5E-C892-1542-8FC6522ED6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293096"/>
            <a:ext cx="9144000" cy="106877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4022C81-C4BD-A88E-818A-556843BB82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Manage Resources </a:t>
            </a:r>
            <a:r>
              <a:rPr lang="zh-CN" altLang="en-US" dirty="0"/>
              <a:t>管理资源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899ADB2-465E-7501-324E-A3D093B5B9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8C4440D-8289-E3C3-563E-CE8AEA3F60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Software Architecture</a:t>
            </a:r>
            <a:endParaRPr lang="en-AU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E91F5A32-5E7A-ED4B-480A-C33C8B6DDA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512" y="2708920"/>
            <a:ext cx="8964488" cy="1411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467735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C06D63-6860-B328-45BF-297F6BD638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A7DAFE5-9D9F-BC92-F959-D2294F472D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Manage Resources </a:t>
            </a:r>
            <a:r>
              <a:rPr lang="zh-CN" altLang="en-US" dirty="0"/>
              <a:t>管理资源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4B55D52-A259-D431-80D7-8E378F4D0F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F365D50-E1EB-AE74-1F3A-AEA4ED6829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Software Architecture</a:t>
            </a:r>
            <a:endParaRPr lang="en-AU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D11D9472-6DF4-EF89-8486-A8B6F4E52D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44824"/>
            <a:ext cx="9144000" cy="3544186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C2ADBDFE-59C2-3AC0-56D6-D731F8C006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577" y="5361917"/>
            <a:ext cx="3600400" cy="303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761483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286431-BDFC-2DA1-03AB-F5183219EE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61EDEAB-9BF9-5E13-B3B0-D6306AA3A4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Manage Resources </a:t>
            </a:r>
            <a:r>
              <a:rPr lang="zh-CN" altLang="en-US" dirty="0"/>
              <a:t>管理资源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460D0F5-CFF7-7465-B4E8-1666ECF1B8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20F9E07-0748-6785-4567-05EC33BBC9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Software Architecture</a:t>
            </a:r>
            <a:endParaRPr lang="en-AU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0E7AEE8B-F4F8-5A70-4D6B-67889B8982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93966"/>
            <a:ext cx="9144000" cy="2470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813435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Performance Tactics on the Road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zh-CN" altLang="en-US" sz="1800" b="1">
                <a:solidFill>
                  <a:srgbClr val="C00000"/>
                </a:solidFill>
              </a:rPr>
              <a:t>Manage event rate</a:t>
            </a:r>
            <a:r>
              <a:rPr lang="zh-CN" altLang="en-US" sz="1800"/>
              <a:t>. </a:t>
            </a:r>
            <a:r>
              <a:rPr lang="zh-CN" altLang="en-US" sz="1800" b="1">
                <a:solidFill>
                  <a:schemeClr val="tx1"/>
                </a:solidFill>
              </a:rPr>
              <a:t>Lights</a:t>
            </a:r>
            <a:r>
              <a:rPr lang="zh-CN" altLang="en-US" sz="1800"/>
              <a:t> on highway entrance ramps let cars onto the</a:t>
            </a:r>
            <a:r>
              <a:rPr lang="en-US" altLang="zh-CN" sz="1800"/>
              <a:t> </a:t>
            </a:r>
            <a:r>
              <a:rPr lang="zh-CN" altLang="en-US" sz="1800"/>
              <a:t>highway only at set intervals, and cars must wait (queue) on the ramp for</a:t>
            </a:r>
            <a:r>
              <a:rPr lang="en-US" altLang="zh-CN" sz="1800"/>
              <a:t> </a:t>
            </a:r>
            <a:r>
              <a:rPr lang="zh-CN" altLang="en-US" sz="1800"/>
              <a:t>their turn.</a:t>
            </a:r>
          </a:p>
          <a:p>
            <a:r>
              <a:rPr lang="zh-CN" altLang="en-US" sz="1800" b="1">
                <a:solidFill>
                  <a:srgbClr val="C00000"/>
                </a:solidFill>
              </a:rPr>
              <a:t>Prioritize events</a:t>
            </a:r>
            <a:r>
              <a:rPr lang="zh-CN" altLang="en-US" sz="1800"/>
              <a:t>. </a:t>
            </a:r>
            <a:r>
              <a:rPr lang="zh-CN" altLang="en-US" sz="1800" b="1"/>
              <a:t>Ambulances and police</a:t>
            </a:r>
            <a:r>
              <a:rPr lang="zh-CN" altLang="en-US" sz="1800"/>
              <a:t>, with their lights and sirens</a:t>
            </a:r>
            <a:r>
              <a:rPr lang="en-US" altLang="zh-CN" sz="1800"/>
              <a:t> </a:t>
            </a:r>
            <a:r>
              <a:rPr lang="zh-CN" altLang="en-US" sz="1800"/>
              <a:t>going, have higher priority than ordinary citizens; some highways have</a:t>
            </a:r>
            <a:r>
              <a:rPr lang="en-US" altLang="zh-CN" sz="1800"/>
              <a:t> </a:t>
            </a:r>
            <a:r>
              <a:rPr lang="zh-CN" altLang="en-US" sz="1800"/>
              <a:t>high-occupancy vehicle (HOV) lanes, giving priority to vehicles with two</a:t>
            </a:r>
            <a:r>
              <a:rPr lang="en-US" altLang="zh-CN" sz="1800"/>
              <a:t> </a:t>
            </a:r>
            <a:r>
              <a:rPr lang="zh-CN" altLang="en-US" sz="1800"/>
              <a:t>or more occupants.</a:t>
            </a:r>
          </a:p>
          <a:p>
            <a:r>
              <a:rPr lang="zh-CN" altLang="en-US" sz="1800" b="1">
                <a:solidFill>
                  <a:srgbClr val="C00000"/>
                </a:solidFill>
              </a:rPr>
              <a:t>Maintain multiple copies</a:t>
            </a:r>
            <a:r>
              <a:rPr lang="zh-CN" altLang="en-US" sz="1800"/>
              <a:t>. Add </a:t>
            </a:r>
            <a:r>
              <a:rPr lang="zh-CN" altLang="en-US" sz="1800" b="1"/>
              <a:t>traffic lanes</a:t>
            </a:r>
            <a:r>
              <a:rPr lang="zh-CN" altLang="en-US" sz="1800"/>
              <a:t> to existing roads, or build</a:t>
            </a:r>
            <a:r>
              <a:rPr lang="en-US" altLang="zh-CN" sz="1800"/>
              <a:t> </a:t>
            </a:r>
            <a:r>
              <a:rPr lang="zh-CN" altLang="en-US" sz="1800"/>
              <a:t>parallel routes.</a:t>
            </a:r>
            <a:r>
              <a:rPr lang="en-US" altLang="zh-CN" sz="1800"/>
              <a:t> </a:t>
            </a:r>
            <a:r>
              <a:rPr lang="zh-CN" altLang="en-US" sz="1800"/>
              <a:t>In addition, there are some tricks that users of the system can employ:</a:t>
            </a:r>
          </a:p>
          <a:p>
            <a:r>
              <a:rPr lang="zh-CN" altLang="en-US" sz="1800" b="1">
                <a:solidFill>
                  <a:srgbClr val="C00000"/>
                </a:solidFill>
              </a:rPr>
              <a:t>Increase resources</a:t>
            </a:r>
            <a:r>
              <a:rPr lang="zh-CN" altLang="en-US" sz="1800"/>
              <a:t>. Buy a </a:t>
            </a:r>
            <a:r>
              <a:rPr lang="zh-CN" altLang="en-US" sz="1800" b="1"/>
              <a:t>Ferrari</a:t>
            </a:r>
            <a:r>
              <a:rPr lang="zh-CN" altLang="en-US" sz="1800"/>
              <a:t>, for example. All other things being</a:t>
            </a:r>
            <a:r>
              <a:rPr lang="en-US" altLang="zh-CN" sz="1800"/>
              <a:t> </a:t>
            </a:r>
            <a:r>
              <a:rPr lang="zh-CN" altLang="en-US" sz="1800"/>
              <a:t>equal, the fastest car with a competent driver on an open road will get</a:t>
            </a:r>
            <a:r>
              <a:rPr lang="en-US" altLang="zh-CN" sz="1800"/>
              <a:t> </a:t>
            </a:r>
            <a:r>
              <a:rPr lang="zh-CN" altLang="en-US" sz="1800"/>
              <a:t>you to your destination more quickly.</a:t>
            </a:r>
          </a:p>
          <a:p>
            <a:r>
              <a:rPr lang="zh-CN" altLang="en-US" sz="1800" b="1">
                <a:solidFill>
                  <a:srgbClr val="C00000"/>
                </a:solidFill>
              </a:rPr>
              <a:t>Increase efficiency</a:t>
            </a:r>
            <a:r>
              <a:rPr lang="zh-CN" altLang="en-US" sz="1800"/>
              <a:t>. Find a new route that is quicker and/or </a:t>
            </a:r>
            <a:r>
              <a:rPr lang="zh-CN" altLang="en-US" sz="1800" b="1"/>
              <a:t>shorter</a:t>
            </a:r>
            <a:r>
              <a:rPr lang="zh-CN" altLang="en-US" sz="1800"/>
              <a:t> than</a:t>
            </a:r>
            <a:r>
              <a:rPr lang="en-US" altLang="zh-CN" sz="1800"/>
              <a:t> </a:t>
            </a:r>
            <a:r>
              <a:rPr lang="zh-CN" altLang="en-US" sz="1800"/>
              <a:t>your current route.</a:t>
            </a:r>
          </a:p>
          <a:p>
            <a:r>
              <a:rPr lang="zh-CN" altLang="en-US" sz="1800" b="1">
                <a:solidFill>
                  <a:srgbClr val="C00000"/>
                </a:solidFill>
              </a:rPr>
              <a:t>Reduce computational overhead</a:t>
            </a:r>
            <a:r>
              <a:rPr lang="zh-CN" altLang="en-US" sz="1800"/>
              <a:t>. You can </a:t>
            </a:r>
            <a:r>
              <a:rPr lang="zh-CN" altLang="en-US" sz="1800" b="1"/>
              <a:t>drive closer</a:t>
            </a:r>
            <a:r>
              <a:rPr lang="zh-CN" altLang="en-US" sz="1800"/>
              <a:t> to the car in</a:t>
            </a:r>
            <a:r>
              <a:rPr lang="en-US" altLang="zh-CN" sz="1800"/>
              <a:t> </a:t>
            </a:r>
            <a:r>
              <a:rPr lang="zh-CN" altLang="en-US" sz="1800"/>
              <a:t>front of you, or you can </a:t>
            </a:r>
            <a:r>
              <a:rPr lang="zh-CN" altLang="en-US" sz="1800" b="1"/>
              <a:t>load more people</a:t>
            </a:r>
            <a:r>
              <a:rPr lang="zh-CN" altLang="en-US" sz="1800"/>
              <a:t> into the same vehicle (that is,</a:t>
            </a:r>
            <a:r>
              <a:rPr lang="en-US" altLang="zh-CN" sz="1800"/>
              <a:t> </a:t>
            </a:r>
            <a:r>
              <a:rPr lang="zh-CN" altLang="en-US" sz="1800"/>
              <a:t>carpooling).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Software Architecture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2738893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E6495F7-E80C-B905-86C4-CC5FFC5F56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Performance Tactics on the Road</a:t>
            </a:r>
            <a:endParaRPr lang="zh-CN" altLang="en-US" dirty="0"/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457623BC-66C6-52E1-61AB-171FEC2E7F6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47803" y="1196752"/>
            <a:ext cx="7248393" cy="5217443"/>
          </a:xfrm>
          <a:prstGeom prst="rect">
            <a:avLst/>
          </a:prstGeom>
        </p:spPr>
      </p:pic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7AA07D5-FF66-CBFB-4129-963912FEDD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Software Architecture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24000448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2412" y="1196752"/>
            <a:ext cx="8791575" cy="685800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en-US" altLang="zh-CN" sz="3200" dirty="0">
                <a:solidFill>
                  <a:srgbClr val="C00000"/>
                </a:solidFill>
              </a:rPr>
              <a:t>3-Dimension Framework for Scheduling Problem</a:t>
            </a:r>
            <a:endParaRPr lang="zh-CN" altLang="en-US" sz="3200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 noChangeArrowheads="1"/>
          </p:cNvSpPr>
          <p:nvPr>
            <p:ph idx="1"/>
          </p:nvPr>
        </p:nvSpPr>
        <p:spPr>
          <a:xfrm>
            <a:off x="152400" y="2209800"/>
            <a:ext cx="8991600" cy="4191000"/>
          </a:xfrm>
        </p:spPr>
        <p:txBody>
          <a:bodyPr/>
          <a:lstStyle/>
          <a:p>
            <a:pPr marL="742950" indent="-742950" algn="ctr">
              <a:buFont typeface="Wingdings" panose="05000000000000000000" pitchFamily="2" charset="2"/>
              <a:buAutoNum type="arabicPeriod"/>
            </a:pPr>
            <a:r>
              <a:rPr lang="en-US" altLang="zh-CN" dirty="0">
                <a:latin typeface="Times New Roman" panose="02020603050405020304" charset="0"/>
                <a:cs typeface="Times New Roman" panose="02020603050405020304" charset="0"/>
              </a:rPr>
              <a:t>Tasks</a:t>
            </a:r>
          </a:p>
          <a:p>
            <a:pPr marL="742950" indent="-742950" algn="ctr">
              <a:buFont typeface="Wingdings" panose="05000000000000000000" pitchFamily="2" charset="2"/>
              <a:buAutoNum type="arabicPeriod"/>
            </a:pPr>
            <a:r>
              <a:rPr lang="en-US" altLang="zh-CN" dirty="0">
                <a:latin typeface="Times New Roman" panose="02020603050405020304" charset="0"/>
                <a:cs typeface="Times New Roman" panose="02020603050405020304" charset="0"/>
              </a:rPr>
              <a:t>Resources</a:t>
            </a:r>
          </a:p>
          <a:p>
            <a:pPr marL="742950" indent="-742950" algn="ctr">
              <a:buFont typeface="Wingdings" panose="05000000000000000000" pitchFamily="2" charset="2"/>
              <a:buAutoNum type="arabicPeriod"/>
            </a:pPr>
            <a:r>
              <a:rPr lang="en-US" altLang="zh-CN" dirty="0">
                <a:latin typeface="Times New Roman" panose="02020603050405020304" charset="0"/>
                <a:cs typeface="Times New Roman" panose="02020603050405020304" charset="0"/>
              </a:rPr>
              <a:t>Objectives</a:t>
            </a:r>
          </a:p>
          <a:p>
            <a:pPr marL="0" indent="0" algn="ctr">
              <a:buNone/>
            </a:pPr>
            <a:endParaRPr lang="en-US" altLang="zh-CN" sz="2800" dirty="0"/>
          </a:p>
          <a:p>
            <a:pPr marL="0" indent="0" algn="ctr">
              <a:buNone/>
            </a:pPr>
            <a:r>
              <a:rPr lang="zh-CN" altLang="zh-CN" sz="2400" dirty="0"/>
              <a:t>调度问题 = 什么样的任务（Tasks），放在什么样的资源上（Resources），要优化什么目标（Objectives）。</a:t>
            </a:r>
            <a:endParaRPr lang="zh-CN" altLang="en-US" sz="24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Software Architecture</a:t>
            </a:r>
            <a:endParaRPr lang="en-A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>
                <a:solidFill>
                  <a:srgbClr val="C00000"/>
                </a:solidFill>
              </a:rPr>
              <a:t>Task Model</a:t>
            </a:r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29699" name="内容占位符 2"/>
          <p:cNvSpPr>
            <a:spLocks noGrp="1"/>
          </p:cNvSpPr>
          <p:nvPr>
            <p:ph idx="1"/>
          </p:nvPr>
        </p:nvSpPr>
        <p:spPr>
          <a:xfrm>
            <a:off x="508000" y="1102006"/>
            <a:ext cx="5029200" cy="510540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altLang="zh-CN" sz="2800" dirty="0">
                <a:latin typeface="Times New Roman" panose="02020603050405020304" charset="0"/>
                <a:cs typeface="Times New Roman" panose="02020603050405020304" charset="0"/>
              </a:rPr>
              <a:t>Bag of tasks </a:t>
            </a:r>
          </a:p>
          <a:p>
            <a:pPr>
              <a:defRPr/>
            </a:pPr>
            <a:r>
              <a:rPr lang="en-US" altLang="zh-CN" sz="2800" dirty="0">
                <a:latin typeface="Times New Roman" panose="02020603050405020304" charset="0"/>
                <a:cs typeface="Times New Roman" panose="02020603050405020304" charset="0"/>
              </a:rPr>
              <a:t>Directed Acyclic Graph (DAG)</a:t>
            </a:r>
          </a:p>
          <a:p>
            <a:pPr>
              <a:defRPr/>
            </a:pPr>
            <a:r>
              <a:rPr lang="en-US" altLang="zh-CN" sz="2800" dirty="0">
                <a:latin typeface="Times New Roman" panose="02020603050405020304" charset="0"/>
                <a:cs typeface="Times New Roman" panose="02020603050405020304" charset="0"/>
              </a:rPr>
              <a:t>Periodic/cyclic tasks</a:t>
            </a:r>
          </a:p>
          <a:p>
            <a:pPr>
              <a:defRPr/>
            </a:pPr>
            <a:endParaRPr lang="en-US" altLang="zh-CN" sz="2800" dirty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defRPr/>
            </a:pPr>
            <a:r>
              <a:rPr lang="en-US" altLang="zh-CN" sz="2800" dirty="0">
                <a:latin typeface="Times New Roman" panose="02020603050405020304" charset="0"/>
                <a:cs typeface="Times New Roman" panose="02020603050405020304" charset="0"/>
              </a:rPr>
              <a:t>Task properties</a:t>
            </a:r>
          </a:p>
          <a:p>
            <a:pPr lvl="1">
              <a:buFontTx/>
              <a:buChar char="-"/>
              <a:defRPr/>
            </a:pPr>
            <a:r>
              <a:rPr lang="en-US" altLang="zh-CN" sz="2400" dirty="0">
                <a:latin typeface="Times New Roman" panose="02020603050405020304" charset="0"/>
                <a:cs typeface="Times New Roman" panose="02020603050405020304" charset="0"/>
              </a:rPr>
              <a:t>Execution cost</a:t>
            </a:r>
          </a:p>
          <a:p>
            <a:pPr lvl="1">
              <a:buFontTx/>
              <a:buChar char="-"/>
              <a:defRPr/>
            </a:pPr>
            <a:r>
              <a:rPr lang="en-US" altLang="zh-CN" sz="2400" dirty="0">
                <a:latin typeface="Times New Roman" panose="02020603050405020304" charset="0"/>
                <a:cs typeface="Times New Roman" panose="02020603050405020304" charset="0"/>
              </a:rPr>
              <a:t>Transmission cost</a:t>
            </a:r>
          </a:p>
          <a:p>
            <a:pPr lvl="1">
              <a:buFontTx/>
              <a:buChar char="-"/>
              <a:defRPr/>
            </a:pPr>
            <a:r>
              <a:rPr lang="en-US" altLang="zh-CN" sz="2400" dirty="0">
                <a:latin typeface="Times New Roman" panose="02020603050405020304" charset="0"/>
                <a:cs typeface="Times New Roman" panose="02020603050405020304" charset="0"/>
              </a:rPr>
              <a:t>Arrival time </a:t>
            </a:r>
          </a:p>
          <a:p>
            <a:pPr lvl="1">
              <a:buFontTx/>
              <a:buChar char="-"/>
              <a:defRPr/>
            </a:pPr>
            <a:r>
              <a:rPr lang="en-US" altLang="zh-CN" sz="2400" dirty="0">
                <a:latin typeface="Times New Roman" panose="02020603050405020304" charset="0"/>
                <a:cs typeface="Times New Roman" panose="02020603050405020304" charset="0"/>
              </a:rPr>
              <a:t>Deadline</a:t>
            </a:r>
          </a:p>
          <a:p>
            <a:pPr marL="400050" lvl="1" indent="0">
              <a:buFont typeface="Wingdings" panose="05000000000000000000" pitchFamily="2" charset="2"/>
              <a:buNone/>
              <a:defRPr/>
            </a:pPr>
            <a:r>
              <a:rPr lang="en-US" altLang="zh-CN" sz="2400" dirty="0">
                <a:latin typeface="Times New Roman" panose="02020603050405020304" charset="0"/>
                <a:cs typeface="Times New Roman" panose="02020603050405020304" charset="0"/>
              </a:rPr>
              <a:t> -  Preemptive or non-preemptive …</a:t>
            </a:r>
            <a:endParaRPr lang="en-US" altLang="zh-CN" sz="20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2150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2160" y="44624"/>
            <a:ext cx="3101975" cy="3179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Software Architecture</a:t>
            </a:r>
            <a:endParaRPr lang="en-AU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2C8B1860-F67D-9260-209D-EDCB63E883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1920" y="3176264"/>
            <a:ext cx="4989678" cy="22482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533400"/>
            <a:ext cx="8791575" cy="685800"/>
          </a:xfrm>
        </p:spPr>
        <p:txBody>
          <a:bodyPr/>
          <a:lstStyle/>
          <a:p>
            <a:pPr>
              <a:defRPr/>
            </a:pPr>
            <a:r>
              <a:rPr lang="en-US" altLang="zh-CN" dirty="0">
                <a:solidFill>
                  <a:srgbClr val="C00000"/>
                </a:solidFill>
              </a:rPr>
              <a:t>Resource Model</a:t>
            </a:r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22531" name="内容占位符 2"/>
          <p:cNvSpPr>
            <a:spLocks noGrp="1" noChangeArrowheads="1"/>
          </p:cNvSpPr>
          <p:nvPr>
            <p:ph idx="1"/>
          </p:nvPr>
        </p:nvSpPr>
        <p:spPr>
          <a:xfrm>
            <a:off x="304800" y="1219200"/>
            <a:ext cx="8610600" cy="4953000"/>
          </a:xfrm>
        </p:spPr>
        <p:txBody>
          <a:bodyPr>
            <a:normAutofit fontScale="97500" lnSpcReduction="10000"/>
          </a:bodyPr>
          <a:lstStyle/>
          <a:p>
            <a:r>
              <a:rPr lang="en-US" altLang="zh-CN" sz="3200" dirty="0">
                <a:latin typeface="Times New Roman" panose="02020603050405020304" charset="0"/>
                <a:cs typeface="Times New Roman" panose="02020603050405020304" charset="0"/>
              </a:rPr>
              <a:t>The resources include a set of machines/processors which are connected by networks</a:t>
            </a:r>
          </a:p>
          <a:p>
            <a:r>
              <a:rPr lang="en-US" altLang="zh-CN" sz="3200" dirty="0">
                <a:latin typeface="Times New Roman" panose="02020603050405020304" charset="0"/>
                <a:cs typeface="Times New Roman" panose="02020603050405020304" charset="0"/>
              </a:rPr>
              <a:t>Machine/processor model </a:t>
            </a:r>
          </a:p>
          <a:p>
            <a:pPr lvl="1"/>
            <a:r>
              <a:rPr lang="en-US" altLang="zh-CN" sz="2400" dirty="0">
                <a:latin typeface="Times New Roman" panose="02020603050405020304" charset="0"/>
                <a:cs typeface="Times New Roman" panose="02020603050405020304" charset="0"/>
              </a:rPr>
              <a:t>Processing capability/speed, energy consumption</a:t>
            </a:r>
          </a:p>
          <a:p>
            <a:pPr lvl="2"/>
            <a:r>
              <a:rPr lang="en-US" altLang="zh-CN" sz="1760" dirty="0">
                <a:latin typeface="Times New Roman" panose="02020603050405020304" charset="0"/>
                <a:cs typeface="Times New Roman" panose="02020603050405020304" charset="0"/>
              </a:rPr>
              <a:t>通常涉及任务调度、负载均衡和资源分配等，提高计算效率和降低能耗</a:t>
            </a:r>
          </a:p>
          <a:p>
            <a:r>
              <a:rPr lang="en-US" altLang="zh-CN" sz="3200" dirty="0">
                <a:latin typeface="Times New Roman" panose="02020603050405020304" charset="0"/>
                <a:cs typeface="Times New Roman" panose="02020603050405020304" charset="0"/>
              </a:rPr>
              <a:t>Network model</a:t>
            </a:r>
          </a:p>
          <a:p>
            <a:pPr lvl="1"/>
            <a:r>
              <a:rPr lang="en-US" altLang="zh-CN" sz="2400" dirty="0">
                <a:latin typeface="Times New Roman" panose="02020603050405020304" charset="0"/>
                <a:cs typeface="Times New Roman" panose="02020603050405020304" charset="0"/>
              </a:rPr>
              <a:t>Network topology</a:t>
            </a:r>
          </a:p>
          <a:p>
            <a:pPr lvl="1"/>
            <a:r>
              <a:rPr lang="en-US" altLang="zh-CN" sz="2400" dirty="0">
                <a:latin typeface="Times New Roman" panose="02020603050405020304" charset="0"/>
                <a:cs typeface="Times New Roman" panose="02020603050405020304" charset="0"/>
              </a:rPr>
              <a:t>Bandwidths</a:t>
            </a:r>
          </a:p>
          <a:p>
            <a:pPr lvl="1"/>
            <a:r>
              <a:rPr lang="en-US" altLang="zh-CN" sz="2400" dirty="0">
                <a:latin typeface="Times New Roman" panose="02020603050405020304" charset="0"/>
                <a:cs typeface="Times New Roman" panose="02020603050405020304" charset="0"/>
              </a:rPr>
              <a:t>Messages and energy consumption  </a:t>
            </a:r>
          </a:p>
          <a:p>
            <a:pPr lvl="1"/>
            <a:r>
              <a:rPr lang="en-US" altLang="zh-CN" sz="2400" dirty="0">
                <a:latin typeface="Times New Roman" panose="02020603050405020304" charset="0"/>
                <a:cs typeface="Times New Roman" panose="02020603050405020304" charset="0"/>
              </a:rPr>
              <a:t>E.g., sensor networks, data center networks, mobile cloud</a:t>
            </a:r>
          </a:p>
          <a:p>
            <a:pPr lvl="2"/>
            <a:r>
              <a:rPr lang="en-US" altLang="zh-CN" sz="2055" dirty="0">
                <a:latin typeface="Times New Roman" panose="02020603050405020304" charset="0"/>
                <a:cs typeface="Times New Roman" panose="02020603050405020304" charset="0"/>
              </a:rPr>
              <a:t>涉及数据传输、通信效率和网络可靠性等，目的是优化数据流动和减少延迟</a:t>
            </a: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Software Architecture</a:t>
            </a:r>
            <a:endParaRPr lang="en-A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533400"/>
            <a:ext cx="8791575" cy="685800"/>
          </a:xfrm>
        </p:spPr>
        <p:txBody>
          <a:bodyPr/>
          <a:lstStyle/>
          <a:p>
            <a:pPr>
              <a:defRPr/>
            </a:pPr>
            <a:r>
              <a:rPr lang="en-US" altLang="zh-CN" dirty="0">
                <a:solidFill>
                  <a:srgbClr val="C00000"/>
                </a:solidFill>
              </a:rPr>
              <a:t>Objectives</a:t>
            </a:r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23555" name="内容占位符 2"/>
          <p:cNvSpPr>
            <a:spLocks noGrp="1" noChangeArrowheads="1"/>
          </p:cNvSpPr>
          <p:nvPr>
            <p:ph idx="1"/>
          </p:nvPr>
        </p:nvSpPr>
        <p:spPr>
          <a:xfrm>
            <a:off x="304800" y="1219200"/>
            <a:ext cx="8610600" cy="4191000"/>
          </a:xfrm>
        </p:spPr>
        <p:txBody>
          <a:bodyPr/>
          <a:lstStyle/>
          <a:p>
            <a:r>
              <a:rPr lang="en-US" altLang="zh-CN" sz="3200" dirty="0">
                <a:solidFill>
                  <a:schemeClr val="tx2"/>
                </a:solidFill>
                <a:latin typeface="Times New Roman" panose="02020603050405020304" charset="0"/>
                <a:cs typeface="Times New Roman" panose="02020603050405020304" charset="0"/>
              </a:rPr>
              <a:t>Minimize completion time</a:t>
            </a:r>
          </a:p>
          <a:p>
            <a:r>
              <a:rPr lang="en-US" altLang="zh-CN" sz="3200" dirty="0">
                <a:solidFill>
                  <a:schemeClr val="tx2"/>
                </a:solidFill>
                <a:latin typeface="Times New Roman" panose="02020603050405020304" charset="0"/>
                <a:cs typeface="Times New Roman" panose="02020603050405020304" charset="0"/>
              </a:rPr>
              <a:t>Meeting deadline</a:t>
            </a:r>
          </a:p>
          <a:p>
            <a:r>
              <a:rPr lang="en-US" altLang="zh-CN" sz="3200" dirty="0">
                <a:solidFill>
                  <a:schemeClr val="tx2"/>
                </a:solidFill>
                <a:latin typeface="Times New Roman" panose="02020603050405020304" charset="0"/>
                <a:cs typeface="Times New Roman" panose="02020603050405020304" charset="0"/>
              </a:rPr>
              <a:t>Maximize throughput</a:t>
            </a:r>
          </a:p>
          <a:p>
            <a:r>
              <a:rPr lang="en-US" altLang="zh-CN" sz="3200" dirty="0">
                <a:latin typeface="Times New Roman" panose="02020603050405020304" charset="0"/>
                <a:cs typeface="Times New Roman" panose="02020603050405020304" charset="0"/>
              </a:rPr>
              <a:t>Minimize data transmission/messages</a:t>
            </a:r>
          </a:p>
          <a:p>
            <a:r>
              <a:rPr lang="en-US" altLang="zh-CN" sz="3200" dirty="0">
                <a:latin typeface="Times New Roman" panose="02020603050405020304" charset="0"/>
                <a:cs typeface="Times New Roman" panose="02020603050405020304" charset="0"/>
              </a:rPr>
              <a:t>Minimize energy consumption</a:t>
            </a:r>
          </a:p>
          <a:p>
            <a:r>
              <a:rPr lang="en-US" altLang="zh-CN" sz="3200" dirty="0">
                <a:latin typeface="Times New Roman" panose="02020603050405020304" charset="0"/>
                <a:cs typeface="Times New Roman" panose="02020603050405020304" charset="0"/>
              </a:rPr>
              <a:t>... </a:t>
            </a: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Software Architecture</a:t>
            </a:r>
            <a:endParaRPr lang="en-A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>
                <a:solidFill>
                  <a:srgbClr val="C00000"/>
                </a:solidFill>
              </a:rPr>
              <a:t>Task Scheduling Problems</a:t>
            </a:r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25603" name="内容占位符 2"/>
          <p:cNvSpPr>
            <a:spLocks noGrp="1"/>
          </p:cNvSpPr>
          <p:nvPr>
            <p:ph idx="1"/>
          </p:nvPr>
        </p:nvSpPr>
        <p:spPr>
          <a:xfrm>
            <a:off x="381000" y="1524000"/>
            <a:ext cx="8610600" cy="4191000"/>
          </a:xfrm>
        </p:spPr>
        <p:txBody>
          <a:bodyPr/>
          <a:lstStyle/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>
                <a:solidFill>
                  <a:schemeClr val="bg1">
                    <a:lumMod val="50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FIFO/FCFS</a:t>
            </a:r>
            <a:endParaRPr lang="en-US" altLang="zh-CN" dirty="0">
              <a:solidFill>
                <a:schemeClr val="bg1">
                  <a:lumMod val="50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>
                <a:solidFill>
                  <a:schemeClr val="bg1">
                    <a:lumMod val="50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Fixed-priority scheduling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sz="3200" dirty="0">
                <a:solidFill>
                  <a:schemeClr val="bg1">
                    <a:lumMod val="5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Dynamic</a:t>
            </a:r>
            <a:r>
              <a:rPr lang="en-US" altLang="zh-CN" dirty="0">
                <a:solidFill>
                  <a:schemeClr val="bg1">
                    <a:lumMod val="50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-priority scheduling</a:t>
            </a:r>
            <a:endParaRPr lang="en-US" altLang="zh-CN" sz="32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514350" indent="-514350">
              <a:buFont typeface="Wingdings" panose="05000000000000000000" pitchFamily="2" charset="2"/>
              <a:buAutoNum type="arabicPeriod"/>
              <a:defRPr/>
            </a:pPr>
            <a:r>
              <a:rPr lang="en-US" altLang="zh-CN" sz="3200" dirty="0">
                <a:latin typeface="Times New Roman" panose="02020603050405020304" charset="0"/>
                <a:cs typeface="Times New Roman" panose="02020603050405020304" charset="0"/>
              </a:rPr>
              <a:t>Bag-of-Tasks scheduling on single processor</a:t>
            </a:r>
          </a:p>
          <a:p>
            <a:pPr marL="514350" indent="-514350">
              <a:buFont typeface="Wingdings" panose="05000000000000000000" pitchFamily="2" charset="2"/>
              <a:buAutoNum type="arabicPeriod"/>
              <a:defRPr/>
            </a:pPr>
            <a:r>
              <a:rPr lang="en-US" altLang="zh-CN" sz="3200" dirty="0">
                <a:latin typeface="Times New Roman" panose="02020603050405020304" charset="0"/>
                <a:cs typeface="Times New Roman" panose="02020603050405020304" charset="0"/>
              </a:rPr>
              <a:t>Bag-of-Tasks scheduling on multiple processors</a:t>
            </a:r>
          </a:p>
          <a:p>
            <a:pPr marL="514350" indent="-514350">
              <a:buFont typeface="Wingdings" panose="05000000000000000000" pitchFamily="2" charset="2"/>
              <a:buAutoNum type="arabicPeriod"/>
              <a:defRPr/>
            </a:pPr>
            <a:r>
              <a:rPr lang="en-US" altLang="zh-CN" sz="3200" dirty="0">
                <a:latin typeface="Times New Roman" panose="02020603050405020304" charset="0"/>
                <a:cs typeface="Times New Roman" panose="02020603050405020304" charset="0"/>
              </a:rPr>
              <a:t>DAGs scheduling on heterogeneous processors</a:t>
            </a:r>
          </a:p>
          <a:p>
            <a:pPr marL="514350" indent="-514350">
              <a:buFont typeface="Wingdings" panose="05000000000000000000" pitchFamily="2" charset="2"/>
              <a:buAutoNum type="arabicPeriod"/>
              <a:defRPr/>
            </a:pPr>
            <a:r>
              <a:rPr lang="en-US" altLang="zh-CN" sz="3200" dirty="0">
                <a:latin typeface="Times New Roman" panose="02020603050405020304" charset="0"/>
                <a:cs typeface="Times New Roman" panose="02020603050405020304" charset="0"/>
              </a:rPr>
              <a:t>Job shop scheduling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en-US" altLang="zh-CN" sz="32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514350" indent="-514350">
              <a:buFont typeface="Wingdings" panose="05000000000000000000" pitchFamily="2" charset="2"/>
              <a:buAutoNum type="arabicPeriod"/>
              <a:defRPr/>
            </a:pPr>
            <a:endParaRPr lang="en-US" altLang="zh-CN" sz="32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en-US" altLang="zh-CN" sz="32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Software Architecture</a:t>
            </a:r>
            <a:endParaRPr lang="en-AU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52400" y="596900"/>
            <a:ext cx="9372600" cy="685800"/>
          </a:xfrm>
        </p:spPr>
        <p:txBody>
          <a:bodyPr/>
          <a:lstStyle/>
          <a:p>
            <a:pPr>
              <a:defRPr/>
            </a:pPr>
            <a:r>
              <a:rPr lang="en-US" altLang="zh-CN" sz="4000" dirty="0">
                <a:solidFill>
                  <a:srgbClr val="C00000"/>
                </a:solidFill>
              </a:rPr>
              <a:t>1. Bag-of-Tasks on Single Processor</a:t>
            </a:r>
            <a:endParaRPr lang="zh-CN" altLang="en-US" sz="4000" dirty="0">
              <a:solidFill>
                <a:srgbClr val="C00000"/>
              </a:solidFill>
            </a:endParaRPr>
          </a:p>
        </p:txBody>
      </p:sp>
      <p:sp>
        <p:nvSpPr>
          <p:cNvPr id="26627" name="Rectangle 2"/>
          <p:cNvSpPr>
            <a:spLocks noChangeArrowheads="1"/>
          </p:cNvSpPr>
          <p:nvPr/>
        </p:nvSpPr>
        <p:spPr bwMode="auto">
          <a:xfrm>
            <a:off x="6096000" y="2768600"/>
            <a:ext cx="990600" cy="4953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</a:ln>
        </p:spPr>
        <p:txBody>
          <a:bodyPr wrap="none"/>
          <a:lstStyle>
            <a:lvl1pPr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3600" b="1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8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4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0">
                <a:latin typeface="Tahoma" panose="020B0604030504040204" pitchFamily="34" charset="0"/>
              </a:rPr>
              <a:t>   P</a:t>
            </a:r>
            <a:endParaRPr lang="zh-CN" altLang="en-US" sz="2400" b="0">
              <a:latin typeface="Tahoma" panose="020B0604030504040204" pitchFamily="34" charset="0"/>
            </a:endParaRPr>
          </a:p>
        </p:txBody>
      </p:sp>
      <p:sp>
        <p:nvSpPr>
          <p:cNvPr id="26628" name="Oval 4"/>
          <p:cNvSpPr>
            <a:spLocks noChangeArrowheads="1"/>
          </p:cNvSpPr>
          <p:nvPr/>
        </p:nvSpPr>
        <p:spPr bwMode="auto">
          <a:xfrm>
            <a:off x="2133600" y="1879600"/>
            <a:ext cx="457200" cy="4572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</a:ln>
        </p:spPr>
        <p:txBody>
          <a:bodyPr wrap="none"/>
          <a:lstStyle>
            <a:lvl1pPr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3600" b="1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8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4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 b="0">
              <a:latin typeface="Tahoma" panose="020B0604030504040204" pitchFamily="34" charset="0"/>
            </a:endParaRPr>
          </a:p>
        </p:txBody>
      </p:sp>
      <p:sp>
        <p:nvSpPr>
          <p:cNvPr id="26629" name="Oval 6"/>
          <p:cNvSpPr>
            <a:spLocks noChangeArrowheads="1"/>
          </p:cNvSpPr>
          <p:nvPr/>
        </p:nvSpPr>
        <p:spPr bwMode="auto">
          <a:xfrm>
            <a:off x="1676400" y="2743200"/>
            <a:ext cx="457200" cy="4572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</a:ln>
        </p:spPr>
        <p:txBody>
          <a:bodyPr wrap="none"/>
          <a:lstStyle>
            <a:lvl1pPr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3600" b="1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8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4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 b="0">
              <a:latin typeface="Tahoma" panose="020B0604030504040204" pitchFamily="34" charset="0"/>
            </a:endParaRPr>
          </a:p>
        </p:txBody>
      </p:sp>
      <p:sp>
        <p:nvSpPr>
          <p:cNvPr id="26630" name="Oval 7"/>
          <p:cNvSpPr>
            <a:spLocks noChangeArrowheads="1"/>
          </p:cNvSpPr>
          <p:nvPr/>
        </p:nvSpPr>
        <p:spPr bwMode="auto">
          <a:xfrm>
            <a:off x="1981200" y="3568700"/>
            <a:ext cx="457200" cy="4572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</a:ln>
        </p:spPr>
        <p:txBody>
          <a:bodyPr wrap="none"/>
          <a:lstStyle>
            <a:lvl1pPr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3600" b="1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8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4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 b="0">
              <a:latin typeface="Tahoma" panose="020B0604030504040204" pitchFamily="34" charset="0"/>
            </a:endParaRPr>
          </a:p>
        </p:txBody>
      </p:sp>
      <p:sp>
        <p:nvSpPr>
          <p:cNvPr id="26631" name="Oval 8"/>
          <p:cNvSpPr>
            <a:spLocks noChangeArrowheads="1"/>
          </p:cNvSpPr>
          <p:nvPr/>
        </p:nvSpPr>
        <p:spPr bwMode="auto">
          <a:xfrm>
            <a:off x="2971800" y="2311400"/>
            <a:ext cx="457200" cy="4572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</a:ln>
        </p:spPr>
        <p:txBody>
          <a:bodyPr wrap="none"/>
          <a:lstStyle>
            <a:lvl1pPr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3600" b="1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8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4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 b="0">
              <a:latin typeface="Tahoma" panose="020B0604030504040204" pitchFamily="34" charset="0"/>
            </a:endParaRPr>
          </a:p>
        </p:txBody>
      </p:sp>
      <p:sp>
        <p:nvSpPr>
          <p:cNvPr id="26632" name="Oval 9"/>
          <p:cNvSpPr>
            <a:spLocks noChangeArrowheads="1"/>
          </p:cNvSpPr>
          <p:nvPr/>
        </p:nvSpPr>
        <p:spPr bwMode="auto">
          <a:xfrm>
            <a:off x="2743200" y="3124200"/>
            <a:ext cx="457200" cy="4572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</a:ln>
        </p:spPr>
        <p:txBody>
          <a:bodyPr wrap="none"/>
          <a:lstStyle>
            <a:lvl1pPr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3600" b="1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8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4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 b="0">
              <a:latin typeface="Tahoma" panose="020B0604030504040204" pitchFamily="34" charset="0"/>
            </a:endParaRPr>
          </a:p>
        </p:txBody>
      </p:sp>
      <p:sp>
        <p:nvSpPr>
          <p:cNvPr id="26633" name="Right Arrow 5"/>
          <p:cNvSpPr>
            <a:spLocks noChangeArrowheads="1"/>
          </p:cNvSpPr>
          <p:nvPr/>
        </p:nvSpPr>
        <p:spPr bwMode="auto">
          <a:xfrm>
            <a:off x="4548188" y="2889250"/>
            <a:ext cx="609600" cy="330200"/>
          </a:xfrm>
          <a:prstGeom prst="rightArrow">
            <a:avLst>
              <a:gd name="adj1" fmla="val 50000"/>
              <a:gd name="adj2" fmla="val 50000"/>
            </a:avLst>
          </a:prstGeom>
          <a:noFill/>
          <a:ln w="9525" algn="ctr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3600" b="1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8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4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 b="0">
              <a:latin typeface="Tahoma" panose="020B0604030504040204" pitchFamily="34" charset="0"/>
            </a:endParaRPr>
          </a:p>
        </p:txBody>
      </p:sp>
      <p:sp>
        <p:nvSpPr>
          <p:cNvPr id="11" name="TextBox 10"/>
          <p:cNvSpPr txBox="1">
            <a:spLocks noChangeArrowheads="1"/>
          </p:cNvSpPr>
          <p:nvPr/>
        </p:nvSpPr>
        <p:spPr bwMode="auto">
          <a:xfrm>
            <a:off x="609600" y="4338638"/>
            <a:ext cx="841057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3600" b="1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8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4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latin typeface="Tahoma" panose="020B0604030504040204" pitchFamily="34" charset="0"/>
              </a:rPr>
              <a:t>Given</a:t>
            </a:r>
            <a:r>
              <a:rPr lang="en-US" altLang="zh-CN" sz="2400" b="0">
                <a:latin typeface="Tahoma" panose="020B0604030504040204" pitchFamily="34" charset="0"/>
              </a:rPr>
              <a:t>: </a:t>
            </a:r>
            <a:r>
              <a:rPr lang="en-US" altLang="zh-CN" sz="2400" b="0" i="1">
                <a:latin typeface="Tahoma" panose="020B0604030504040204" pitchFamily="34" charset="0"/>
              </a:rPr>
              <a:t>release time</a:t>
            </a:r>
            <a:r>
              <a:rPr lang="en-US" altLang="zh-CN" sz="2400" b="0">
                <a:latin typeface="Tahoma" panose="020B0604030504040204" pitchFamily="34" charset="0"/>
              </a:rPr>
              <a:t>, </a:t>
            </a:r>
            <a:r>
              <a:rPr lang="en-US" altLang="zh-CN" sz="2400" b="0" i="1">
                <a:latin typeface="Tahoma" panose="020B0604030504040204" pitchFamily="34" charset="0"/>
              </a:rPr>
              <a:t>workload of each task</a:t>
            </a:r>
            <a:r>
              <a:rPr lang="en-US" altLang="zh-CN" sz="2400" b="0">
                <a:latin typeface="Tahoma" panose="020B0604030504040204" pitchFamily="34" charset="0"/>
              </a:rPr>
              <a:t>, or </a:t>
            </a:r>
            <a:r>
              <a:rPr lang="en-US" altLang="zh-CN" sz="2400" b="0" i="1">
                <a:latin typeface="Tahoma" panose="020B0604030504040204" pitchFamily="34" charset="0"/>
              </a:rPr>
              <a:t>deadline</a:t>
            </a:r>
          </a:p>
        </p:txBody>
      </p:sp>
      <p:sp>
        <p:nvSpPr>
          <p:cNvPr id="13" name="TextBox 12"/>
          <p:cNvSpPr txBox="1">
            <a:spLocks noChangeArrowheads="1"/>
          </p:cNvSpPr>
          <p:nvPr/>
        </p:nvSpPr>
        <p:spPr bwMode="auto">
          <a:xfrm>
            <a:off x="609600" y="4811713"/>
            <a:ext cx="84105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3600" b="1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8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4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0">
                <a:latin typeface="Tahoma" panose="020B0604030504040204" pitchFamily="34" charset="0"/>
              </a:rPr>
              <a:t>To determine </a:t>
            </a:r>
            <a:r>
              <a:rPr lang="en-US" altLang="zh-CN" sz="2400">
                <a:latin typeface="Tahoma" panose="020B0604030504040204" pitchFamily="34" charset="0"/>
              </a:rPr>
              <a:t>when</a:t>
            </a:r>
            <a:r>
              <a:rPr lang="en-US" altLang="zh-CN" sz="2400" b="0">
                <a:latin typeface="Tahoma" panose="020B0604030504040204" pitchFamily="34" charset="0"/>
              </a:rPr>
              <a:t> each task is executed</a:t>
            </a:r>
          </a:p>
        </p:txBody>
      </p:sp>
      <p:sp>
        <p:nvSpPr>
          <p:cNvPr id="14" name="TextBox 13"/>
          <p:cNvSpPr txBox="1">
            <a:spLocks noChangeArrowheads="1"/>
          </p:cNvSpPr>
          <p:nvPr/>
        </p:nvSpPr>
        <p:spPr bwMode="auto">
          <a:xfrm>
            <a:off x="609600" y="5341938"/>
            <a:ext cx="8077200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3600" b="1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8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4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latin typeface="Tahoma" panose="020B0604030504040204" pitchFamily="34" charset="0"/>
              </a:rPr>
              <a:t>Objectives</a:t>
            </a:r>
            <a:r>
              <a:rPr lang="en-US" altLang="zh-CN" sz="2400" b="0">
                <a:latin typeface="Tahoma" panose="020B0604030504040204" pitchFamily="34" charset="0"/>
              </a:rPr>
              <a:t>: </a:t>
            </a:r>
            <a:r>
              <a:rPr lang="en-US" altLang="zh-CN" sz="2400" b="0" i="1">
                <a:latin typeface="Tahoma" panose="020B0604030504040204" pitchFamily="34" charset="0"/>
              </a:rPr>
              <a:t>average completion time of the tasks</a:t>
            </a:r>
            <a:r>
              <a:rPr lang="en-US" altLang="zh-CN" sz="2400" b="0">
                <a:latin typeface="Tahoma" panose="020B0604030504040204" pitchFamily="34" charset="0"/>
              </a:rPr>
              <a:t>, or </a:t>
            </a:r>
            <a:r>
              <a:rPr lang="en-US" altLang="zh-CN" sz="2400" b="0" i="1">
                <a:latin typeface="Tahoma" panose="020B0604030504040204" pitchFamily="34" charset="0"/>
              </a:rPr>
              <a:t>meeting deadlines</a:t>
            </a: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Software Architecture</a:t>
            </a:r>
            <a:endParaRPr lang="en-A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3" grpId="0"/>
      <p:bldP spid="14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altLang="zh-CN" sz="2400"/>
              <a:t>T</a:t>
            </a:r>
            <a:r>
              <a:rPr lang="zh-CN" altLang="en-US" sz="2400"/>
              <a:t>he execution order of tasks is important for several reasons:</a:t>
            </a:r>
          </a:p>
          <a:p>
            <a:pPr marL="0" indent="0">
              <a:buNone/>
            </a:pPr>
            <a:r>
              <a:rPr lang="zh-CN" altLang="en-US" sz="2400" b="1"/>
              <a:t>1. Waiting Time</a:t>
            </a:r>
          </a:p>
          <a:p>
            <a:r>
              <a:rPr lang="zh-CN" altLang="en-US" sz="2400"/>
              <a:t>FCFS (First-Come, First-Served): Tasks are executed in the order they arrive, which can lead to longer average waiting times, especially if the first task is lengthy.</a:t>
            </a:r>
          </a:p>
          <a:p>
            <a:r>
              <a:rPr lang="zh-CN" altLang="en-US" sz="2400"/>
              <a:t>SJF (Shortest Job First): This strategy prioritizes shorter tasks, which can reduce the waiting time for subsequent tasks, generally resulting in a lower average waiting time.</a:t>
            </a:r>
          </a:p>
          <a:p>
            <a:pPr marL="0" algn="l">
              <a:buClrTx/>
              <a:buSzTx/>
              <a:buNone/>
            </a:pPr>
            <a:r>
              <a:rPr lang="zh-CN" altLang="en-US" sz="2400" b="1"/>
              <a:t>2. Response Time</a:t>
            </a:r>
          </a:p>
          <a:p>
            <a:r>
              <a:rPr lang="zh-CN" altLang="en-US" sz="2400"/>
              <a:t>In scenarios requiring quick feedback, such as user interactions, choosing shorter tasks (SJF) can provide results faster, improving user experience.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Software Architecture</a:t>
            </a:r>
            <a:endParaRPr lang="en-AU" dirty="0"/>
          </a:p>
        </p:txBody>
      </p:sp>
      <p:sp>
        <p:nvSpPr>
          <p:cNvPr id="5" name="Title 1"/>
          <p:cNvSpPr>
            <a:spLocks noGrp="1"/>
          </p:cNvSpPr>
          <p:nvPr/>
        </p:nvSpPr>
        <p:spPr>
          <a:xfrm>
            <a:off x="-152400" y="596900"/>
            <a:ext cx="9372600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altLang="zh-CN" sz="4000" dirty="0">
                <a:solidFill>
                  <a:srgbClr val="C00000"/>
                </a:solidFill>
              </a:rPr>
              <a:t>1. Bag-of-Tasks on Single Processor</a:t>
            </a:r>
            <a:endParaRPr lang="zh-CN" altLang="en-US" sz="4000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228600" y="647700"/>
            <a:ext cx="9372600" cy="685800"/>
          </a:xfrm>
        </p:spPr>
        <p:txBody>
          <a:bodyPr/>
          <a:lstStyle/>
          <a:p>
            <a:pPr>
              <a:defRPr/>
            </a:pPr>
            <a:r>
              <a:rPr lang="en-US" altLang="zh-CN" sz="4000" dirty="0">
                <a:solidFill>
                  <a:srgbClr val="C00000"/>
                </a:solidFill>
              </a:rPr>
              <a:t>2. Bag-of-Tasks on Multi-Processors</a:t>
            </a:r>
            <a:endParaRPr lang="zh-CN" altLang="en-US" sz="4000" dirty="0">
              <a:solidFill>
                <a:srgbClr val="C00000"/>
              </a:solidFill>
            </a:endParaRPr>
          </a:p>
        </p:txBody>
      </p:sp>
      <p:sp>
        <p:nvSpPr>
          <p:cNvPr id="28675" name="Rectangle 2"/>
          <p:cNvSpPr>
            <a:spLocks noChangeArrowheads="1"/>
          </p:cNvSpPr>
          <p:nvPr/>
        </p:nvSpPr>
        <p:spPr bwMode="auto">
          <a:xfrm>
            <a:off x="6629400" y="2243138"/>
            <a:ext cx="990600" cy="4953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</a:ln>
        </p:spPr>
        <p:txBody>
          <a:bodyPr wrap="none"/>
          <a:lstStyle>
            <a:lvl1pPr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3600" b="1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8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4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0">
                <a:latin typeface="Tahoma" panose="020B0604030504040204" pitchFamily="34" charset="0"/>
              </a:rPr>
              <a:t>   P</a:t>
            </a:r>
            <a:endParaRPr lang="zh-CN" altLang="en-US" sz="2400" b="0">
              <a:latin typeface="Tahoma" panose="020B0604030504040204" pitchFamily="34" charset="0"/>
            </a:endParaRPr>
          </a:p>
        </p:txBody>
      </p:sp>
      <p:sp>
        <p:nvSpPr>
          <p:cNvPr id="28676" name="Oval 4"/>
          <p:cNvSpPr>
            <a:spLocks noChangeArrowheads="1"/>
          </p:cNvSpPr>
          <p:nvPr/>
        </p:nvSpPr>
        <p:spPr bwMode="auto">
          <a:xfrm>
            <a:off x="2133600" y="1879600"/>
            <a:ext cx="457200" cy="4572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</a:ln>
        </p:spPr>
        <p:txBody>
          <a:bodyPr wrap="none"/>
          <a:lstStyle>
            <a:lvl1pPr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3600" b="1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8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4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 b="0">
              <a:latin typeface="Tahoma" panose="020B0604030504040204" pitchFamily="34" charset="0"/>
            </a:endParaRPr>
          </a:p>
        </p:txBody>
      </p:sp>
      <p:sp>
        <p:nvSpPr>
          <p:cNvPr id="28677" name="Oval 6"/>
          <p:cNvSpPr>
            <a:spLocks noChangeArrowheads="1"/>
          </p:cNvSpPr>
          <p:nvPr/>
        </p:nvSpPr>
        <p:spPr bwMode="auto">
          <a:xfrm>
            <a:off x="1676400" y="2743200"/>
            <a:ext cx="457200" cy="4572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</a:ln>
        </p:spPr>
        <p:txBody>
          <a:bodyPr wrap="none"/>
          <a:lstStyle>
            <a:lvl1pPr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3600" b="1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8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4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 b="0">
              <a:latin typeface="Tahoma" panose="020B0604030504040204" pitchFamily="34" charset="0"/>
            </a:endParaRPr>
          </a:p>
        </p:txBody>
      </p:sp>
      <p:sp>
        <p:nvSpPr>
          <p:cNvPr id="28678" name="Oval 7"/>
          <p:cNvSpPr>
            <a:spLocks noChangeArrowheads="1"/>
          </p:cNvSpPr>
          <p:nvPr/>
        </p:nvSpPr>
        <p:spPr bwMode="auto">
          <a:xfrm>
            <a:off x="1981200" y="3568700"/>
            <a:ext cx="457200" cy="4572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</a:ln>
        </p:spPr>
        <p:txBody>
          <a:bodyPr wrap="none"/>
          <a:lstStyle>
            <a:lvl1pPr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3600" b="1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8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4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 b="0">
              <a:latin typeface="Tahoma" panose="020B0604030504040204" pitchFamily="34" charset="0"/>
            </a:endParaRPr>
          </a:p>
        </p:txBody>
      </p:sp>
      <p:sp>
        <p:nvSpPr>
          <p:cNvPr id="28679" name="Oval 8"/>
          <p:cNvSpPr>
            <a:spLocks noChangeArrowheads="1"/>
          </p:cNvSpPr>
          <p:nvPr/>
        </p:nvSpPr>
        <p:spPr bwMode="auto">
          <a:xfrm>
            <a:off x="2971800" y="2311400"/>
            <a:ext cx="457200" cy="4572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</a:ln>
        </p:spPr>
        <p:txBody>
          <a:bodyPr wrap="none"/>
          <a:lstStyle>
            <a:lvl1pPr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3600" b="1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8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4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 b="0">
              <a:latin typeface="Tahoma" panose="020B0604030504040204" pitchFamily="34" charset="0"/>
            </a:endParaRPr>
          </a:p>
        </p:txBody>
      </p:sp>
      <p:sp>
        <p:nvSpPr>
          <p:cNvPr id="28680" name="Oval 9"/>
          <p:cNvSpPr>
            <a:spLocks noChangeArrowheads="1"/>
          </p:cNvSpPr>
          <p:nvPr/>
        </p:nvSpPr>
        <p:spPr bwMode="auto">
          <a:xfrm>
            <a:off x="2743200" y="3124200"/>
            <a:ext cx="457200" cy="4572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</a:ln>
        </p:spPr>
        <p:txBody>
          <a:bodyPr wrap="none"/>
          <a:lstStyle>
            <a:lvl1pPr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3600" b="1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8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4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 b="0">
              <a:latin typeface="Tahoma" panose="020B0604030504040204" pitchFamily="34" charset="0"/>
            </a:endParaRPr>
          </a:p>
        </p:txBody>
      </p:sp>
      <p:sp>
        <p:nvSpPr>
          <p:cNvPr id="28681" name="Right Arrow 5"/>
          <p:cNvSpPr>
            <a:spLocks noChangeArrowheads="1"/>
          </p:cNvSpPr>
          <p:nvPr/>
        </p:nvSpPr>
        <p:spPr bwMode="auto">
          <a:xfrm>
            <a:off x="4343400" y="2870200"/>
            <a:ext cx="609600" cy="330200"/>
          </a:xfrm>
          <a:prstGeom prst="rightArrow">
            <a:avLst>
              <a:gd name="adj1" fmla="val 50000"/>
              <a:gd name="adj2" fmla="val 50000"/>
            </a:avLst>
          </a:prstGeom>
          <a:noFill/>
          <a:ln w="9525" algn="ctr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3600" b="1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8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4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 b="0">
              <a:latin typeface="Tahoma" panose="020B0604030504040204" pitchFamily="34" charset="0"/>
            </a:endParaRPr>
          </a:p>
        </p:txBody>
      </p:sp>
      <p:sp>
        <p:nvSpPr>
          <p:cNvPr id="11" name="TextBox 10"/>
          <p:cNvSpPr txBox="1">
            <a:spLocks noChangeArrowheads="1"/>
          </p:cNvSpPr>
          <p:nvPr/>
        </p:nvSpPr>
        <p:spPr bwMode="auto">
          <a:xfrm>
            <a:off x="609600" y="4338638"/>
            <a:ext cx="841057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3600" b="1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8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4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latin typeface="Tahoma" panose="020B0604030504040204" pitchFamily="34" charset="0"/>
              </a:rPr>
              <a:t>Given</a:t>
            </a:r>
            <a:r>
              <a:rPr lang="en-US" altLang="zh-CN" sz="2400" b="0">
                <a:latin typeface="Tahoma" panose="020B0604030504040204" pitchFamily="34" charset="0"/>
              </a:rPr>
              <a:t>: </a:t>
            </a:r>
            <a:r>
              <a:rPr lang="en-US" altLang="zh-CN" sz="2400" b="0" i="1">
                <a:latin typeface="Tahoma" panose="020B0604030504040204" pitchFamily="34" charset="0"/>
              </a:rPr>
              <a:t>release time</a:t>
            </a:r>
            <a:r>
              <a:rPr lang="en-US" altLang="zh-CN" sz="2400" b="0">
                <a:latin typeface="Tahoma" panose="020B0604030504040204" pitchFamily="34" charset="0"/>
              </a:rPr>
              <a:t>, </a:t>
            </a:r>
            <a:r>
              <a:rPr lang="en-US" altLang="zh-CN" sz="2400" b="0" i="1">
                <a:latin typeface="Tahoma" panose="020B0604030504040204" pitchFamily="34" charset="0"/>
              </a:rPr>
              <a:t>workload of each task</a:t>
            </a:r>
          </a:p>
        </p:txBody>
      </p:sp>
      <p:sp>
        <p:nvSpPr>
          <p:cNvPr id="13" name="TextBox 12"/>
          <p:cNvSpPr txBox="1">
            <a:spLocks noChangeArrowheads="1"/>
          </p:cNvSpPr>
          <p:nvPr/>
        </p:nvSpPr>
        <p:spPr bwMode="auto">
          <a:xfrm>
            <a:off x="609600" y="4811713"/>
            <a:ext cx="84105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3600" b="1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8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4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0">
                <a:latin typeface="Tahoma" panose="020B0604030504040204" pitchFamily="34" charset="0"/>
              </a:rPr>
              <a:t>To determine </a:t>
            </a:r>
            <a:r>
              <a:rPr lang="en-US" altLang="zh-CN" sz="2400">
                <a:latin typeface="Tahoma" panose="020B0604030504040204" pitchFamily="34" charset="0"/>
              </a:rPr>
              <a:t>where and when </a:t>
            </a:r>
            <a:r>
              <a:rPr lang="en-US" altLang="zh-CN" sz="2400" b="0">
                <a:latin typeface="Tahoma" panose="020B0604030504040204" pitchFamily="34" charset="0"/>
              </a:rPr>
              <a:t> each task is executed</a:t>
            </a:r>
          </a:p>
        </p:txBody>
      </p:sp>
      <p:sp>
        <p:nvSpPr>
          <p:cNvPr id="14" name="TextBox 13"/>
          <p:cNvSpPr txBox="1">
            <a:spLocks noChangeArrowheads="1"/>
          </p:cNvSpPr>
          <p:nvPr/>
        </p:nvSpPr>
        <p:spPr bwMode="auto">
          <a:xfrm>
            <a:off x="609600" y="5341938"/>
            <a:ext cx="807720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3600" b="1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8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4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latin typeface="Tahoma" panose="020B0604030504040204" pitchFamily="34" charset="0"/>
              </a:rPr>
              <a:t>Objectives</a:t>
            </a:r>
            <a:r>
              <a:rPr lang="en-US" altLang="zh-CN" sz="2400" b="0">
                <a:latin typeface="Tahoma" panose="020B0604030504040204" pitchFamily="34" charset="0"/>
              </a:rPr>
              <a:t>: make-span</a:t>
            </a:r>
            <a:r>
              <a:rPr lang="en-US" altLang="zh-CN" sz="2400" b="0" i="1">
                <a:latin typeface="Tahoma" panose="020B0604030504040204" pitchFamily="34" charset="0"/>
              </a:rPr>
              <a:t>…</a:t>
            </a:r>
          </a:p>
        </p:txBody>
      </p:sp>
      <p:sp>
        <p:nvSpPr>
          <p:cNvPr id="28685" name="Rectangle 14"/>
          <p:cNvSpPr>
            <a:spLocks noChangeArrowheads="1"/>
          </p:cNvSpPr>
          <p:nvPr/>
        </p:nvSpPr>
        <p:spPr bwMode="auto">
          <a:xfrm>
            <a:off x="5662613" y="3125788"/>
            <a:ext cx="990600" cy="4953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</a:ln>
        </p:spPr>
        <p:txBody>
          <a:bodyPr wrap="none"/>
          <a:lstStyle>
            <a:lvl1pPr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3600" b="1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8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4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0">
                <a:latin typeface="Tahoma" panose="020B0604030504040204" pitchFamily="34" charset="0"/>
              </a:rPr>
              <a:t>   P</a:t>
            </a:r>
            <a:endParaRPr lang="zh-CN" altLang="en-US" sz="2400" b="0">
              <a:latin typeface="Tahoma" panose="020B0604030504040204" pitchFamily="34" charset="0"/>
            </a:endParaRPr>
          </a:p>
        </p:txBody>
      </p:sp>
      <p:sp>
        <p:nvSpPr>
          <p:cNvPr id="28686" name="Rectangle 15"/>
          <p:cNvSpPr>
            <a:spLocks noChangeArrowheads="1"/>
          </p:cNvSpPr>
          <p:nvPr/>
        </p:nvSpPr>
        <p:spPr bwMode="auto">
          <a:xfrm>
            <a:off x="7470775" y="3138488"/>
            <a:ext cx="990600" cy="4953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</a:ln>
        </p:spPr>
        <p:txBody>
          <a:bodyPr wrap="none"/>
          <a:lstStyle>
            <a:lvl1pPr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3600" b="1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8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4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0">
                <a:latin typeface="Tahoma" panose="020B0604030504040204" pitchFamily="34" charset="0"/>
              </a:rPr>
              <a:t>   P</a:t>
            </a:r>
            <a:endParaRPr lang="zh-CN" altLang="en-US" sz="2400" b="0">
              <a:latin typeface="Tahoma" panose="020B0604030504040204" pitchFamily="34" charset="0"/>
            </a:endParaRPr>
          </a:p>
        </p:txBody>
      </p:sp>
      <p:cxnSp>
        <p:nvCxnSpPr>
          <p:cNvPr id="28687" name="Straight Connector 11"/>
          <p:cNvCxnSpPr>
            <a:cxnSpLocks noChangeShapeType="1"/>
            <a:endCxn id="28685" idx="0"/>
          </p:cNvCxnSpPr>
          <p:nvPr/>
        </p:nvCxnSpPr>
        <p:spPr bwMode="auto">
          <a:xfrm flipH="1">
            <a:off x="6157913" y="2738438"/>
            <a:ext cx="731837" cy="387350"/>
          </a:xfrm>
          <a:prstGeom prst="line">
            <a:avLst/>
          </a:prstGeom>
          <a:noFill/>
          <a:ln w="9525" algn="ctr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688" name="Straight Connector 17"/>
          <p:cNvCxnSpPr>
            <a:cxnSpLocks noChangeShapeType="1"/>
            <a:endCxn id="28686" idx="0"/>
          </p:cNvCxnSpPr>
          <p:nvPr/>
        </p:nvCxnSpPr>
        <p:spPr bwMode="auto">
          <a:xfrm>
            <a:off x="7415213" y="2732088"/>
            <a:ext cx="550862" cy="406400"/>
          </a:xfrm>
          <a:prstGeom prst="line">
            <a:avLst/>
          </a:prstGeom>
          <a:noFill/>
          <a:ln w="9525" algn="ctr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689" name="Straight Connector 19"/>
          <p:cNvCxnSpPr>
            <a:cxnSpLocks noChangeShapeType="1"/>
            <a:stCxn id="28685" idx="3"/>
            <a:endCxn id="28686" idx="1"/>
          </p:cNvCxnSpPr>
          <p:nvPr/>
        </p:nvCxnSpPr>
        <p:spPr bwMode="auto">
          <a:xfrm>
            <a:off x="6653213" y="3373438"/>
            <a:ext cx="817562" cy="12700"/>
          </a:xfrm>
          <a:prstGeom prst="line">
            <a:avLst/>
          </a:prstGeom>
          <a:noFill/>
          <a:ln w="9525" algn="ctr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Software Architecture</a:t>
            </a:r>
            <a:endParaRPr lang="en-A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228600" y="647700"/>
            <a:ext cx="9372600" cy="685800"/>
          </a:xfrm>
        </p:spPr>
        <p:txBody>
          <a:bodyPr/>
          <a:lstStyle/>
          <a:p>
            <a:pPr>
              <a:defRPr/>
            </a:pPr>
            <a:r>
              <a:rPr lang="en-US" altLang="zh-CN" sz="4000" dirty="0">
                <a:solidFill>
                  <a:srgbClr val="C00000"/>
                </a:solidFill>
              </a:rPr>
              <a:t>2. Bag-of-Tasks on Multi-Processors</a:t>
            </a:r>
            <a:endParaRPr lang="zh-CN" altLang="en-US" sz="4000" dirty="0">
              <a:solidFill>
                <a:srgbClr val="C00000"/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Software Architecture</a:t>
            </a:r>
            <a:endParaRPr lang="en-AU" dirty="0"/>
          </a:p>
        </p:txBody>
      </p:sp>
      <p:pic>
        <p:nvPicPr>
          <p:cNvPr id="5" name="内容占位符 4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304415" y="2639695"/>
            <a:ext cx="4533900" cy="211455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3050" y="500063"/>
            <a:ext cx="8748713" cy="1231900"/>
          </a:xfrm>
        </p:spPr>
        <p:txBody>
          <a:bodyPr/>
          <a:lstStyle/>
          <a:p>
            <a:pPr>
              <a:defRPr/>
            </a:pPr>
            <a:r>
              <a:rPr lang="en-US" altLang="zh-CN" sz="4000" dirty="0">
                <a:solidFill>
                  <a:srgbClr val="C00000"/>
                </a:solidFill>
              </a:rPr>
              <a:t>3. DAGs Scheduling on Heterogeneous Processors</a:t>
            </a:r>
          </a:p>
        </p:txBody>
      </p:sp>
      <p:sp>
        <p:nvSpPr>
          <p:cNvPr id="11" name="TextBox 10"/>
          <p:cNvSpPr txBox="1">
            <a:spLocks noChangeArrowheads="1"/>
          </p:cNvSpPr>
          <p:nvPr/>
        </p:nvSpPr>
        <p:spPr bwMode="auto">
          <a:xfrm>
            <a:off x="442913" y="4338638"/>
            <a:ext cx="8410575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3600" b="1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8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4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latin typeface="Tahoma" panose="020B0604030504040204" pitchFamily="34" charset="0"/>
              </a:rPr>
              <a:t>Given</a:t>
            </a:r>
            <a:r>
              <a:rPr lang="en-US" altLang="zh-CN" sz="2400" b="0">
                <a:latin typeface="Tahoma" panose="020B0604030504040204" pitchFamily="34" charset="0"/>
              </a:rPr>
              <a:t>: </a:t>
            </a:r>
            <a:r>
              <a:rPr lang="en-US" altLang="zh-CN" sz="2400" b="0" i="1">
                <a:latin typeface="Tahoma" panose="020B0604030504040204" pitchFamily="34" charset="0"/>
              </a:rPr>
              <a:t>processing time </a:t>
            </a:r>
            <a:r>
              <a:rPr lang="en-US" altLang="zh-CN" sz="2400" b="0">
                <a:latin typeface="Tahoma" panose="020B0604030504040204" pitchFamily="34" charset="0"/>
              </a:rPr>
              <a:t>of every task on every processor, </a:t>
            </a:r>
            <a:r>
              <a:rPr lang="en-US" altLang="zh-CN" sz="2400" b="0" i="1">
                <a:latin typeface="Tahoma" panose="020B0604030504040204" pitchFamily="34" charset="0"/>
              </a:rPr>
              <a:t>communication time </a:t>
            </a:r>
            <a:r>
              <a:rPr lang="en-US" altLang="zh-CN" sz="2400" b="0">
                <a:latin typeface="Tahoma" panose="020B0604030504040204" pitchFamily="34" charset="0"/>
              </a:rPr>
              <a:t>on the edges</a:t>
            </a:r>
            <a:endParaRPr lang="en-US" altLang="zh-CN" sz="2400" b="0" i="1">
              <a:latin typeface="Tahoma" panose="020B0604030504040204" pitchFamily="34" charset="0"/>
            </a:endParaRPr>
          </a:p>
        </p:txBody>
      </p:sp>
      <p:sp>
        <p:nvSpPr>
          <p:cNvPr id="13" name="TextBox 12"/>
          <p:cNvSpPr txBox="1">
            <a:spLocks noChangeArrowheads="1"/>
          </p:cNvSpPr>
          <p:nvPr/>
        </p:nvSpPr>
        <p:spPr bwMode="auto">
          <a:xfrm>
            <a:off x="473075" y="5792788"/>
            <a:ext cx="62515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3600" b="1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8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4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latin typeface="Tahoma" panose="020B0604030504040204" pitchFamily="34" charset="0"/>
              </a:rPr>
              <a:t>Objective</a:t>
            </a:r>
            <a:r>
              <a:rPr lang="en-US" altLang="zh-CN" sz="2400" b="0">
                <a:latin typeface="Tahoma" panose="020B0604030504040204" pitchFamily="34" charset="0"/>
              </a:rPr>
              <a:t>: make-span …</a:t>
            </a:r>
          </a:p>
        </p:txBody>
      </p:sp>
      <p:sp>
        <p:nvSpPr>
          <p:cNvPr id="19" name="TextBox 18"/>
          <p:cNvSpPr txBox="1">
            <a:spLocks noChangeArrowheads="1"/>
          </p:cNvSpPr>
          <p:nvPr/>
        </p:nvSpPr>
        <p:spPr bwMode="auto">
          <a:xfrm>
            <a:off x="473075" y="5253038"/>
            <a:ext cx="83312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3600" b="1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8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4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0">
                <a:latin typeface="Tahoma" panose="020B0604030504040204" pitchFamily="34" charset="0"/>
              </a:rPr>
              <a:t>To determine </a:t>
            </a:r>
            <a:r>
              <a:rPr lang="en-US" altLang="zh-CN" sz="2400">
                <a:latin typeface="Tahoma" panose="020B0604030504040204" pitchFamily="34" charset="0"/>
              </a:rPr>
              <a:t>where and when </a:t>
            </a:r>
            <a:r>
              <a:rPr lang="en-US" altLang="zh-CN" sz="2400" b="0">
                <a:latin typeface="Tahoma" panose="020B0604030504040204" pitchFamily="34" charset="0"/>
              </a:rPr>
              <a:t>each task is executed</a:t>
            </a:r>
            <a:endParaRPr lang="en-US" altLang="zh-CN" sz="2400" b="0">
              <a:solidFill>
                <a:srgbClr val="FF0000"/>
              </a:solidFill>
              <a:latin typeface="Tahoma" panose="020B0604030504040204" pitchFamily="34" charset="0"/>
            </a:endParaRPr>
          </a:p>
        </p:txBody>
      </p:sp>
      <p:sp>
        <p:nvSpPr>
          <p:cNvPr id="30726" name="Rectangle 16"/>
          <p:cNvSpPr>
            <a:spLocks noChangeArrowheads="1"/>
          </p:cNvSpPr>
          <p:nvPr/>
        </p:nvSpPr>
        <p:spPr bwMode="auto">
          <a:xfrm>
            <a:off x="6629400" y="2243138"/>
            <a:ext cx="990600" cy="4953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</a:ln>
        </p:spPr>
        <p:txBody>
          <a:bodyPr wrap="none"/>
          <a:lstStyle>
            <a:lvl1pPr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3600" b="1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8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4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0">
                <a:latin typeface="Tahoma" panose="020B0604030504040204" pitchFamily="34" charset="0"/>
              </a:rPr>
              <a:t>   P1</a:t>
            </a:r>
            <a:endParaRPr lang="zh-CN" altLang="en-US" sz="2400" b="0">
              <a:latin typeface="Tahoma" panose="020B0604030504040204" pitchFamily="34" charset="0"/>
            </a:endParaRPr>
          </a:p>
        </p:txBody>
      </p:sp>
      <p:sp>
        <p:nvSpPr>
          <p:cNvPr id="30727" name="Oval 17"/>
          <p:cNvSpPr>
            <a:spLocks noChangeArrowheads="1"/>
          </p:cNvSpPr>
          <p:nvPr/>
        </p:nvSpPr>
        <p:spPr bwMode="auto">
          <a:xfrm>
            <a:off x="2133600" y="1879600"/>
            <a:ext cx="457200" cy="4572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</a:ln>
        </p:spPr>
        <p:txBody>
          <a:bodyPr wrap="none"/>
          <a:lstStyle>
            <a:lvl1pPr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3600" b="1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8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4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 b="0">
              <a:latin typeface="Tahoma" panose="020B0604030504040204" pitchFamily="34" charset="0"/>
            </a:endParaRPr>
          </a:p>
        </p:txBody>
      </p:sp>
      <p:sp>
        <p:nvSpPr>
          <p:cNvPr id="30728" name="Oval 19"/>
          <p:cNvSpPr>
            <a:spLocks noChangeArrowheads="1"/>
          </p:cNvSpPr>
          <p:nvPr/>
        </p:nvSpPr>
        <p:spPr bwMode="auto">
          <a:xfrm>
            <a:off x="1676400" y="2743200"/>
            <a:ext cx="457200" cy="4572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</a:ln>
        </p:spPr>
        <p:txBody>
          <a:bodyPr wrap="none"/>
          <a:lstStyle>
            <a:lvl1pPr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3600" b="1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8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4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 b="0">
              <a:latin typeface="Tahoma" panose="020B0604030504040204" pitchFamily="34" charset="0"/>
            </a:endParaRPr>
          </a:p>
        </p:txBody>
      </p:sp>
      <p:sp>
        <p:nvSpPr>
          <p:cNvPr id="30729" name="Oval 20"/>
          <p:cNvSpPr>
            <a:spLocks noChangeArrowheads="1"/>
          </p:cNvSpPr>
          <p:nvPr/>
        </p:nvSpPr>
        <p:spPr bwMode="auto">
          <a:xfrm>
            <a:off x="1981200" y="3568700"/>
            <a:ext cx="457200" cy="4572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</a:ln>
        </p:spPr>
        <p:txBody>
          <a:bodyPr wrap="none"/>
          <a:lstStyle>
            <a:lvl1pPr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3600" b="1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8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4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 b="0">
              <a:latin typeface="Tahoma" panose="020B0604030504040204" pitchFamily="34" charset="0"/>
            </a:endParaRPr>
          </a:p>
        </p:txBody>
      </p:sp>
      <p:sp>
        <p:nvSpPr>
          <p:cNvPr id="30730" name="Oval 21"/>
          <p:cNvSpPr>
            <a:spLocks noChangeArrowheads="1"/>
          </p:cNvSpPr>
          <p:nvPr/>
        </p:nvSpPr>
        <p:spPr bwMode="auto">
          <a:xfrm>
            <a:off x="2971800" y="2311400"/>
            <a:ext cx="457200" cy="4572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</a:ln>
        </p:spPr>
        <p:txBody>
          <a:bodyPr wrap="none"/>
          <a:lstStyle>
            <a:lvl1pPr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3600" b="1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8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4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 b="0">
              <a:latin typeface="Tahoma" panose="020B0604030504040204" pitchFamily="34" charset="0"/>
            </a:endParaRPr>
          </a:p>
        </p:txBody>
      </p:sp>
      <p:sp>
        <p:nvSpPr>
          <p:cNvPr id="30731" name="Oval 22"/>
          <p:cNvSpPr>
            <a:spLocks noChangeArrowheads="1"/>
          </p:cNvSpPr>
          <p:nvPr/>
        </p:nvSpPr>
        <p:spPr bwMode="auto">
          <a:xfrm>
            <a:off x="2743200" y="3124200"/>
            <a:ext cx="457200" cy="4572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</a:ln>
        </p:spPr>
        <p:txBody>
          <a:bodyPr wrap="none"/>
          <a:lstStyle>
            <a:lvl1pPr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3600" b="1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8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4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 b="0">
              <a:latin typeface="Tahoma" panose="020B0604030504040204" pitchFamily="34" charset="0"/>
            </a:endParaRPr>
          </a:p>
        </p:txBody>
      </p:sp>
      <p:sp>
        <p:nvSpPr>
          <p:cNvPr id="30732" name="Right Arrow 23"/>
          <p:cNvSpPr>
            <a:spLocks noChangeArrowheads="1"/>
          </p:cNvSpPr>
          <p:nvPr/>
        </p:nvSpPr>
        <p:spPr bwMode="auto">
          <a:xfrm>
            <a:off x="4343400" y="2870200"/>
            <a:ext cx="609600" cy="330200"/>
          </a:xfrm>
          <a:prstGeom prst="rightArrow">
            <a:avLst>
              <a:gd name="adj1" fmla="val 50000"/>
              <a:gd name="adj2" fmla="val 50000"/>
            </a:avLst>
          </a:prstGeom>
          <a:noFill/>
          <a:ln w="9525" algn="ctr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3600" b="1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8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4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 b="0">
              <a:latin typeface="Tahoma" panose="020B0604030504040204" pitchFamily="34" charset="0"/>
            </a:endParaRPr>
          </a:p>
        </p:txBody>
      </p:sp>
      <p:sp>
        <p:nvSpPr>
          <p:cNvPr id="30733" name="Rectangle 24"/>
          <p:cNvSpPr>
            <a:spLocks noChangeArrowheads="1"/>
          </p:cNvSpPr>
          <p:nvPr/>
        </p:nvSpPr>
        <p:spPr bwMode="auto">
          <a:xfrm>
            <a:off x="5662613" y="3125788"/>
            <a:ext cx="990600" cy="4953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</a:ln>
        </p:spPr>
        <p:txBody>
          <a:bodyPr wrap="none"/>
          <a:lstStyle>
            <a:lvl1pPr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3600" b="1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8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4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0">
                <a:latin typeface="Tahoma" panose="020B0604030504040204" pitchFamily="34" charset="0"/>
              </a:rPr>
              <a:t>   P2</a:t>
            </a:r>
            <a:endParaRPr lang="zh-CN" altLang="en-US" sz="2400" b="0">
              <a:latin typeface="Tahoma" panose="020B0604030504040204" pitchFamily="34" charset="0"/>
            </a:endParaRPr>
          </a:p>
        </p:txBody>
      </p:sp>
      <p:sp>
        <p:nvSpPr>
          <p:cNvPr id="30734" name="Rectangle 25"/>
          <p:cNvSpPr>
            <a:spLocks noChangeArrowheads="1"/>
          </p:cNvSpPr>
          <p:nvPr/>
        </p:nvSpPr>
        <p:spPr bwMode="auto">
          <a:xfrm>
            <a:off x="7470775" y="3138488"/>
            <a:ext cx="990600" cy="4953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</a:ln>
        </p:spPr>
        <p:txBody>
          <a:bodyPr wrap="none"/>
          <a:lstStyle>
            <a:lvl1pPr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3600" b="1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8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4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0">
                <a:latin typeface="Tahoma" panose="020B0604030504040204" pitchFamily="34" charset="0"/>
              </a:rPr>
              <a:t>   P3</a:t>
            </a:r>
            <a:endParaRPr lang="zh-CN" altLang="en-US" sz="2400" b="0">
              <a:latin typeface="Tahoma" panose="020B0604030504040204" pitchFamily="34" charset="0"/>
            </a:endParaRPr>
          </a:p>
        </p:txBody>
      </p:sp>
      <p:cxnSp>
        <p:nvCxnSpPr>
          <p:cNvPr id="30735" name="Straight Connector 26"/>
          <p:cNvCxnSpPr>
            <a:cxnSpLocks noChangeShapeType="1"/>
            <a:endCxn id="30733" idx="0"/>
          </p:cNvCxnSpPr>
          <p:nvPr/>
        </p:nvCxnSpPr>
        <p:spPr bwMode="auto">
          <a:xfrm flipH="1">
            <a:off x="6157913" y="2738438"/>
            <a:ext cx="731837" cy="387350"/>
          </a:xfrm>
          <a:prstGeom prst="line">
            <a:avLst/>
          </a:prstGeom>
          <a:noFill/>
          <a:ln w="9525" algn="ctr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0736" name="Straight Connector 27"/>
          <p:cNvCxnSpPr>
            <a:cxnSpLocks noChangeShapeType="1"/>
            <a:endCxn id="30734" idx="0"/>
          </p:cNvCxnSpPr>
          <p:nvPr/>
        </p:nvCxnSpPr>
        <p:spPr bwMode="auto">
          <a:xfrm>
            <a:off x="7415213" y="2732088"/>
            <a:ext cx="550862" cy="406400"/>
          </a:xfrm>
          <a:prstGeom prst="line">
            <a:avLst/>
          </a:prstGeom>
          <a:noFill/>
          <a:ln w="9525" algn="ctr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0737" name="Straight Connector 28"/>
          <p:cNvCxnSpPr>
            <a:cxnSpLocks noChangeShapeType="1"/>
            <a:stCxn id="30733" idx="3"/>
            <a:endCxn id="30734" idx="1"/>
          </p:cNvCxnSpPr>
          <p:nvPr/>
        </p:nvCxnSpPr>
        <p:spPr bwMode="auto">
          <a:xfrm>
            <a:off x="6653213" y="3373438"/>
            <a:ext cx="817562" cy="12700"/>
          </a:xfrm>
          <a:prstGeom prst="line">
            <a:avLst/>
          </a:prstGeom>
          <a:noFill/>
          <a:ln w="9525" algn="ctr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0738" name="Straight Arrow Connector 11"/>
          <p:cNvCxnSpPr>
            <a:cxnSpLocks noChangeShapeType="1"/>
            <a:stCxn id="30727" idx="3"/>
            <a:endCxn id="30728" idx="0"/>
          </p:cNvCxnSpPr>
          <p:nvPr/>
        </p:nvCxnSpPr>
        <p:spPr bwMode="auto">
          <a:xfrm flipH="1">
            <a:off x="1905000" y="2270125"/>
            <a:ext cx="295275" cy="473075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miter lim="800000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0739" name="Straight Arrow Connector 29"/>
          <p:cNvCxnSpPr>
            <a:cxnSpLocks noChangeShapeType="1"/>
            <a:stCxn id="30727" idx="6"/>
            <a:endCxn id="30730" idx="1"/>
          </p:cNvCxnSpPr>
          <p:nvPr/>
        </p:nvCxnSpPr>
        <p:spPr bwMode="auto">
          <a:xfrm>
            <a:off x="2590800" y="2108200"/>
            <a:ext cx="447675" cy="269875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miter lim="800000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0740" name="Straight Arrow Connector 31"/>
          <p:cNvCxnSpPr>
            <a:cxnSpLocks noChangeShapeType="1"/>
            <a:stCxn id="30730" idx="4"/>
          </p:cNvCxnSpPr>
          <p:nvPr/>
        </p:nvCxnSpPr>
        <p:spPr bwMode="auto">
          <a:xfrm flipH="1">
            <a:off x="2971800" y="2768600"/>
            <a:ext cx="228600" cy="4318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miter lim="800000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0741" name="Straight Arrow Connector 33"/>
          <p:cNvCxnSpPr>
            <a:cxnSpLocks noChangeShapeType="1"/>
            <a:stCxn id="30728" idx="4"/>
            <a:endCxn id="30729" idx="1"/>
          </p:cNvCxnSpPr>
          <p:nvPr/>
        </p:nvCxnSpPr>
        <p:spPr bwMode="auto">
          <a:xfrm>
            <a:off x="1905000" y="3200400"/>
            <a:ext cx="142875" cy="434975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miter lim="800000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0742" name="Straight Arrow Connector 37"/>
          <p:cNvCxnSpPr>
            <a:cxnSpLocks noChangeShapeType="1"/>
            <a:stCxn id="30731" idx="3"/>
            <a:endCxn id="30729" idx="6"/>
          </p:cNvCxnSpPr>
          <p:nvPr/>
        </p:nvCxnSpPr>
        <p:spPr bwMode="auto">
          <a:xfrm flipH="1">
            <a:off x="2438400" y="3514725"/>
            <a:ext cx="371475" cy="282575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miter lim="800000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Software Architecture</a:t>
            </a:r>
            <a:endParaRPr lang="en-A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38113" y="685800"/>
            <a:ext cx="9372601" cy="685800"/>
          </a:xfrm>
        </p:spPr>
        <p:txBody>
          <a:bodyPr/>
          <a:lstStyle/>
          <a:p>
            <a:pPr>
              <a:defRPr/>
            </a:pPr>
            <a:r>
              <a:rPr lang="en-US" altLang="zh-CN" sz="4000" dirty="0">
                <a:solidFill>
                  <a:srgbClr val="C00000"/>
                </a:solidFill>
              </a:rPr>
              <a:t>4. Job Shop Problem (JSP) (np-hard)</a:t>
            </a:r>
            <a:endParaRPr lang="zh-CN" altLang="en-US" sz="4000" dirty="0">
              <a:solidFill>
                <a:srgbClr val="C00000"/>
              </a:solidFill>
            </a:endParaRPr>
          </a:p>
        </p:txBody>
      </p:sp>
      <p:sp>
        <p:nvSpPr>
          <p:cNvPr id="32771" name="Rectangle 2"/>
          <p:cNvSpPr>
            <a:spLocks noChangeArrowheads="1"/>
          </p:cNvSpPr>
          <p:nvPr/>
        </p:nvSpPr>
        <p:spPr bwMode="auto">
          <a:xfrm>
            <a:off x="2503805" y="3567113"/>
            <a:ext cx="990600" cy="4953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</a:ln>
        </p:spPr>
        <p:txBody>
          <a:bodyPr wrap="none"/>
          <a:lstStyle>
            <a:lvl1pPr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3600" b="1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8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4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0">
                <a:latin typeface="Tahoma" panose="020B0604030504040204" pitchFamily="34" charset="0"/>
              </a:rPr>
              <a:t>   P2</a:t>
            </a:r>
            <a:endParaRPr lang="zh-CN" altLang="en-US" sz="2400" b="0">
              <a:latin typeface="Tahoma" panose="020B0604030504040204" pitchFamily="34" charset="0"/>
            </a:endParaRPr>
          </a:p>
        </p:txBody>
      </p:sp>
      <p:sp>
        <p:nvSpPr>
          <p:cNvPr id="32772" name="Oval 4"/>
          <p:cNvSpPr>
            <a:spLocks noChangeArrowheads="1"/>
          </p:cNvSpPr>
          <p:nvPr/>
        </p:nvSpPr>
        <p:spPr bwMode="auto">
          <a:xfrm>
            <a:off x="795655" y="1774825"/>
            <a:ext cx="609600" cy="60325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</a:ln>
        </p:spPr>
        <p:txBody>
          <a:bodyPr wrap="none"/>
          <a:lstStyle>
            <a:lvl1pPr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3600" b="1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8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4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0">
                <a:latin typeface="Tahoma" panose="020B0604030504040204" pitchFamily="34" charset="0"/>
              </a:rPr>
              <a:t>J1</a:t>
            </a:r>
            <a:endParaRPr lang="zh-CN" altLang="en-US" sz="2400" b="0">
              <a:latin typeface="Tahoma" panose="020B0604030504040204" pitchFamily="34" charset="0"/>
            </a:endParaRPr>
          </a:p>
        </p:txBody>
      </p:sp>
      <p:sp>
        <p:nvSpPr>
          <p:cNvPr id="32773" name="Oval 6"/>
          <p:cNvSpPr>
            <a:spLocks noChangeArrowheads="1"/>
          </p:cNvSpPr>
          <p:nvPr/>
        </p:nvSpPr>
        <p:spPr bwMode="auto">
          <a:xfrm>
            <a:off x="2624455" y="1779588"/>
            <a:ext cx="609600" cy="60325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</a:ln>
        </p:spPr>
        <p:txBody>
          <a:bodyPr wrap="none"/>
          <a:lstStyle>
            <a:lvl1pPr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3600" b="1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8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4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0">
                <a:latin typeface="Tahoma" panose="020B0604030504040204" pitchFamily="34" charset="0"/>
              </a:rPr>
              <a:t>J3</a:t>
            </a:r>
            <a:endParaRPr lang="zh-CN" altLang="en-US" sz="2400" b="0">
              <a:latin typeface="Tahoma" panose="020B0604030504040204" pitchFamily="34" charset="0"/>
            </a:endParaRPr>
          </a:p>
        </p:txBody>
      </p:sp>
      <p:sp>
        <p:nvSpPr>
          <p:cNvPr id="32774" name="Oval 7"/>
          <p:cNvSpPr>
            <a:spLocks noChangeArrowheads="1"/>
          </p:cNvSpPr>
          <p:nvPr/>
        </p:nvSpPr>
        <p:spPr bwMode="auto">
          <a:xfrm>
            <a:off x="4529455" y="1774825"/>
            <a:ext cx="609600" cy="60325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</a:ln>
        </p:spPr>
        <p:txBody>
          <a:bodyPr wrap="none"/>
          <a:lstStyle>
            <a:lvl1pPr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3600" b="1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8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4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0">
                <a:latin typeface="Tahoma" panose="020B0604030504040204" pitchFamily="34" charset="0"/>
              </a:rPr>
              <a:t>J5</a:t>
            </a:r>
            <a:endParaRPr lang="zh-CN" altLang="en-US" sz="2400" b="0">
              <a:latin typeface="Tahoma" panose="020B0604030504040204" pitchFamily="34" charset="0"/>
            </a:endParaRPr>
          </a:p>
        </p:txBody>
      </p:sp>
      <p:sp>
        <p:nvSpPr>
          <p:cNvPr id="32775" name="Oval 8"/>
          <p:cNvSpPr>
            <a:spLocks noChangeArrowheads="1"/>
          </p:cNvSpPr>
          <p:nvPr/>
        </p:nvSpPr>
        <p:spPr bwMode="auto">
          <a:xfrm>
            <a:off x="1671955" y="1757363"/>
            <a:ext cx="609600" cy="60325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</a:ln>
        </p:spPr>
        <p:txBody>
          <a:bodyPr wrap="none"/>
          <a:lstStyle>
            <a:lvl1pPr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3600" b="1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8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4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0">
                <a:latin typeface="Tahoma" panose="020B0604030504040204" pitchFamily="34" charset="0"/>
              </a:rPr>
              <a:t>J2</a:t>
            </a:r>
            <a:endParaRPr lang="zh-CN" altLang="en-US" sz="2400" b="0">
              <a:latin typeface="Tahoma" panose="020B0604030504040204" pitchFamily="34" charset="0"/>
            </a:endParaRPr>
          </a:p>
        </p:txBody>
      </p:sp>
      <p:sp>
        <p:nvSpPr>
          <p:cNvPr id="32776" name="Oval 9"/>
          <p:cNvSpPr>
            <a:spLocks noChangeArrowheads="1"/>
          </p:cNvSpPr>
          <p:nvPr/>
        </p:nvSpPr>
        <p:spPr bwMode="auto">
          <a:xfrm>
            <a:off x="3615055" y="1752600"/>
            <a:ext cx="609600" cy="60325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</a:ln>
        </p:spPr>
        <p:txBody>
          <a:bodyPr wrap="none"/>
          <a:lstStyle>
            <a:lvl1pPr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3600" b="1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8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4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0">
                <a:latin typeface="Tahoma" panose="020B0604030504040204" pitchFamily="34" charset="0"/>
              </a:rPr>
              <a:t>J4</a:t>
            </a:r>
            <a:endParaRPr lang="zh-CN" altLang="en-US" sz="2400" b="0">
              <a:latin typeface="Tahoma" panose="020B0604030504040204" pitchFamily="34" charset="0"/>
            </a:endParaRPr>
          </a:p>
        </p:txBody>
      </p:sp>
      <p:sp>
        <p:nvSpPr>
          <p:cNvPr id="32777" name="Right Arrow 5"/>
          <p:cNvSpPr>
            <a:spLocks noChangeArrowheads="1"/>
          </p:cNvSpPr>
          <p:nvPr/>
        </p:nvSpPr>
        <p:spPr bwMode="auto">
          <a:xfrm rot="5400000">
            <a:off x="2764155" y="2882900"/>
            <a:ext cx="609600" cy="330200"/>
          </a:xfrm>
          <a:prstGeom prst="rightArrow">
            <a:avLst>
              <a:gd name="adj1" fmla="val 50000"/>
              <a:gd name="adj2" fmla="val 50000"/>
            </a:avLst>
          </a:prstGeom>
          <a:noFill/>
          <a:ln w="9525" algn="ctr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3600" b="1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8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4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 b="0">
              <a:latin typeface="Tahoma" panose="020B0604030504040204" pitchFamily="34" charset="0"/>
            </a:endParaRPr>
          </a:p>
        </p:txBody>
      </p:sp>
      <p:sp>
        <p:nvSpPr>
          <p:cNvPr id="11" name="TextBox 10"/>
          <p:cNvSpPr txBox="1">
            <a:spLocks noChangeArrowheads="1"/>
          </p:cNvSpPr>
          <p:nvPr/>
        </p:nvSpPr>
        <p:spPr bwMode="auto">
          <a:xfrm>
            <a:off x="442913" y="4338638"/>
            <a:ext cx="841057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3600" b="1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8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4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latin typeface="Tahoma" panose="020B0604030504040204" pitchFamily="34" charset="0"/>
              </a:rPr>
              <a:t>Given</a:t>
            </a:r>
            <a:r>
              <a:rPr lang="en-US" altLang="zh-CN" sz="2400" b="0">
                <a:latin typeface="Tahoma" panose="020B0604030504040204" pitchFamily="34" charset="0"/>
              </a:rPr>
              <a:t>: </a:t>
            </a:r>
            <a:r>
              <a:rPr lang="en-US" altLang="zh-CN" sz="2400" b="0" i="1">
                <a:latin typeface="Tahoma" panose="020B0604030504040204" pitchFamily="34" charset="0"/>
              </a:rPr>
              <a:t>processing time </a:t>
            </a:r>
            <a:r>
              <a:rPr lang="en-US" altLang="zh-CN" sz="2400" b="0">
                <a:latin typeface="Tahoma" panose="020B0604030504040204" pitchFamily="34" charset="0"/>
              </a:rPr>
              <a:t>of every job on every processor</a:t>
            </a:r>
            <a:endParaRPr lang="en-US" altLang="zh-CN" sz="2400" b="0" i="1">
              <a:latin typeface="Tahoma" panose="020B0604030504040204" pitchFamily="34" charset="0"/>
            </a:endParaRPr>
          </a:p>
        </p:txBody>
      </p:sp>
      <p:sp>
        <p:nvSpPr>
          <p:cNvPr id="13" name="TextBox 12"/>
          <p:cNvSpPr txBox="1">
            <a:spLocks noChangeArrowheads="1"/>
          </p:cNvSpPr>
          <p:nvPr/>
        </p:nvSpPr>
        <p:spPr bwMode="auto">
          <a:xfrm>
            <a:off x="455613" y="5702300"/>
            <a:ext cx="6249987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3600" b="1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8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4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latin typeface="Tahoma" panose="020B0604030504040204" pitchFamily="34" charset="0"/>
              </a:rPr>
              <a:t>Objective</a:t>
            </a:r>
            <a:r>
              <a:rPr lang="en-US" altLang="zh-CN" sz="2400" b="0">
                <a:latin typeface="Tahoma" panose="020B0604030504040204" pitchFamily="34" charset="0"/>
              </a:rPr>
              <a:t>: make-span …</a:t>
            </a:r>
          </a:p>
        </p:txBody>
      </p:sp>
      <p:sp>
        <p:nvSpPr>
          <p:cNvPr id="32780" name="Rectangle 14"/>
          <p:cNvSpPr>
            <a:spLocks noChangeArrowheads="1"/>
          </p:cNvSpPr>
          <p:nvPr/>
        </p:nvSpPr>
        <p:spPr bwMode="auto">
          <a:xfrm>
            <a:off x="795655" y="3567113"/>
            <a:ext cx="990600" cy="4953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</a:ln>
        </p:spPr>
        <p:txBody>
          <a:bodyPr wrap="none"/>
          <a:lstStyle>
            <a:lvl1pPr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3600" b="1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8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4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0">
                <a:latin typeface="Tahoma" panose="020B0604030504040204" pitchFamily="34" charset="0"/>
              </a:rPr>
              <a:t>   P1</a:t>
            </a:r>
            <a:endParaRPr lang="zh-CN" altLang="en-US" sz="2400" b="0">
              <a:latin typeface="Tahoma" panose="020B0604030504040204" pitchFamily="34" charset="0"/>
            </a:endParaRPr>
          </a:p>
        </p:txBody>
      </p:sp>
      <p:sp>
        <p:nvSpPr>
          <p:cNvPr id="32781" name="Rectangle 15"/>
          <p:cNvSpPr>
            <a:spLocks noChangeArrowheads="1"/>
          </p:cNvSpPr>
          <p:nvPr/>
        </p:nvSpPr>
        <p:spPr bwMode="auto">
          <a:xfrm>
            <a:off x="4211955" y="3567113"/>
            <a:ext cx="990600" cy="4953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</a:ln>
        </p:spPr>
        <p:txBody>
          <a:bodyPr wrap="none"/>
          <a:lstStyle>
            <a:lvl1pPr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3600" b="1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8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4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0">
                <a:latin typeface="Tahoma" panose="020B0604030504040204" pitchFamily="34" charset="0"/>
              </a:rPr>
              <a:t>   P3</a:t>
            </a:r>
            <a:endParaRPr lang="zh-CN" altLang="en-US" sz="2400" b="0">
              <a:latin typeface="Tahoma" panose="020B0604030504040204" pitchFamily="34" charset="0"/>
            </a:endParaRPr>
          </a:p>
        </p:txBody>
      </p:sp>
      <p:sp>
        <p:nvSpPr>
          <p:cNvPr id="19" name="TextBox 18"/>
          <p:cNvSpPr txBox="1">
            <a:spLocks noChangeArrowheads="1"/>
          </p:cNvSpPr>
          <p:nvPr/>
        </p:nvSpPr>
        <p:spPr bwMode="auto">
          <a:xfrm>
            <a:off x="455613" y="4835525"/>
            <a:ext cx="7939087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3600" b="1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8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4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latin typeface="Tahoma" panose="020B0604030504040204" pitchFamily="34" charset="0"/>
              </a:rPr>
              <a:t>Constraint</a:t>
            </a:r>
            <a:r>
              <a:rPr lang="en-US" altLang="zh-CN" sz="2400" b="0">
                <a:latin typeface="Tahoma" panose="020B0604030504040204" pitchFamily="34" charset="0"/>
              </a:rPr>
              <a:t>: every job is executed by every processor </a:t>
            </a:r>
            <a:r>
              <a:rPr lang="en-US" altLang="zh-CN" sz="2400" b="0">
                <a:solidFill>
                  <a:srgbClr val="FF0000"/>
                </a:solidFill>
                <a:latin typeface="Tahoma" panose="020B0604030504040204" pitchFamily="34" charset="0"/>
              </a:rPr>
              <a:t>exactly once</a:t>
            </a: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Software Architecture</a:t>
            </a:r>
            <a:endParaRPr lang="en-AU" dirty="0"/>
          </a:p>
        </p:txBody>
      </p:sp>
      <p:sp>
        <p:nvSpPr>
          <p:cNvPr id="4" name="Oval 4"/>
          <p:cNvSpPr>
            <a:spLocks noChangeArrowheads="1"/>
          </p:cNvSpPr>
          <p:nvPr/>
        </p:nvSpPr>
        <p:spPr bwMode="auto">
          <a:xfrm>
            <a:off x="6347460" y="2043430"/>
            <a:ext cx="609600" cy="60325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</a:ln>
        </p:spPr>
        <p:txBody>
          <a:bodyPr wrap="none"/>
          <a:lstStyle>
            <a:lvl1pPr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3600" b="1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8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4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0">
                <a:latin typeface="Tahoma" panose="020B0604030504040204" pitchFamily="34" charset="0"/>
              </a:rPr>
              <a:t>J1</a:t>
            </a:r>
            <a:endParaRPr lang="zh-CN" altLang="en-US" sz="2400" b="0">
              <a:latin typeface="Tahoma" panose="020B0604030504040204" pitchFamily="34" charset="0"/>
            </a:endParaRPr>
          </a:p>
        </p:txBody>
      </p:sp>
      <p:sp>
        <p:nvSpPr>
          <p:cNvPr id="5" name="Oval 6"/>
          <p:cNvSpPr>
            <a:spLocks noChangeArrowheads="1"/>
          </p:cNvSpPr>
          <p:nvPr/>
        </p:nvSpPr>
        <p:spPr bwMode="auto">
          <a:xfrm>
            <a:off x="6339205" y="3181668"/>
            <a:ext cx="609600" cy="60325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</a:ln>
        </p:spPr>
        <p:txBody>
          <a:bodyPr wrap="none"/>
          <a:lstStyle>
            <a:lvl1pPr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3600" b="1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8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4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0">
                <a:latin typeface="Tahoma" panose="020B0604030504040204" pitchFamily="34" charset="0"/>
              </a:rPr>
              <a:t>J3</a:t>
            </a:r>
            <a:endParaRPr lang="zh-CN" altLang="en-US" sz="2400" b="0">
              <a:latin typeface="Tahoma" panose="020B0604030504040204" pitchFamily="34" charset="0"/>
            </a:endParaRPr>
          </a:p>
        </p:txBody>
      </p:sp>
      <p:sp>
        <p:nvSpPr>
          <p:cNvPr id="6" name="Oval 7"/>
          <p:cNvSpPr>
            <a:spLocks noChangeArrowheads="1"/>
          </p:cNvSpPr>
          <p:nvPr/>
        </p:nvSpPr>
        <p:spPr bwMode="auto">
          <a:xfrm>
            <a:off x="7236460" y="3176905"/>
            <a:ext cx="609600" cy="60325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</a:ln>
        </p:spPr>
        <p:txBody>
          <a:bodyPr wrap="none"/>
          <a:lstStyle>
            <a:lvl1pPr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3600" b="1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8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4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0">
                <a:latin typeface="Tahoma" panose="020B0604030504040204" pitchFamily="34" charset="0"/>
              </a:rPr>
              <a:t>J5</a:t>
            </a:r>
            <a:endParaRPr lang="zh-CN" altLang="en-US" sz="2400" b="0">
              <a:latin typeface="Tahoma" panose="020B0604030504040204" pitchFamily="34" charset="0"/>
            </a:endParaRPr>
          </a:p>
        </p:txBody>
      </p:sp>
      <p:sp>
        <p:nvSpPr>
          <p:cNvPr id="7" name="Oval 8"/>
          <p:cNvSpPr>
            <a:spLocks noChangeArrowheads="1"/>
          </p:cNvSpPr>
          <p:nvPr/>
        </p:nvSpPr>
        <p:spPr bwMode="auto">
          <a:xfrm>
            <a:off x="7223760" y="2025968"/>
            <a:ext cx="609600" cy="60325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</a:ln>
        </p:spPr>
        <p:txBody>
          <a:bodyPr wrap="none"/>
          <a:lstStyle>
            <a:lvl1pPr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3600" b="1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8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4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0">
                <a:latin typeface="Tahoma" panose="020B0604030504040204" pitchFamily="34" charset="0"/>
              </a:rPr>
              <a:t>J2</a:t>
            </a:r>
            <a:endParaRPr lang="zh-CN" altLang="en-US" sz="2400" b="0">
              <a:latin typeface="Tahoma" panose="020B0604030504040204" pitchFamily="34" charset="0"/>
            </a:endParaRPr>
          </a:p>
        </p:txBody>
      </p:sp>
      <p:sp>
        <p:nvSpPr>
          <p:cNvPr id="8" name="Oval 9"/>
          <p:cNvSpPr>
            <a:spLocks noChangeArrowheads="1"/>
          </p:cNvSpPr>
          <p:nvPr/>
        </p:nvSpPr>
        <p:spPr bwMode="auto">
          <a:xfrm>
            <a:off x="8100060" y="2024380"/>
            <a:ext cx="609600" cy="60325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</a:ln>
        </p:spPr>
        <p:txBody>
          <a:bodyPr wrap="none"/>
          <a:lstStyle>
            <a:lvl1pPr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3600" b="1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8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4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0">
                <a:latin typeface="Tahoma" panose="020B0604030504040204" pitchFamily="34" charset="0"/>
              </a:rPr>
              <a:t>J4</a:t>
            </a:r>
            <a:endParaRPr lang="zh-CN" altLang="en-US" sz="2400" b="0">
              <a:latin typeface="Tahoma" panose="020B0604030504040204" pitchFamily="34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6084570" y="1916430"/>
            <a:ext cx="2807970" cy="8642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6084570" y="3041650"/>
            <a:ext cx="2807970" cy="8642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15888" y="601663"/>
            <a:ext cx="9372601" cy="685800"/>
          </a:xfrm>
        </p:spPr>
        <p:txBody>
          <a:bodyPr/>
          <a:lstStyle/>
          <a:p>
            <a:pPr>
              <a:defRPr/>
            </a:pPr>
            <a:r>
              <a:rPr lang="en-US" altLang="zh-CN" sz="4000" dirty="0">
                <a:solidFill>
                  <a:srgbClr val="C00000"/>
                </a:solidFill>
              </a:rPr>
              <a:t>5. Periodic tasks scheduling</a:t>
            </a:r>
            <a:endParaRPr lang="zh-CN" altLang="en-US" sz="4000" dirty="0">
              <a:solidFill>
                <a:srgbClr val="C00000"/>
              </a:solidFill>
            </a:endParaRPr>
          </a:p>
        </p:txBody>
      </p:sp>
      <p:sp>
        <p:nvSpPr>
          <p:cNvPr id="34819" name="TextBox 10"/>
          <p:cNvSpPr txBox="1">
            <a:spLocks noChangeArrowheads="1"/>
          </p:cNvSpPr>
          <p:nvPr/>
        </p:nvSpPr>
        <p:spPr bwMode="auto">
          <a:xfrm>
            <a:off x="533400" y="3382963"/>
            <a:ext cx="8410575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3600" b="1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8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4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latin typeface="Tahoma" panose="020B0604030504040204" pitchFamily="34" charset="0"/>
              </a:rPr>
              <a:t>The tasks are released periodically and executed in pipeline</a:t>
            </a:r>
            <a:endParaRPr lang="en-US" altLang="zh-CN" sz="2400" b="0" i="1">
              <a:latin typeface="Tahoma" panose="020B0604030504040204" pitchFamily="34" charset="0"/>
            </a:endParaRPr>
          </a:p>
        </p:txBody>
      </p:sp>
      <p:pic>
        <p:nvPicPr>
          <p:cNvPr id="34820" name="Picture 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577975"/>
            <a:ext cx="9140825" cy="1674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" name="Picture 9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3425" y="4343400"/>
            <a:ext cx="4473575" cy="2076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" name="TextBox 10"/>
          <p:cNvSpPr txBox="1">
            <a:spLocks noChangeArrowheads="1"/>
          </p:cNvSpPr>
          <p:nvPr/>
        </p:nvSpPr>
        <p:spPr bwMode="auto">
          <a:xfrm>
            <a:off x="5486400" y="5051425"/>
            <a:ext cx="3130550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3600" b="1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8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4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0">
                <a:latin typeface="Tahoma" panose="020B0604030504040204" pitchFamily="34" charset="0"/>
                <a:ea typeface="MS PGothic" panose="020B0600070205080204" pitchFamily="34" charset="-128"/>
              </a:rPr>
              <a:t>Make-span: 2.1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0">
                <a:latin typeface="Tahoma" panose="020B0604030504040204" pitchFamily="34" charset="0"/>
                <a:ea typeface="MS PGothic" panose="020B0600070205080204" pitchFamily="34" charset="-128"/>
              </a:rPr>
              <a:t>Throughput: 1</a:t>
            </a:r>
            <a:endParaRPr lang="zh-CN" altLang="en-US" sz="2400" b="0"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Software Architecture</a:t>
            </a:r>
            <a:endParaRPr lang="en-AU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7A3ED68-C250-9E85-DE53-5234C9CD2A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P/NP/-Complete/Hard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514A25C-3CC7-D0C0-DEC6-2410283DBC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zh-CN" altLang="zh-CN" sz="2400" b="1" dirty="0">
                <a:solidFill>
                  <a:schemeClr val="accent1"/>
                </a:solidFill>
              </a:rPr>
              <a:t>P ：能"快速解出来"</a:t>
            </a:r>
          </a:p>
          <a:p>
            <a:pPr lvl="1"/>
            <a:r>
              <a:rPr lang="zh-CN" altLang="zh-CN" sz="1800" b="1" dirty="0"/>
              <a:t>直觉</a:t>
            </a:r>
            <a:r>
              <a:rPr lang="zh-CN" altLang="zh-CN" sz="1800" dirty="0"/>
              <a:t>：存在一个算法，能在</a:t>
            </a:r>
            <a:r>
              <a:rPr lang="zh-CN" altLang="zh-CN" sz="1800" b="1" dirty="0"/>
              <a:t>多项式时间</a:t>
            </a:r>
            <a:r>
              <a:rPr lang="zh-CN" altLang="zh-CN" sz="1800" dirty="0"/>
              <a:t>内给出答案。</a:t>
            </a:r>
          </a:p>
          <a:p>
            <a:pPr lvl="1"/>
            <a:r>
              <a:rPr lang="zh-CN" altLang="zh-CN" sz="1800" b="1" dirty="0"/>
              <a:t>多项式时间</a:t>
            </a:r>
            <a:r>
              <a:rPr lang="zh-CN" altLang="zh-CN" sz="1800" dirty="0"/>
              <a:t>：比如 O(n)、O(n²)、O(n³)。对比 O(2ⁿ)、O(n!) 这种"爆炸式"增长。</a:t>
            </a:r>
          </a:p>
          <a:p>
            <a:pPr lvl="1"/>
            <a:r>
              <a:rPr lang="zh-CN" altLang="zh-CN" sz="1800" b="1" dirty="0"/>
              <a:t>例子</a:t>
            </a:r>
            <a:r>
              <a:rPr lang="zh-CN" altLang="zh-CN" sz="1800" dirty="0"/>
              <a:t>：排序、最短路径、判断一个数是不是偶数。</a:t>
            </a:r>
          </a:p>
          <a:p>
            <a:pPr marL="0" indent="0">
              <a:buNone/>
            </a:pPr>
            <a:r>
              <a:rPr lang="zh-CN" altLang="zh-CN" sz="2400" b="1" dirty="0">
                <a:solidFill>
                  <a:schemeClr val="accent1"/>
                </a:solidFill>
              </a:rPr>
              <a:t>NP = 给你一个候选答案，能在多项式时间内检查它对不对。</a:t>
            </a:r>
            <a:endParaRPr lang="en-US" altLang="zh-CN" sz="2400" b="1" dirty="0">
              <a:solidFill>
                <a:schemeClr val="accent1"/>
              </a:solidFill>
            </a:endParaRPr>
          </a:p>
          <a:p>
            <a:r>
              <a:rPr lang="zh-CN" altLang="zh-CN" sz="2000" b="1" dirty="0"/>
              <a:t>经典例子：数独 / 拼图</a:t>
            </a:r>
            <a:endParaRPr lang="zh-CN" altLang="zh-CN" sz="2000" dirty="0"/>
          </a:p>
          <a:p>
            <a:pPr lvl="1"/>
            <a:r>
              <a:rPr lang="zh-CN" altLang="zh-CN" sz="1800" dirty="0"/>
              <a:t>让你</a:t>
            </a:r>
            <a:r>
              <a:rPr lang="zh-CN" altLang="zh-CN" sz="1800" b="1" dirty="0"/>
              <a:t>从零解</a:t>
            </a:r>
            <a:r>
              <a:rPr lang="zh-CN" altLang="zh-CN" sz="1800" dirty="0"/>
              <a:t>一个 9×9 数独 → 可能很难；</a:t>
            </a:r>
          </a:p>
          <a:p>
            <a:pPr lvl="1"/>
            <a:r>
              <a:rPr lang="zh-CN" altLang="zh-CN" sz="1800" dirty="0"/>
              <a:t>但给你一个填好的数独，让你</a:t>
            </a:r>
            <a:r>
              <a:rPr lang="zh-CN" altLang="zh-CN" sz="1800" b="1" dirty="0"/>
              <a:t>检查是否符合规则</a:t>
            </a:r>
            <a:r>
              <a:rPr lang="zh-CN" altLang="zh-CN" sz="1800" dirty="0"/>
              <a:t> → 几秒钟就能验完。</a:t>
            </a:r>
          </a:p>
          <a:p>
            <a:pPr lvl="1"/>
            <a:r>
              <a:rPr lang="zh-CN" altLang="zh-CN" sz="1800" dirty="0"/>
              <a:t>这就叫"</a:t>
            </a:r>
            <a:r>
              <a:rPr lang="zh-CN" altLang="zh-CN" sz="1800" b="1" dirty="0"/>
              <a:t>解可能很难，但验证很容易</a:t>
            </a:r>
            <a:r>
              <a:rPr lang="zh-CN" altLang="zh-CN" sz="1800" dirty="0"/>
              <a:t>"。</a:t>
            </a:r>
            <a:endParaRPr lang="en-US" altLang="zh-CN" sz="1800" dirty="0"/>
          </a:p>
          <a:p>
            <a:r>
              <a:rPr lang="zh-CN" altLang="zh-CN" sz="2000" b="1" dirty="0"/>
              <a:t>给你一个调度方案，问"这个方案能不能在 deadline 前完成？“</a:t>
            </a:r>
            <a:endParaRPr lang="en-US" altLang="zh-CN" sz="2000" b="1" dirty="0"/>
          </a:p>
          <a:p>
            <a:pPr lvl="1"/>
            <a:r>
              <a:rPr lang="zh-CN" altLang="zh-CN" sz="1800" dirty="0"/>
              <a:t>你只要模拟一遍就能验证，很快。但从零找这个方案，可能很难。</a:t>
            </a:r>
            <a:endParaRPr lang="en-US" altLang="zh-CN" sz="1800" dirty="0"/>
          </a:p>
          <a:p>
            <a:pPr lvl="1"/>
            <a:endParaRPr lang="en-US" altLang="zh-CN" sz="1800" dirty="0"/>
          </a:p>
          <a:p>
            <a:pPr marL="0" lvl="0" indent="0">
              <a:buNone/>
            </a:pPr>
            <a:r>
              <a:rPr lang="zh-CN" altLang="zh-CN" sz="2600" dirty="0"/>
              <a:t>P ⊆ NP（能快速解的，当然也能快速验证）；</a:t>
            </a:r>
          </a:p>
          <a:p>
            <a:pPr marL="0" lvl="0" indent="0">
              <a:buNone/>
            </a:pPr>
            <a:r>
              <a:rPr lang="zh-CN" altLang="zh-CN" sz="2600" dirty="0"/>
              <a:t>但 </a:t>
            </a:r>
            <a:r>
              <a:rPr lang="zh-CN" altLang="zh-CN" sz="2600" b="1" dirty="0"/>
              <a:t>P 是否等于 NP</a:t>
            </a:r>
            <a:r>
              <a:rPr lang="zh-CN" altLang="zh-CN" sz="2600" dirty="0"/>
              <a:t>，是计算机科学最大的未解之谜（千禧年难题之一）。</a:t>
            </a:r>
          </a:p>
          <a:p>
            <a:pPr lvl="1"/>
            <a:endParaRPr lang="zh-CN" altLang="zh-CN" sz="1800" dirty="0"/>
          </a:p>
          <a:p>
            <a:endParaRPr lang="zh-CN" altLang="en-US" sz="2400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377AE862-223C-3065-69A7-DE6F207E6C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Software Architecture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39335825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550DF1-E586-4A89-822A-F3A5C9DF01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988FEBC-91E0-2CE5-9F0B-0A24E798CE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P/NP/-Complete/Hard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BB8F192-70A7-80B7-53D8-B377D02D06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zh-CN" altLang="zh-CN" sz="2400" b="1" dirty="0">
                <a:solidFill>
                  <a:schemeClr val="accent1"/>
                </a:solidFill>
              </a:rPr>
              <a:t>NP-Complete </a:t>
            </a:r>
            <a:r>
              <a:rPr lang="zh-CN" altLang="zh-CN" sz="2400" dirty="0"/>
              <a:t>= </a:t>
            </a:r>
            <a:r>
              <a:rPr lang="en-US" altLang="zh-CN" sz="2400" dirty="0"/>
              <a:t>(</a:t>
            </a:r>
            <a:r>
              <a:rPr lang="zh-CN" altLang="zh-CN" sz="2400" dirty="0"/>
              <a:t>它属于 NP</a:t>
            </a:r>
            <a:r>
              <a:rPr lang="en-US" altLang="zh-CN" sz="2400" dirty="0"/>
              <a:t>)</a:t>
            </a:r>
            <a:r>
              <a:rPr lang="zh-CN" altLang="zh-CN" sz="2400" dirty="0"/>
              <a:t>+ </a:t>
            </a:r>
            <a:r>
              <a:rPr lang="en-US" altLang="zh-CN" sz="2400" dirty="0"/>
              <a:t>(</a:t>
            </a:r>
            <a:r>
              <a:rPr lang="zh-CN" altLang="zh-CN" sz="2400" dirty="0"/>
              <a:t>NP 里所有问题都能归约到它</a:t>
            </a:r>
            <a:r>
              <a:rPr lang="en-US" altLang="zh-CN" sz="2400" dirty="0"/>
              <a:t>)</a:t>
            </a:r>
            <a:endParaRPr lang="en-US" altLang="zh-CN" sz="1800" b="1" dirty="0">
              <a:solidFill>
                <a:schemeClr val="accent1"/>
              </a:solidFill>
            </a:endParaRPr>
          </a:p>
          <a:p>
            <a:pPr marL="0" indent="0">
              <a:buNone/>
            </a:pPr>
            <a:r>
              <a:rPr lang="zh-CN" altLang="zh-CN" sz="2400" b="1" dirty="0"/>
              <a:t>归约</a:t>
            </a:r>
            <a:endParaRPr lang="en-US" altLang="zh-CN" sz="2400" b="1" dirty="0"/>
          </a:p>
          <a:p>
            <a:r>
              <a:rPr lang="zh-CN" altLang="zh-CN" sz="2000" dirty="0"/>
              <a:t>如果问题 A 能"翻译"成问题 B，而且翻译本身很快，那么：</a:t>
            </a:r>
          </a:p>
          <a:p>
            <a:pPr lvl="0"/>
            <a:r>
              <a:rPr lang="zh-CN" altLang="zh-CN" sz="2000" dirty="0"/>
              <a:t>B 能解 → A 也能解；</a:t>
            </a:r>
          </a:p>
          <a:p>
            <a:pPr lvl="0"/>
            <a:r>
              <a:rPr lang="zh-CN" altLang="zh-CN" sz="2000" dirty="0"/>
              <a:t>A 很难 → B 也至少一样难。</a:t>
            </a:r>
          </a:p>
          <a:p>
            <a:pPr marL="0" indent="0">
              <a:buNone/>
            </a:pPr>
            <a:r>
              <a:rPr lang="en-US" altLang="zh-CN" sz="2400" b="1" dirty="0">
                <a:solidFill>
                  <a:schemeClr val="accent1"/>
                </a:solidFill>
              </a:rPr>
              <a:t>NPC </a:t>
            </a:r>
            <a:r>
              <a:rPr lang="zh-CN" altLang="en-US" sz="2400" b="1" dirty="0">
                <a:solidFill>
                  <a:schemeClr val="accent1"/>
                </a:solidFill>
              </a:rPr>
              <a:t>的意义：</a:t>
            </a:r>
          </a:p>
          <a:p>
            <a:r>
              <a:rPr lang="zh-CN" altLang="en-US" sz="2100" dirty="0"/>
              <a:t>它们是 </a:t>
            </a:r>
            <a:r>
              <a:rPr lang="en-US" altLang="zh-CN" sz="2100" dirty="0"/>
              <a:t>NP </a:t>
            </a:r>
            <a:r>
              <a:rPr lang="zh-CN" altLang="en-US" sz="2100" dirty="0"/>
              <a:t>里</a:t>
            </a:r>
            <a:r>
              <a:rPr lang="en-US" altLang="zh-CN" sz="2100" dirty="0"/>
              <a:t>"</a:t>
            </a:r>
            <a:r>
              <a:rPr lang="zh-CN" altLang="en-US" sz="2100" dirty="0"/>
              <a:t>最难</a:t>
            </a:r>
            <a:r>
              <a:rPr lang="en-US" altLang="zh-CN" sz="2100" dirty="0"/>
              <a:t>"</a:t>
            </a:r>
            <a:r>
              <a:rPr lang="zh-CN" altLang="en-US" sz="2100" dirty="0"/>
              <a:t>的问题；</a:t>
            </a:r>
          </a:p>
          <a:p>
            <a:r>
              <a:rPr lang="zh-CN" altLang="en-US" sz="2100" dirty="0"/>
              <a:t>只要任何一个 </a:t>
            </a:r>
            <a:r>
              <a:rPr lang="en-US" altLang="zh-CN" sz="2100" dirty="0"/>
              <a:t>NPC </a:t>
            </a:r>
            <a:r>
              <a:rPr lang="zh-CN" altLang="en-US" sz="2100" dirty="0"/>
              <a:t>问题找到多项式算法，那么 </a:t>
            </a:r>
            <a:r>
              <a:rPr lang="en-US" altLang="zh-CN" sz="2100" dirty="0"/>
              <a:t>P = NP</a:t>
            </a:r>
            <a:r>
              <a:rPr lang="zh-CN" altLang="en-US" sz="2100" dirty="0"/>
              <a:t>（所有 </a:t>
            </a:r>
            <a:r>
              <a:rPr lang="en-US" altLang="zh-CN" sz="2100" dirty="0"/>
              <a:t>NP </a:t>
            </a:r>
            <a:r>
              <a:rPr lang="zh-CN" altLang="en-US" sz="2100" dirty="0"/>
              <a:t>问题都能快速解）；</a:t>
            </a:r>
          </a:p>
          <a:p>
            <a:r>
              <a:rPr lang="zh-CN" altLang="en-US" sz="2100" dirty="0"/>
              <a:t>至今没人做到，所以大家普遍认为 </a:t>
            </a:r>
            <a:r>
              <a:rPr lang="en-US" altLang="zh-CN" sz="2100" dirty="0"/>
              <a:t>P ≠ NP</a:t>
            </a:r>
            <a:r>
              <a:rPr lang="zh-CN" altLang="en-US" sz="2100" dirty="0"/>
              <a:t>，</a:t>
            </a:r>
            <a:r>
              <a:rPr lang="en-US" altLang="zh-CN" sz="2100" dirty="0"/>
              <a:t>NPC </a:t>
            </a:r>
            <a:r>
              <a:rPr lang="zh-CN" altLang="en-US" sz="2100" dirty="0"/>
              <a:t>问题没有已知的多项式最优算法。</a:t>
            </a:r>
            <a:endParaRPr lang="en-US" altLang="zh-CN" sz="2100" dirty="0"/>
          </a:p>
          <a:p>
            <a:pPr marL="0" indent="0">
              <a:buNone/>
            </a:pPr>
            <a:r>
              <a:rPr lang="zh-CN" altLang="zh-CN" sz="2400" b="1" dirty="0">
                <a:solidFill>
                  <a:schemeClr val="accent1"/>
                </a:solidFill>
              </a:rPr>
              <a:t>经典 NPC 问题</a:t>
            </a:r>
            <a:r>
              <a:rPr lang="zh-CN" altLang="zh-CN" sz="2400" dirty="0"/>
              <a:t>：SAT（布尔可满足性）、旅行商问题的判定版、背包问题的判定版、图着色</a:t>
            </a:r>
            <a:endParaRPr lang="zh-CN" altLang="zh-CN" sz="1400" dirty="0"/>
          </a:p>
          <a:p>
            <a:endParaRPr lang="zh-CN" altLang="en-US" sz="2400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B52486D-37C0-7182-9EA1-37ACF61C3C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Software Architecture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83104647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380913-8168-213A-6C2A-F34A5C1FE7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9B3BCF0-AB9B-DE54-BE51-93CD874790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P/NP/-Complete/Hard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E4CC67D-7DDF-E255-6AA7-98EDC6A64F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400" dirty="0">
                <a:solidFill>
                  <a:schemeClr val="accent1"/>
                </a:solidFill>
              </a:rPr>
              <a:t>NP-hard: </a:t>
            </a:r>
            <a:r>
              <a:rPr lang="zh-CN" altLang="en-US" sz="2400" dirty="0"/>
              <a:t>不是说</a:t>
            </a:r>
            <a:r>
              <a:rPr lang="en-US" altLang="zh-CN" sz="2400" dirty="0"/>
              <a:t>"</a:t>
            </a:r>
            <a:r>
              <a:rPr lang="zh-CN" altLang="en-US" sz="2400" dirty="0"/>
              <a:t>做不了</a:t>
            </a:r>
            <a:r>
              <a:rPr lang="en-US" altLang="zh-CN" sz="2400" dirty="0"/>
              <a:t>"</a:t>
            </a:r>
            <a:r>
              <a:rPr lang="zh-CN" altLang="en-US" sz="2400" dirty="0"/>
              <a:t>，而是说</a:t>
            </a:r>
            <a:r>
              <a:rPr lang="en-US" altLang="zh-CN" sz="2400" dirty="0"/>
              <a:t>"</a:t>
            </a:r>
            <a:r>
              <a:rPr lang="zh-CN" altLang="en-US" sz="2400" dirty="0"/>
              <a:t>很难保证在合理时间内找到最优解</a:t>
            </a:r>
            <a:r>
              <a:rPr lang="en-US" altLang="zh-CN" sz="2400" dirty="0"/>
              <a:t>“</a:t>
            </a:r>
            <a:endParaRPr lang="en-US" altLang="zh-CN" sz="2400" dirty="0">
              <a:solidFill>
                <a:schemeClr val="accent1"/>
              </a:solidFill>
            </a:endParaRPr>
          </a:p>
          <a:p>
            <a:pPr lvl="1" indent="-342900"/>
            <a:r>
              <a:rPr lang="zh-CN" altLang="zh-CN" sz="2000" dirty="0"/>
              <a:t>至少和 NP 里最难的问题一样难</a:t>
            </a:r>
            <a:endParaRPr lang="en-US" altLang="zh-CN" sz="2000" dirty="0"/>
          </a:p>
          <a:p>
            <a:pPr lvl="1" indent="-342900"/>
            <a:r>
              <a:rPr lang="zh-CN" altLang="zh-CN" sz="2000" dirty="0"/>
              <a:t>但不一定属于 NP</a:t>
            </a:r>
            <a:endParaRPr lang="en-US" altLang="zh-CN" sz="2000" dirty="0"/>
          </a:p>
          <a:p>
            <a:pPr lvl="1" indent="-342900"/>
            <a:r>
              <a:rPr lang="en-US" altLang="zh-CN" sz="2000" dirty="0"/>
              <a:t>NP-Hard </a:t>
            </a:r>
            <a:r>
              <a:rPr lang="zh-CN" altLang="en-US" sz="2000" dirty="0"/>
              <a:t>问题</a:t>
            </a:r>
            <a:r>
              <a:rPr lang="zh-CN" altLang="en-US" sz="2000" b="1" u="sng" dirty="0"/>
              <a:t>可能</a:t>
            </a:r>
            <a:r>
              <a:rPr lang="zh-CN" altLang="en-US" sz="2000" dirty="0"/>
              <a:t>连验证都做不到。</a:t>
            </a:r>
            <a:endParaRPr lang="en-US" altLang="zh-CN" sz="2000" dirty="0"/>
          </a:p>
          <a:p>
            <a:pPr marL="0" indent="0">
              <a:buNone/>
            </a:pPr>
            <a:endParaRPr lang="en-US" altLang="zh-CN" sz="2400" dirty="0"/>
          </a:p>
          <a:p>
            <a:pPr marL="0" indent="0">
              <a:buNone/>
            </a:pPr>
            <a:r>
              <a:rPr lang="zh-CN" altLang="zh-CN" sz="2400" dirty="0"/>
              <a:t>所有的 NP-Complete 问题都是 NP-Hard</a:t>
            </a:r>
            <a:endParaRPr lang="en-US" altLang="zh-CN" sz="2400" dirty="0"/>
          </a:p>
          <a:p>
            <a:pPr marL="0" indent="0">
              <a:buNone/>
            </a:pPr>
            <a:r>
              <a:rPr lang="zh-CN" altLang="zh-CN" sz="2400" dirty="0"/>
              <a:t>但 NP-Hard 不一定是 NP-Complete</a:t>
            </a:r>
            <a:endParaRPr lang="en-US" altLang="zh-CN" sz="1800" dirty="0"/>
          </a:p>
          <a:p>
            <a:pPr lvl="1"/>
            <a:endParaRPr lang="zh-CN" altLang="zh-CN" sz="1800" dirty="0"/>
          </a:p>
          <a:p>
            <a:endParaRPr lang="zh-CN" altLang="en-US" sz="2400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D188BD8-0570-A4DB-747D-846D1D6E01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Software Architecture</a:t>
            </a:r>
            <a:endParaRPr lang="en-AU" dirty="0"/>
          </a:p>
        </p:txBody>
      </p:sp>
      <p:pic>
        <p:nvPicPr>
          <p:cNvPr id="5" name="图片 4" descr="P、NP、NPC和NP-Hard相关概念的图形和解释_np-hard问题是什么-CSDN博客">
            <a:extLst>
              <a:ext uri="{FF2B5EF4-FFF2-40B4-BE49-F238E27FC236}">
                <a16:creationId xmlns:a16="http://schemas.microsoft.com/office/drawing/2014/main" id="{58457B21-F0DC-9E1B-E42B-87AB6DEE4D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4159" y="4525145"/>
            <a:ext cx="3962400" cy="1993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607960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3C6AFC4-FD3D-85CC-D4EE-AA2CF646E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如何证明一个问题是</a:t>
            </a:r>
            <a:r>
              <a:rPr lang="en-US" altLang="zh-CN" dirty="0"/>
              <a:t>NP-Hard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112600D-A8C8-7E8D-325D-7D2600914A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zh-CN" altLang="zh-CN" sz="2400" dirty="0"/>
              <a:t>NP-Hard 的定义是“NP 里所有问题都能归约到它”。</a:t>
            </a:r>
            <a:endParaRPr lang="en-US" altLang="zh-CN" sz="2400" dirty="0"/>
          </a:p>
          <a:p>
            <a:pPr marL="0" indent="0">
              <a:buNone/>
            </a:pPr>
            <a:r>
              <a:rPr lang="zh-CN" altLang="zh-CN" sz="2400" b="1" dirty="0"/>
              <a:t>不需要</a:t>
            </a:r>
            <a:r>
              <a:rPr lang="zh-CN" altLang="zh-CN" sz="2400" dirty="0"/>
              <a:t>真的去归约每一个 NP 问题</a:t>
            </a:r>
            <a:r>
              <a:rPr lang="zh-CN" altLang="en-US" sz="2400" dirty="0"/>
              <a:t>（</a:t>
            </a:r>
            <a:r>
              <a:rPr lang="zh-CN" altLang="zh-CN" sz="2400" dirty="0"/>
              <a:t>不可能</a:t>
            </a:r>
            <a:r>
              <a:rPr lang="zh-CN" altLang="en-US" sz="2400" dirty="0"/>
              <a:t>） </a:t>
            </a:r>
            <a:r>
              <a:rPr lang="zh-CN" altLang="zh-CN" sz="2400" dirty="0"/>
              <a:t>。</a:t>
            </a:r>
          </a:p>
          <a:p>
            <a:r>
              <a:rPr lang="zh-CN" altLang="zh-CN" sz="2400" dirty="0"/>
              <a:t>找一个</a:t>
            </a:r>
            <a:r>
              <a:rPr lang="zh-CN" altLang="zh-CN" sz="2400" b="1" dirty="0"/>
              <a:t>已知的 NP-Hard 问题</a:t>
            </a:r>
            <a:r>
              <a:rPr lang="zh-CN" altLang="zh-CN" sz="2400" dirty="0"/>
              <a:t>，把它归约到你的问题。</a:t>
            </a:r>
          </a:p>
          <a:p>
            <a:r>
              <a:rPr lang="zh-CN" altLang="zh-CN" sz="2400" dirty="0"/>
              <a:t>归约有传递性：所有 NP 问题 → 已知 NP-Hard 问题 → 你的问题</a:t>
            </a:r>
            <a:r>
              <a:rPr lang="zh-CN" altLang="en-US" sz="2400" dirty="0"/>
              <a:t>。</a:t>
            </a:r>
            <a:r>
              <a:rPr lang="zh-CN" altLang="zh-CN" sz="2400" dirty="0"/>
              <a:t>既然所有 NP 问题都能到已知 NP-Hard 问题，而它又能到你的问题，那么所有 NP 问题也都能到你的问题。所以你的问题也是 NP-Hard。</a:t>
            </a:r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zh-CN" altLang="zh-CN" sz="2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你想证明“搬钢琴很难”。</a:t>
            </a:r>
            <a:br>
              <a:rPr lang="zh-CN" altLang="zh-CN" sz="2600" dirty="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lang="zh-CN" altLang="zh-CN" sz="2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你已知“搬沙发”是 NP-Hard。</a:t>
            </a:r>
            <a:br>
              <a:rPr lang="zh-CN" altLang="zh-CN" sz="2600" dirty="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lang="zh-CN" altLang="zh-CN" sz="2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你展示：</a:t>
            </a:r>
            <a:r>
              <a:rPr lang="zh-CN" altLang="zh-CN" sz="26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如果谁能搬钢琴，那他就一定能搬沙发</a:t>
            </a:r>
            <a:r>
              <a:rPr lang="zh-CN" altLang="zh-CN" sz="2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（搬钢琴的过程里包含了搬沙发）。</a:t>
            </a:r>
            <a:br>
              <a:rPr lang="zh-CN" altLang="zh-CN" sz="2600" dirty="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lang="zh-CN" altLang="zh-CN" sz="2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所以搬钢琴至少和搬沙发一样难 → 搬钢琴也是 NP-Hard。</a:t>
            </a:r>
            <a:endParaRPr lang="zh-CN" altLang="en-US" sz="2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17E116B-0A98-7FD8-DF25-20F52492BC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Software Architecture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2524519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5340063-858D-D5E6-6118-F4302391C7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如何证明一个问题是</a:t>
            </a:r>
            <a:r>
              <a:rPr lang="en-US" altLang="zh-CN" dirty="0"/>
              <a:t>NPC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9A71071-52BE-81EF-BBAE-B310D49EC7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证明验证这个问题的解是多项式的</a:t>
            </a:r>
            <a:endParaRPr lang="en-US" altLang="zh-CN" dirty="0"/>
          </a:p>
          <a:p>
            <a:r>
              <a:rPr lang="zh-CN" altLang="en-US" dirty="0"/>
              <a:t>证明这个问题是</a:t>
            </a:r>
            <a:r>
              <a:rPr lang="en-US" altLang="zh-CN" dirty="0"/>
              <a:t>NP-Hard</a:t>
            </a:r>
            <a:endParaRPr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7DF07B7-C56A-2C60-AEA6-0BE730FE45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Software Architecture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23544636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2425" y="582613"/>
            <a:ext cx="8791575" cy="685800"/>
          </a:xfrm>
        </p:spPr>
        <p:txBody>
          <a:bodyPr/>
          <a:lstStyle/>
          <a:p>
            <a:pPr>
              <a:defRPr/>
            </a:pPr>
            <a:r>
              <a:rPr lang="en-US" altLang="zh-CN" dirty="0">
                <a:solidFill>
                  <a:srgbClr val="C00000"/>
                </a:solidFill>
              </a:rPr>
              <a:t>Similar Terminologies</a:t>
            </a:r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36867" name="Content Placeholder 2"/>
          <p:cNvSpPr>
            <a:spLocks noGrp="1" noChangeArrowheads="1"/>
          </p:cNvSpPr>
          <p:nvPr>
            <p:ph idx="1"/>
          </p:nvPr>
        </p:nvSpPr>
        <p:spPr>
          <a:xfrm>
            <a:off x="352425" y="1600200"/>
            <a:ext cx="8510588" cy="3505200"/>
          </a:xfrm>
        </p:spPr>
        <p:txBody>
          <a:bodyPr/>
          <a:lstStyle/>
          <a:p>
            <a:r>
              <a:rPr lang="en-US" altLang="zh-CN">
                <a:latin typeface="Times New Roman" panose="02020603050405020304" charset="0"/>
                <a:cs typeface="Times New Roman" panose="02020603050405020304" charset="0"/>
                <a:sym typeface="+mn-ea"/>
              </a:rPr>
              <a:t>Resource allocation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zh-CN">
                <a:latin typeface="Times New Roman" panose="02020603050405020304" charset="0"/>
                <a:cs typeface="Times New Roman" panose="02020603050405020304" charset="0"/>
                <a:sym typeface="+mn-ea"/>
              </a:rPr>
              <a:t>Resource scheduling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Task assignment</a:t>
            </a:r>
          </a:p>
          <a:p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Task placement</a:t>
            </a:r>
          </a:p>
          <a:p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Task allocation</a:t>
            </a:r>
          </a:p>
          <a:p>
            <a:endParaRPr lang="zh-CN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TextBox 4"/>
          <p:cNvSpPr txBox="1">
            <a:spLocks noChangeArrowheads="1"/>
          </p:cNvSpPr>
          <p:nvPr/>
        </p:nvSpPr>
        <p:spPr bwMode="auto">
          <a:xfrm>
            <a:off x="352425" y="5068888"/>
            <a:ext cx="8305800" cy="1077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600" b="1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8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4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/>
                <a:ea typeface="Arial Unicode MS" panose="020B0604020202020204" pitchFamily="34" charset="-122"/>
                <a:cs typeface="Arial Unicode MS" panose="020B0604020202020204" pitchFamily="34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200" b="0">
                <a:solidFill>
                  <a:srgbClr val="002060"/>
                </a:solidFill>
                <a:latin typeface="Times New Roman" panose="02020603050405020304" charset="0"/>
                <a:cs typeface="Times New Roman" panose="02020603050405020304" charset="0"/>
              </a:rPr>
              <a:t>The problems above are considered as the special cases/instances of the scheduling problem. </a:t>
            </a:r>
            <a:endParaRPr lang="zh-CN" altLang="en-US" sz="3200" b="0">
              <a:solidFill>
                <a:srgbClr val="002060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Software Architecture</a:t>
            </a:r>
            <a:endParaRPr lang="en-A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3568" y="266191"/>
            <a:ext cx="8147248" cy="778098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altLang="zh-CN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cs typeface="Times New Roman" panose="02020603050405020304" charset="0"/>
              </a:rPr>
              <a:t>Categories of Scheduling Algorithms</a:t>
            </a:r>
            <a:endParaRPr lang="zh-CN" altLang="en-US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1216" y="1196752"/>
            <a:ext cx="8229600" cy="4176464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altLang="zh-CN" b="1" dirty="0"/>
              <a:t>Algorithms to solve optimization problems</a:t>
            </a:r>
          </a:p>
          <a:p>
            <a:pPr marL="514350" indent="-514350">
              <a:buAutoNum type="arabicPeriod"/>
            </a:pPr>
            <a:r>
              <a:rPr lang="en-US" altLang="zh-CN" dirty="0"/>
              <a:t>Mathematical programing, i.e., integer programming, linear programing </a:t>
            </a:r>
          </a:p>
          <a:p>
            <a:pPr marL="514350" indent="-514350">
              <a:buAutoNum type="arabicPeriod"/>
            </a:pPr>
            <a:r>
              <a:rPr lang="en-US" altLang="zh-CN" dirty="0"/>
              <a:t>Evolutionary algorithms, </a:t>
            </a:r>
            <a:r>
              <a:rPr lang="en-US" altLang="zh-CN" dirty="0" err="1"/>
              <a:t>i.e</a:t>
            </a:r>
            <a:r>
              <a:rPr lang="en-US" altLang="zh-CN" dirty="0"/>
              <a:t>, GA, PSO, Ant colony</a:t>
            </a:r>
          </a:p>
          <a:p>
            <a:pPr marL="514350" indent="-514350">
              <a:buAutoNum type="arabicPeriod"/>
            </a:pPr>
            <a:r>
              <a:rPr lang="en-US" altLang="zh-CN" dirty="0"/>
              <a:t>Simple and competitive heuristics, i.e., list scheduling</a:t>
            </a:r>
          </a:p>
          <a:p>
            <a:pPr marL="514350" indent="-514350">
              <a:buAutoNum type="arabicPeriod"/>
            </a:pPr>
            <a:r>
              <a:rPr lang="en-US" altLang="zh-CN" dirty="0"/>
              <a:t>Machine learning based algorithm, i.e., deep reinforcement learning</a:t>
            </a:r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© Software Architecture</a:t>
            </a:r>
            <a:endParaRPr lang="en-AU" altLang="zh-CN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297089"/>
            <a:ext cx="9036496" cy="685800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altLang="zh-CN" dirty="0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Scheduling Method: System Considerations</a:t>
            </a:r>
            <a:endParaRPr lang="zh-CN" altLang="en-US" dirty="0">
              <a:solidFill>
                <a:srgbClr val="C00000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0723" name="内容占位符 2"/>
          <p:cNvSpPr>
            <a:spLocks noGrp="1"/>
          </p:cNvSpPr>
          <p:nvPr>
            <p:ph idx="1"/>
          </p:nvPr>
        </p:nvSpPr>
        <p:spPr>
          <a:xfrm>
            <a:off x="638175" y="1295400"/>
            <a:ext cx="8153400" cy="5105400"/>
          </a:xfrm>
        </p:spPr>
        <p:txBody>
          <a:bodyPr>
            <a:normAutofit lnSpcReduction="10000"/>
          </a:bodyPr>
          <a:lstStyle/>
          <a:p>
            <a:pPr>
              <a:defRPr/>
            </a:pPr>
            <a:r>
              <a:rPr lang="en-US" altLang="zh-CN" sz="3200" dirty="0">
                <a:latin typeface="Times New Roman" panose="02020603050405020304" charset="0"/>
                <a:cs typeface="Times New Roman" panose="02020603050405020304" charset="0"/>
              </a:rPr>
              <a:t>Machine centric approach</a:t>
            </a:r>
          </a:p>
          <a:p>
            <a:pPr lvl="1">
              <a:defRPr/>
            </a:pPr>
            <a:r>
              <a:rPr lang="en-US" altLang="zh-CN" sz="2400" dirty="0">
                <a:latin typeface="Times New Roman" panose="02020603050405020304" charset="0"/>
                <a:cs typeface="Times New Roman" panose="02020603050405020304" charset="0"/>
              </a:rPr>
              <a:t>Scheduling is triggered when a machine becomes idle</a:t>
            </a:r>
          </a:p>
          <a:p>
            <a:pPr lvl="1">
              <a:defRPr/>
            </a:pPr>
            <a:r>
              <a:rPr lang="en-US" altLang="zh-CN" sz="2400" dirty="0">
                <a:latin typeface="Times New Roman" panose="02020603050405020304" charset="0"/>
                <a:cs typeface="Times New Roman" panose="02020603050405020304" charset="0"/>
              </a:rPr>
              <a:t>For each idle (空闲) machine, select the task according to some policies, e.g., </a:t>
            </a:r>
          </a:p>
          <a:p>
            <a:pPr lvl="2">
              <a:defRPr/>
            </a:pPr>
            <a:r>
              <a:rPr lang="en-US" altLang="zh-CN" sz="2000" dirty="0">
                <a:latin typeface="Times New Roman" panose="02020603050405020304" charset="0"/>
                <a:cs typeface="Times New Roman" panose="02020603050405020304" charset="0"/>
              </a:rPr>
              <a:t>First-Come-First-Serve (FCFS), </a:t>
            </a:r>
          </a:p>
          <a:p>
            <a:pPr lvl="2">
              <a:defRPr/>
            </a:pPr>
            <a:r>
              <a:rPr lang="en-US" altLang="zh-CN" sz="2000" dirty="0">
                <a:latin typeface="Times New Roman" panose="02020603050405020304" charset="0"/>
                <a:cs typeface="Times New Roman" panose="02020603050405020304" charset="0"/>
              </a:rPr>
              <a:t>Shortest Job First (SJF), </a:t>
            </a:r>
          </a:p>
          <a:p>
            <a:pPr lvl="2">
              <a:defRPr/>
            </a:pPr>
            <a:r>
              <a:rPr lang="en-US" altLang="zh-CN" sz="2000" dirty="0">
                <a:latin typeface="Times New Roman" panose="02020603050405020304" charset="0"/>
                <a:cs typeface="Times New Roman" panose="02020603050405020304" charset="0"/>
              </a:rPr>
              <a:t>Earliest Deadline First (EDF)</a:t>
            </a:r>
          </a:p>
          <a:p>
            <a:pPr lvl="2">
              <a:defRPr/>
            </a:pPr>
            <a:r>
              <a:rPr lang="en-US" altLang="zh-CN" sz="2000" dirty="0">
                <a:latin typeface="Times New Roman" panose="02020603050405020304" charset="0"/>
                <a:cs typeface="Times New Roman" panose="02020603050405020304" charset="0"/>
              </a:rPr>
              <a:t>Job with the longest waiting time first, …  </a:t>
            </a:r>
          </a:p>
          <a:p>
            <a:pPr>
              <a:defRPr/>
            </a:pPr>
            <a:r>
              <a:rPr lang="en-US" altLang="zh-CN" sz="3200" dirty="0">
                <a:latin typeface="Times New Roman" panose="02020603050405020304" charset="0"/>
                <a:cs typeface="Times New Roman" panose="02020603050405020304" charset="0"/>
              </a:rPr>
              <a:t>Task centric approach </a:t>
            </a:r>
          </a:p>
          <a:p>
            <a:pPr lvl="1">
              <a:defRPr/>
            </a:pPr>
            <a:r>
              <a:rPr lang="en-US" altLang="zh-CN" sz="2400" dirty="0">
                <a:latin typeface="Times New Roman" panose="02020603050405020304" charset="0"/>
                <a:cs typeface="Times New Roman" panose="02020603050405020304" charset="0"/>
              </a:rPr>
              <a:t>Scheduling is triggered done when a new task arrives</a:t>
            </a:r>
          </a:p>
          <a:p>
            <a:pPr lvl="1">
              <a:defRPr/>
            </a:pPr>
            <a:r>
              <a:rPr lang="en-US" altLang="zh-CN" sz="2400" dirty="0">
                <a:latin typeface="Times New Roman" panose="02020603050405020304" charset="0"/>
                <a:cs typeface="Times New Roman" panose="02020603050405020304" charset="0"/>
              </a:rPr>
              <a:t>For each scheduled task, select the machine according to some policies, e.g., earliest finished time, …</a:t>
            </a:r>
          </a:p>
          <a:p>
            <a:pPr marL="0" indent="0">
              <a:buNone/>
              <a:defRPr/>
            </a:pPr>
            <a:endParaRPr lang="en-US" altLang="zh-CN" sz="28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lvl="1" indent="0">
              <a:buFont typeface="Wingdings" panose="05000000000000000000" pitchFamily="2" charset="2"/>
              <a:buNone/>
              <a:defRPr/>
            </a:pPr>
            <a:endParaRPr lang="en-US" altLang="zh-CN" sz="3600" dirty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defRPr/>
            </a:pPr>
            <a:endParaRPr lang="en-US" altLang="zh-CN" sz="32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© Software Architecture</a:t>
            </a:r>
            <a:endParaRPr lang="en-AU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Performance is about the management of system resources in the face of particular types of demand to achieve acceptable timing behavior. </a:t>
            </a:r>
          </a:p>
          <a:p>
            <a:r>
              <a:rPr lang="en-US" dirty="0"/>
              <a:t>Performance can be measured in terms of throughput and latency for both interactive and embedded real time systems.</a:t>
            </a:r>
          </a:p>
          <a:p>
            <a:r>
              <a:rPr lang="en-US" dirty="0"/>
              <a:t>Performance can be improved by reducing demand or by managing resources more appropriately. 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Software Architecture</a:t>
            </a:r>
            <a:endParaRPr lang="en-AU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MTc5NWIxYzdjOTUxYjQ2ZjMyNzFmMjc2NjMyZjhmNjkifQ==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512</TotalTime>
  <Words>5058</Words>
  <Application>Microsoft Office PowerPoint</Application>
  <PresentationFormat>全屏显示(4:3)</PresentationFormat>
  <Paragraphs>370</Paragraphs>
  <Slides>59</Slides>
  <Notes>7</Notes>
  <HiddenSlides>1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59</vt:i4>
      </vt:variant>
    </vt:vector>
  </HeadingPairs>
  <TitlesOfParts>
    <vt:vector size="68" baseType="lpstr">
      <vt:lpstr>PMingLiU</vt:lpstr>
      <vt:lpstr>等线</vt:lpstr>
      <vt:lpstr>Arial</vt:lpstr>
      <vt:lpstr>Calibri</vt:lpstr>
      <vt:lpstr>Tahoma</vt:lpstr>
      <vt:lpstr>Times</vt:lpstr>
      <vt:lpstr>Times New Roman</vt:lpstr>
      <vt:lpstr>Wingdings</vt:lpstr>
      <vt:lpstr>Office Theme</vt:lpstr>
      <vt:lpstr>Chapter 8: Performance</vt:lpstr>
      <vt:lpstr>What is Performance?</vt:lpstr>
      <vt:lpstr>Why is Performance Important?</vt:lpstr>
      <vt:lpstr>Why is Performance Important?</vt:lpstr>
      <vt:lpstr>How to measure?</vt:lpstr>
      <vt:lpstr>Trade-Off</vt:lpstr>
      <vt:lpstr>Performance General Scenario</vt:lpstr>
      <vt:lpstr>Performance General Scenario</vt:lpstr>
      <vt:lpstr>Performance General Scenario</vt:lpstr>
      <vt:lpstr>Sample Concrete Performance Scenario</vt:lpstr>
      <vt:lpstr>Sample Concrete Performance Scenario</vt:lpstr>
      <vt:lpstr>Performance Modeling </vt:lpstr>
      <vt:lpstr>Processing time</vt:lpstr>
      <vt:lpstr>Processing time</vt:lpstr>
      <vt:lpstr>Blocked time</vt:lpstr>
      <vt:lpstr>Blocked time</vt:lpstr>
      <vt:lpstr>Goal of Performance Tactics</vt:lpstr>
      <vt:lpstr>Two Tactic Categories</vt:lpstr>
      <vt:lpstr>Performance Tactics</vt:lpstr>
      <vt:lpstr>Performance Tactics</vt:lpstr>
      <vt:lpstr>Control Resource Demand 控制资源需求</vt:lpstr>
      <vt:lpstr>Control Resource Demand 控制资源需求</vt:lpstr>
      <vt:lpstr>Control Resource Demand 控制资源需求</vt:lpstr>
      <vt:lpstr>Control Resource Demand 控制资源需求</vt:lpstr>
      <vt:lpstr>Control Resource Demand 控制资源需求</vt:lpstr>
      <vt:lpstr>Control Resource Demand 控制资源需求</vt:lpstr>
      <vt:lpstr>Control Resource Demand 控制资源需求</vt:lpstr>
      <vt:lpstr>Manage Resources 管理资源</vt:lpstr>
      <vt:lpstr>Manage Resources 管理资源</vt:lpstr>
      <vt:lpstr>Manage Resources 管理资源</vt:lpstr>
      <vt:lpstr>Manage Resources 管理资源</vt:lpstr>
      <vt:lpstr>Manage Resources 管理资源</vt:lpstr>
      <vt:lpstr>Manage Resources 管理资源</vt:lpstr>
      <vt:lpstr>Manage Resources 管理资源</vt:lpstr>
      <vt:lpstr>Manage Resources 管理资源</vt:lpstr>
      <vt:lpstr>Manage Resources 管理资源</vt:lpstr>
      <vt:lpstr>Performance Tactics on the Road</vt:lpstr>
      <vt:lpstr>Performance Tactics on the Road</vt:lpstr>
      <vt:lpstr>3-Dimension Framework for Scheduling Problem</vt:lpstr>
      <vt:lpstr>Task Model</vt:lpstr>
      <vt:lpstr>Resource Model</vt:lpstr>
      <vt:lpstr>Objectives</vt:lpstr>
      <vt:lpstr>Task Scheduling Problems</vt:lpstr>
      <vt:lpstr>1. Bag-of-Tasks on Single Processor</vt:lpstr>
      <vt:lpstr>PowerPoint 演示文稿</vt:lpstr>
      <vt:lpstr>2. Bag-of-Tasks on Multi-Processors</vt:lpstr>
      <vt:lpstr>2. Bag-of-Tasks on Multi-Processors</vt:lpstr>
      <vt:lpstr>3. DAGs Scheduling on Heterogeneous Processors</vt:lpstr>
      <vt:lpstr>4. Job Shop Problem (JSP) (np-hard)</vt:lpstr>
      <vt:lpstr>5. Periodic tasks scheduling</vt:lpstr>
      <vt:lpstr>P/NP/-Complete/Hard</vt:lpstr>
      <vt:lpstr>P/NP/-Complete/Hard</vt:lpstr>
      <vt:lpstr>P/NP/-Complete/Hard</vt:lpstr>
      <vt:lpstr>如何证明一个问题是NP-Hard</vt:lpstr>
      <vt:lpstr>如何证明一个问题是NPC</vt:lpstr>
      <vt:lpstr>Similar Terminologies</vt:lpstr>
      <vt:lpstr>Categories of Scheduling Algorithms</vt:lpstr>
      <vt:lpstr>Scheduling Method: System Considerations</vt:lpstr>
      <vt:lpstr>Summary</vt:lpstr>
    </vt:vector>
  </TitlesOfParts>
  <Company>NICTA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Len Bass</dc:creator>
  <cp:lastModifiedBy>祥博 孙</cp:lastModifiedBy>
  <cp:revision>389</cp:revision>
  <dcterms:created xsi:type="dcterms:W3CDTF">2023-09-18T02:34:00Z</dcterms:created>
  <dcterms:modified xsi:type="dcterms:W3CDTF">2026-10-24T12:43:44Z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181375587313C39307D1FE648731B93F</vt:lpwstr>
  </property>
  <property fmtid="{D5CDD505-2E9C-101B-9397-08002B2CF9AE}" pid="3" name="KSOProductBuildVer">
    <vt:lpwstr>2052-12.1.0.22529</vt:lpwstr>
  </property>
</Properties>
</file>